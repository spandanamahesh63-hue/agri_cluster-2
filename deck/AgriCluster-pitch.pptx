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AgriCluster is a smart-farming platform for small farms. Instead of trying to make every small farm a fully equipped smart farm on its own, we connect nearby farms into one intelligent cluster. The cluster shares data, machinery, labour, expertise and market access. What you see on the phone is a working prototype: a farmer's dashboard in our demonstration cluster in Mysuru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Indian agriculture is dominated by small holdings. On a small farm, every decision is taken alone: irrigation, spraying, when to harvest. Machinery and labour are hired farm by farm, so everyone competes for the same tractor in the same week. Information arrives late or in a form that doesn't say what to do. At harvest, small lots mean weak bargaining power. Our demonstration cluster has 128 farmers on 312 acres, about 2.4 acres each. [Optional: add a national figure on small and marginal holdings from the Agriculture Census, after verifying the latest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smart-farming tools each solve one piece of the problem, and almost all of them are designed around a single farm. A weather app tells you it may rain but not what to do about today's irrigation. A sensor kit per farm is hard to justify on two acres. Rental apps find a tractor but can't see that fourteen farms need one on the same day. Market platforms list a crop but don't pool small lots into what buyers need. Nothing coordinates the farms around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to make the cluster smart rather than every individual farm. AgriCluster is a shared layer around a group of neighbouring farms. It connects the people and resources, turns farm, weather, sensor and market data into suggestions that explain themselves, and coordinates what is shared: machinery, labour, expertise and harvests. The map shows our demonstration cluster: 128 farms in six villages around shared infrastructure. One principle runs through everything: the platform recommends, the farmer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works in seven steps: connect, collect, analyze, recommend, coordinate, act and measure. Here is one real example from the prototype. Rain is 82 percent likely this evening, and Field 1's soil moisture is already above what the tomato crop needs. So AgriCluster suggests delaying irrigation by a day, and shows exactly which data led to that. The farmer accepts with one tap, and the schedule moves. That single decision avoids roughly 36,000 litres of water and 11 kilowatt-hours of pumping, an indicative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call cluster intelligence. AgriCluster combines farm and crop data, soil moisture, weather, water and energy, machinery, labour, experts and market demand. For one farmer, it produces a suggestion that explains itself, as on the right. Across the cluster the same signals become patterns a coordinator can act on: 24 farms about to irrigate before rain, 6 tomato farms under stress, 14 tractor requests for 9 tractors, and 42 tonnes of tomato coming against 35 tonnes of buyer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has six connected roles: farmer, cluster manager, buyer, machinery owner, labour and expert. They all work on the same shared records. When the farmer requests a tractor, the owner accepts it. When the farmer lists a harvest, the buyer sees it. When the farmer delays irrigation, the cluster dashboard updates. [If showing the live demo, switch now: open the prototype and use the Guided demo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measure impact against a baseline, not promise it. The pilot targets are 15 to 20 percent less avoidable water use, 10 to 15 percent better input efficiency, 10 percent less crop loss, and 5 to 10 percent better market realisation. These are illustrative goals, not guaranteed outcomes. The prototype already shows the mechanism: one accepted suggestion avoids about 36,000 litres of water; the cluster sees 42 tonnes of tomato against 35 tonnes of demand a week ahead; and a tractor shortage is visible a day before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follows coordination. Cluster organisations such as FPOs pay a subscription for the cluster layer. The equipment marketplace earns a commission on completed bookings. Expert services and market linkage earn a commission or fee when they create value, and institutions can pay for implementation and cluster analytics. We keep the start simple: the pilot needs only the cluster subscription and the marketplace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one cluster of more than 100 farmers on more than 250 acres. We measure a baseline season first, recording water, energy, input costs, crop loss, prices and machinery use. Then farmers use AgriCluster for a season and we record the same measures the same way. We report against the targets and only then decide on expanding to more clusters. We also track farmer adoption, because a suggestion that isn't used has no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scales from one farm to a local cluster, then district clusters, multiple regions and a larger network. What scales is the intelligence and coordination layer; the farms stay small. We are simulation-first: the platform runs today on farmer input and shared sensors, and real sensors and data feeds plug into the same interfaces later. Every new cluster reuses the same engine, roles and screens, and brings more buyers, providers and experts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vision is a network of intelligent agricultural clusters across India. Today, farms, information, resources, decisions and markets are fragmented. With AgriCluster they are connected: shared resources, integrated data, cluster intelligence and coordinated decisions and markets. The result is more efficient, more resilient clusters, where farmers keep the decisions and technology does the coordinating. Small farms, shared resources, smarter decisions.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021"/>
        </a:solidFill>
      </p:bgPr>
    </p:bg>
    <p:spTree>
      <p:nvGrpSpPr>
        <p:cNvPr id="1" name=""/>
        <p:cNvGrpSpPr/>
        <p:nvPr/>
      </p:nvGrpSpPr>
      <p:grpSpPr>
        <a:xfrm>
          <a:off x="0" y="0"/>
          <a:ext cx="0" cy="0"/>
          <a:chOff x="0" y="0"/>
          <a:chExt cx="0" cy="0"/>
        </a:xfrm>
      </p:grpSpPr>
      <p:sp>
        <p:nvSpPr>
          <p:cNvPr id="2" name="Shape 0"/>
          <p:cNvSpPr/>
          <p:nvPr/>
        </p:nvSpPr>
        <p:spPr>
          <a:xfrm>
            <a:off x="731520" y="731520"/>
            <a:ext cx="731520" cy="731520"/>
          </a:xfrm>
          <a:prstGeom prst="roundRect">
            <a:avLst>
              <a:gd name="adj" fmla="val 22000"/>
            </a:avLst>
          </a:prstGeom>
          <a:solidFill>
            <a:srgbClr val="1B5538"/>
          </a:solidFill>
          <a:ln/>
        </p:spPr>
      </p:sp>
      <p:sp>
        <p:nvSpPr>
          <p:cNvPr id="3" name="Shape 1"/>
          <p:cNvSpPr/>
          <p:nvPr/>
        </p:nvSpPr>
        <p:spPr>
          <a:xfrm>
            <a:off x="960120" y="971550"/>
            <a:ext cx="274320" cy="251460"/>
          </a:xfrm>
          <a:prstGeom prst="triangle">
            <a:avLst/>
          </a:prstGeom>
          <a:ln w="19050">
            <a:solidFill>
              <a:srgbClr val="AFD1BB"/>
            </a:solidFill>
            <a:prstDash val="solid"/>
          </a:ln>
        </p:spPr>
      </p:sp>
      <p:sp>
        <p:nvSpPr>
          <p:cNvPr id="4" name="Shape 2"/>
          <p:cNvSpPr/>
          <p:nvPr/>
        </p:nvSpPr>
        <p:spPr>
          <a:xfrm>
            <a:off x="1028700" y="902970"/>
            <a:ext cx="137160" cy="137160"/>
          </a:xfrm>
          <a:prstGeom prst="ellipse">
            <a:avLst/>
          </a:prstGeom>
          <a:solidFill>
            <a:srgbClr val="FFFFFF"/>
          </a:solidFill>
          <a:ln/>
        </p:spPr>
      </p:sp>
      <p:sp>
        <p:nvSpPr>
          <p:cNvPr id="5" name="Shape 3"/>
          <p:cNvSpPr/>
          <p:nvPr/>
        </p:nvSpPr>
        <p:spPr>
          <a:xfrm>
            <a:off x="891540" y="1154430"/>
            <a:ext cx="137160" cy="137160"/>
          </a:xfrm>
          <a:prstGeom prst="ellipse">
            <a:avLst/>
          </a:prstGeom>
          <a:solidFill>
            <a:srgbClr val="FFFFFF"/>
          </a:solidFill>
          <a:ln/>
        </p:spPr>
      </p:sp>
      <p:sp>
        <p:nvSpPr>
          <p:cNvPr id="6" name="Shape 4"/>
          <p:cNvSpPr/>
          <p:nvPr/>
        </p:nvSpPr>
        <p:spPr>
          <a:xfrm>
            <a:off x="1165860" y="1154430"/>
            <a:ext cx="137160" cy="137160"/>
          </a:xfrm>
          <a:prstGeom prst="ellipse">
            <a:avLst/>
          </a:prstGeom>
          <a:solidFill>
            <a:srgbClr val="AFD1BB"/>
          </a:solidFill>
          <a:ln/>
        </p:spPr>
      </p:sp>
      <p:sp>
        <p:nvSpPr>
          <p:cNvPr id="7" name="Text 5"/>
          <p:cNvSpPr/>
          <p:nvPr/>
        </p:nvSpPr>
        <p:spPr>
          <a:xfrm>
            <a:off x="731520" y="1920240"/>
            <a:ext cx="6858000" cy="1005840"/>
          </a:xfrm>
          <a:prstGeom prst="rect">
            <a:avLst/>
          </a:prstGeom>
          <a:noFill/>
          <a:ln/>
        </p:spPr>
        <p:txBody>
          <a:bodyPr wrap="square" lIns="0" tIns="0" rIns="0" bIns="0" rtlCol="0" anchor="ctr"/>
          <a:lstStyle/>
          <a:p>
            <a:pPr indent="0" marL="0">
              <a:buNone/>
            </a:pPr>
            <a:r>
              <a:rPr lang="en-US" sz="6000" dirty="0">
                <a:solidFill>
                  <a:srgbClr val="FFFFFF"/>
                </a:solidFill>
                <a:latin typeface="Segoe UI Semibold" pitchFamily="34" charset="0"/>
                <a:ea typeface="Segoe UI Semibold" pitchFamily="34" charset="-122"/>
                <a:cs typeface="Segoe UI Semibold" pitchFamily="34" charset="-120"/>
              </a:rPr>
              <a:t>AgriCluster</a:t>
            </a:r>
            <a:endParaRPr lang="en-US" sz="6000" dirty="0"/>
          </a:p>
        </p:txBody>
      </p:sp>
      <p:sp>
        <p:nvSpPr>
          <p:cNvPr id="8" name="Text 6"/>
          <p:cNvSpPr/>
          <p:nvPr/>
        </p:nvSpPr>
        <p:spPr>
          <a:xfrm>
            <a:off x="731520" y="2926080"/>
            <a:ext cx="7132320" cy="548640"/>
          </a:xfrm>
          <a:prstGeom prst="rect">
            <a:avLst/>
          </a:prstGeom>
          <a:noFill/>
          <a:ln/>
        </p:spPr>
        <p:txBody>
          <a:bodyPr wrap="square" lIns="0" tIns="0" rIns="0" bIns="0" rtlCol="0" anchor="ctr"/>
          <a:lstStyle/>
          <a:p>
            <a:pPr indent="0" marL="0">
              <a:buNone/>
            </a:pPr>
            <a:r>
              <a:rPr lang="en-US" sz="2400" dirty="0">
                <a:solidFill>
                  <a:srgbClr val="D6E8DC"/>
                </a:solidFill>
                <a:latin typeface="Segoe UI Semibold" pitchFamily="34" charset="0"/>
                <a:ea typeface="Segoe UI Semibold" pitchFamily="34" charset="-122"/>
                <a:cs typeface="Segoe UI Semibold" pitchFamily="34" charset="-120"/>
              </a:rPr>
              <a:t>Small Farms. Shared Resources. Smarter Decisions.</a:t>
            </a:r>
            <a:endParaRPr lang="en-US" sz="2400" dirty="0"/>
          </a:p>
        </p:txBody>
      </p:sp>
      <p:sp>
        <p:nvSpPr>
          <p:cNvPr id="9" name="Text 7"/>
          <p:cNvSpPr/>
          <p:nvPr/>
        </p:nvSpPr>
        <p:spPr>
          <a:xfrm>
            <a:off x="731520" y="3703320"/>
            <a:ext cx="6583680" cy="1097280"/>
          </a:xfrm>
          <a:prstGeom prst="rect">
            <a:avLst/>
          </a:prstGeom>
          <a:noFill/>
          <a:ln/>
        </p:spPr>
        <p:txBody>
          <a:bodyPr wrap="square" lIns="0" tIns="0" rIns="0" bIns="0" rtlCol="0" anchor="t"/>
          <a:lstStyle/>
          <a:p>
            <a:pPr indent="0" marL="0">
              <a:lnSpc>
                <a:spcPct val="110000"/>
              </a:lnSpc>
              <a:buNone/>
            </a:pPr>
            <a:r>
              <a:rPr lang="en-US" sz="1700" dirty="0">
                <a:solidFill>
                  <a:srgbClr val="C9DCCF"/>
                </a:solidFill>
                <a:latin typeface="Segoe UI" pitchFamily="34" charset="0"/>
                <a:ea typeface="Segoe UI" pitchFamily="34" charset="-122"/>
                <a:cs typeface="Segoe UI" pitchFamily="34" charset="-120"/>
              </a:rPr>
              <a:t>Cluster intelligence that connects neighbouring small farms, shares their machinery, labour and expertise, and coordinates their harvests with buyers.</a:t>
            </a:r>
            <a:endParaRPr lang="en-US" sz="1700" dirty="0"/>
          </a:p>
        </p:txBody>
      </p:sp>
      <p:sp>
        <p:nvSpPr>
          <p:cNvPr id="10" name="Text 8"/>
          <p:cNvSpPr/>
          <p:nvPr/>
        </p:nvSpPr>
        <p:spPr>
          <a:xfrm>
            <a:off x="731520" y="6035040"/>
            <a:ext cx="7315200" cy="274320"/>
          </a:xfrm>
          <a:prstGeom prst="rect">
            <a:avLst/>
          </a:prstGeom>
          <a:noFill/>
          <a:ln/>
        </p:spPr>
        <p:txBody>
          <a:bodyPr wrap="square" lIns="0" tIns="0" rIns="0" bIns="0" rtlCol="0" anchor="ctr"/>
          <a:lstStyle/>
          <a:p>
            <a:pPr indent="0" marL="0">
              <a:buNone/>
            </a:pPr>
            <a:r>
              <a:rPr lang="en-US" sz="1200" dirty="0">
                <a:solidFill>
                  <a:srgbClr val="9DB8A7"/>
                </a:solidFill>
                <a:latin typeface="Segoe UI" pitchFamily="34" charset="0"/>
                <a:ea typeface="Segoe UI" pitchFamily="34" charset="-122"/>
                <a:cs typeface="Segoe UI" pitchFamily="34" charset="-120"/>
              </a:rPr>
              <a:t>Competition prototype  ·  Demonstration cluster: Mysuru Vegetable Cluster, Karnataka</a:t>
            </a:r>
            <a:endParaRPr lang="en-US" sz="1200" dirty="0"/>
          </a:p>
        </p:txBody>
      </p:sp>
      <p:sp>
        <p:nvSpPr>
          <p:cNvPr id="11" name="Shape 9"/>
          <p:cNvSpPr/>
          <p:nvPr/>
        </p:nvSpPr>
        <p:spPr>
          <a:xfrm>
            <a:off x="8732520" y="658368"/>
            <a:ext cx="2681489" cy="5632704"/>
          </a:xfrm>
          <a:prstGeom prst="roundRect">
            <a:avLst>
              <a:gd name="adj" fmla="val 8525"/>
            </a:avLst>
          </a:prstGeom>
          <a:solidFill>
            <a:srgbClr val="0A2217"/>
          </a:solidFill>
          <a:ln w="12700">
            <a:solidFill>
              <a:srgbClr val="2E5A45"/>
            </a:solidFill>
            <a:prstDash val="solid"/>
          </a:ln>
        </p:spPr>
      </p:sp>
      <p:pic>
        <p:nvPicPr>
          <p:cNvPr id="12" name="Image 0" descr="assets/farmer-mobile.png">    </p:cNvPr>
          <p:cNvPicPr>
            <a:picLocks noChangeAspect="1"/>
          </p:cNvPicPr>
          <p:nvPr/>
        </p:nvPicPr>
        <p:blipFill>
          <a:blip r:embed="rId1"/>
          <a:stretch>
            <a:fillRect/>
          </a:stretch>
        </p:blipFill>
        <p:spPr>
          <a:xfrm>
            <a:off x="8805672" y="731520"/>
            <a:ext cx="2535185"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02   PROBLEM</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Small farms face big decisions alone</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2 / 12</a:t>
            </a:r>
            <a:endParaRPr lang="en-US" sz="1000" dirty="0"/>
          </a:p>
        </p:txBody>
      </p:sp>
      <p:sp>
        <p:nvSpPr>
          <p:cNvPr id="6" name="Shape 4"/>
          <p:cNvSpPr/>
          <p:nvPr/>
        </p:nvSpPr>
        <p:spPr>
          <a:xfrm>
            <a:off x="548640" y="1837944"/>
            <a:ext cx="54864" cy="749808"/>
          </a:xfrm>
          <a:prstGeom prst="rect">
            <a:avLst/>
          </a:prstGeom>
          <a:solidFill>
            <a:srgbClr val="1B5538"/>
          </a:solidFill>
          <a:ln/>
        </p:spPr>
      </p:sp>
      <p:sp>
        <p:nvSpPr>
          <p:cNvPr id="7" name="Text 5"/>
          <p:cNvSpPr/>
          <p:nvPr/>
        </p:nvSpPr>
        <p:spPr>
          <a:xfrm>
            <a:off x="777240" y="1783080"/>
            <a:ext cx="6035040" cy="320040"/>
          </a:xfrm>
          <a:prstGeom prst="rect">
            <a:avLst/>
          </a:prstGeom>
          <a:noFill/>
          <a:ln/>
        </p:spPr>
        <p:txBody>
          <a:bodyPr wrap="square" lIns="0" tIns="0" rIns="0" bIns="0" rtlCol="0" anchor="ctr"/>
          <a:lstStyle/>
          <a:p>
            <a:pPr indent="0" marL="0">
              <a:buNone/>
            </a:pPr>
            <a:r>
              <a:rPr lang="en-US" sz="1700" dirty="0">
                <a:solidFill>
                  <a:srgbClr val="17201B"/>
                </a:solidFill>
                <a:latin typeface="Segoe UI Semibold" pitchFamily="34" charset="0"/>
                <a:ea typeface="Segoe UI Semibold" pitchFamily="34" charset="-122"/>
                <a:cs typeface="Segoe UI Semibold" pitchFamily="34" charset="-120"/>
              </a:rPr>
              <a:t>Fragmented decisions</a:t>
            </a:r>
            <a:endParaRPr lang="en-US" sz="1700" dirty="0"/>
          </a:p>
        </p:txBody>
      </p:sp>
      <p:sp>
        <p:nvSpPr>
          <p:cNvPr id="8" name="Text 6"/>
          <p:cNvSpPr/>
          <p:nvPr/>
        </p:nvSpPr>
        <p:spPr>
          <a:xfrm>
            <a:off x="777240" y="2130552"/>
            <a:ext cx="6035040" cy="548640"/>
          </a:xfrm>
          <a:prstGeom prst="rect">
            <a:avLst/>
          </a:prstGeom>
          <a:noFill/>
          <a:ln/>
        </p:spPr>
        <p:txBody>
          <a:bodyPr wrap="square" lIns="0" tIns="0" rIns="0" bIns="0" rtlCol="0" anchor="t"/>
          <a:lstStyle/>
          <a:p>
            <a:pPr indent="0" marL="0">
              <a:buNone/>
            </a:pPr>
            <a:r>
              <a:rPr lang="en-US" sz="1400" dirty="0">
                <a:solidFill>
                  <a:srgbClr val="56615A"/>
                </a:solidFill>
                <a:latin typeface="Segoe UI" pitchFamily="34" charset="0"/>
                <a:ea typeface="Segoe UI" pitchFamily="34" charset="-122"/>
                <a:cs typeface="Segoe UI" pitchFamily="34" charset="-120"/>
              </a:rPr>
              <a:t>Each farmer decides alone when to irrigate, spray and harvest, often without timely data.</a:t>
            </a:r>
            <a:endParaRPr lang="en-US" sz="1400" dirty="0"/>
          </a:p>
        </p:txBody>
      </p:sp>
      <p:sp>
        <p:nvSpPr>
          <p:cNvPr id="9" name="Shape 7"/>
          <p:cNvSpPr/>
          <p:nvPr/>
        </p:nvSpPr>
        <p:spPr>
          <a:xfrm>
            <a:off x="548640" y="2916936"/>
            <a:ext cx="54864" cy="749808"/>
          </a:xfrm>
          <a:prstGeom prst="rect">
            <a:avLst/>
          </a:prstGeom>
          <a:solidFill>
            <a:srgbClr val="1B5538"/>
          </a:solidFill>
          <a:ln/>
        </p:spPr>
      </p:sp>
      <p:sp>
        <p:nvSpPr>
          <p:cNvPr id="10" name="Text 8"/>
          <p:cNvSpPr/>
          <p:nvPr/>
        </p:nvSpPr>
        <p:spPr>
          <a:xfrm>
            <a:off x="777240" y="2862072"/>
            <a:ext cx="6035040" cy="320040"/>
          </a:xfrm>
          <a:prstGeom prst="rect">
            <a:avLst/>
          </a:prstGeom>
          <a:noFill/>
          <a:ln/>
        </p:spPr>
        <p:txBody>
          <a:bodyPr wrap="square" lIns="0" tIns="0" rIns="0" bIns="0" rtlCol="0" anchor="ctr"/>
          <a:lstStyle/>
          <a:p>
            <a:pPr indent="0" marL="0">
              <a:buNone/>
            </a:pPr>
            <a:r>
              <a:rPr lang="en-US" sz="1700" dirty="0">
                <a:solidFill>
                  <a:srgbClr val="17201B"/>
                </a:solidFill>
                <a:latin typeface="Segoe UI Semibold" pitchFamily="34" charset="0"/>
                <a:ea typeface="Segoe UI Semibold" pitchFamily="34" charset="-122"/>
                <a:cs typeface="Segoe UI Semibold" pitchFamily="34" charset="-120"/>
              </a:rPr>
              <a:t>Fragmented resources</a:t>
            </a:r>
            <a:endParaRPr lang="en-US" sz="1700" dirty="0"/>
          </a:p>
        </p:txBody>
      </p:sp>
      <p:sp>
        <p:nvSpPr>
          <p:cNvPr id="11" name="Text 9"/>
          <p:cNvSpPr/>
          <p:nvPr/>
        </p:nvSpPr>
        <p:spPr>
          <a:xfrm>
            <a:off x="777240" y="3209544"/>
            <a:ext cx="6035040" cy="548640"/>
          </a:xfrm>
          <a:prstGeom prst="rect">
            <a:avLst/>
          </a:prstGeom>
          <a:noFill/>
          <a:ln/>
        </p:spPr>
        <p:txBody>
          <a:bodyPr wrap="square" lIns="0" tIns="0" rIns="0" bIns="0" rtlCol="0" anchor="t"/>
          <a:lstStyle/>
          <a:p>
            <a:pPr indent="0" marL="0">
              <a:buNone/>
            </a:pPr>
            <a:r>
              <a:rPr lang="en-US" sz="1400" dirty="0">
                <a:solidFill>
                  <a:srgbClr val="56615A"/>
                </a:solidFill>
                <a:latin typeface="Segoe UI" pitchFamily="34" charset="0"/>
                <a:ea typeface="Segoe UI" pitchFamily="34" charset="-122"/>
                <a:cs typeface="Segoe UI" pitchFamily="34" charset="-120"/>
              </a:rPr>
              <a:t>Tractors, labour and technology are hired or bought farm by farm, and everyone needs them in the same week.</a:t>
            </a:r>
            <a:endParaRPr lang="en-US" sz="1400" dirty="0"/>
          </a:p>
        </p:txBody>
      </p:sp>
      <p:sp>
        <p:nvSpPr>
          <p:cNvPr id="12" name="Shape 10"/>
          <p:cNvSpPr/>
          <p:nvPr/>
        </p:nvSpPr>
        <p:spPr>
          <a:xfrm>
            <a:off x="548640" y="3995928"/>
            <a:ext cx="54864" cy="749808"/>
          </a:xfrm>
          <a:prstGeom prst="rect">
            <a:avLst/>
          </a:prstGeom>
          <a:solidFill>
            <a:srgbClr val="1B5538"/>
          </a:solidFill>
          <a:ln/>
        </p:spPr>
      </p:sp>
      <p:sp>
        <p:nvSpPr>
          <p:cNvPr id="13" name="Text 11"/>
          <p:cNvSpPr/>
          <p:nvPr/>
        </p:nvSpPr>
        <p:spPr>
          <a:xfrm>
            <a:off x="777240" y="3941064"/>
            <a:ext cx="6035040" cy="320040"/>
          </a:xfrm>
          <a:prstGeom prst="rect">
            <a:avLst/>
          </a:prstGeom>
          <a:noFill/>
          <a:ln/>
        </p:spPr>
        <p:txBody>
          <a:bodyPr wrap="square" lIns="0" tIns="0" rIns="0" bIns="0" rtlCol="0" anchor="ctr"/>
          <a:lstStyle/>
          <a:p>
            <a:pPr indent="0" marL="0">
              <a:buNone/>
            </a:pPr>
            <a:r>
              <a:rPr lang="en-US" sz="1700" dirty="0">
                <a:solidFill>
                  <a:srgbClr val="17201B"/>
                </a:solidFill>
                <a:latin typeface="Segoe UI Semibold" pitchFamily="34" charset="0"/>
                <a:ea typeface="Segoe UI Semibold" pitchFamily="34" charset="-122"/>
                <a:cs typeface="Segoe UI Semibold" pitchFamily="34" charset="-120"/>
              </a:rPr>
              <a:t>Fragmented information</a:t>
            </a:r>
            <a:endParaRPr lang="en-US" sz="1700" dirty="0"/>
          </a:p>
        </p:txBody>
      </p:sp>
      <p:sp>
        <p:nvSpPr>
          <p:cNvPr id="14" name="Text 12"/>
          <p:cNvSpPr/>
          <p:nvPr/>
        </p:nvSpPr>
        <p:spPr>
          <a:xfrm>
            <a:off x="777240" y="4288536"/>
            <a:ext cx="6035040" cy="548640"/>
          </a:xfrm>
          <a:prstGeom prst="rect">
            <a:avLst/>
          </a:prstGeom>
          <a:noFill/>
          <a:ln/>
        </p:spPr>
        <p:txBody>
          <a:bodyPr wrap="square" lIns="0" tIns="0" rIns="0" bIns="0" rtlCol="0" anchor="t"/>
          <a:lstStyle/>
          <a:p>
            <a:pPr indent="0" marL="0">
              <a:buNone/>
            </a:pPr>
            <a:r>
              <a:rPr lang="en-US" sz="1400" dirty="0">
                <a:solidFill>
                  <a:srgbClr val="56615A"/>
                </a:solidFill>
                <a:latin typeface="Segoe UI" pitchFamily="34" charset="0"/>
                <a:ea typeface="Segoe UI" pitchFamily="34" charset="-122"/>
                <a:cs typeface="Segoe UI" pitchFamily="34" charset="-120"/>
              </a:rPr>
              <a:t>Weather, soil and crop signals rarely reach the field in a form a farmer can act on today.</a:t>
            </a:r>
            <a:endParaRPr lang="en-US" sz="1400" dirty="0"/>
          </a:p>
        </p:txBody>
      </p:sp>
      <p:sp>
        <p:nvSpPr>
          <p:cNvPr id="15" name="Shape 13"/>
          <p:cNvSpPr/>
          <p:nvPr/>
        </p:nvSpPr>
        <p:spPr>
          <a:xfrm>
            <a:off x="548640" y="5074920"/>
            <a:ext cx="54864" cy="749808"/>
          </a:xfrm>
          <a:prstGeom prst="rect">
            <a:avLst/>
          </a:prstGeom>
          <a:solidFill>
            <a:srgbClr val="1B5538"/>
          </a:solidFill>
          <a:ln/>
        </p:spPr>
      </p:sp>
      <p:sp>
        <p:nvSpPr>
          <p:cNvPr id="16" name="Text 14"/>
          <p:cNvSpPr/>
          <p:nvPr/>
        </p:nvSpPr>
        <p:spPr>
          <a:xfrm>
            <a:off x="777240" y="5020056"/>
            <a:ext cx="6035040" cy="320040"/>
          </a:xfrm>
          <a:prstGeom prst="rect">
            <a:avLst/>
          </a:prstGeom>
          <a:noFill/>
          <a:ln/>
        </p:spPr>
        <p:txBody>
          <a:bodyPr wrap="square" lIns="0" tIns="0" rIns="0" bIns="0" rtlCol="0" anchor="ctr"/>
          <a:lstStyle/>
          <a:p>
            <a:pPr indent="0" marL="0">
              <a:buNone/>
            </a:pPr>
            <a:r>
              <a:rPr lang="en-US" sz="1700" dirty="0">
                <a:solidFill>
                  <a:srgbClr val="17201B"/>
                </a:solidFill>
                <a:latin typeface="Segoe UI Semibold" pitchFamily="34" charset="0"/>
                <a:ea typeface="Segoe UI Semibold" pitchFamily="34" charset="-122"/>
                <a:cs typeface="Segoe UI Semibold" pitchFamily="34" charset="-120"/>
              </a:rPr>
              <a:t>Fragmented markets</a:t>
            </a:r>
            <a:endParaRPr lang="en-US" sz="1700" dirty="0"/>
          </a:p>
        </p:txBody>
      </p:sp>
      <p:sp>
        <p:nvSpPr>
          <p:cNvPr id="17" name="Text 15"/>
          <p:cNvSpPr/>
          <p:nvPr/>
        </p:nvSpPr>
        <p:spPr>
          <a:xfrm>
            <a:off x="777240" y="5367528"/>
            <a:ext cx="6035040" cy="548640"/>
          </a:xfrm>
          <a:prstGeom prst="rect">
            <a:avLst/>
          </a:prstGeom>
          <a:noFill/>
          <a:ln/>
        </p:spPr>
        <p:txBody>
          <a:bodyPr wrap="square" lIns="0" tIns="0" rIns="0" bIns="0" rtlCol="0" anchor="t"/>
          <a:lstStyle/>
          <a:p>
            <a:pPr indent="0" marL="0">
              <a:buNone/>
            </a:pPr>
            <a:r>
              <a:rPr lang="en-US" sz="1400" dirty="0">
                <a:solidFill>
                  <a:srgbClr val="56615A"/>
                </a:solidFill>
                <a:latin typeface="Segoe UI" pitchFamily="34" charset="0"/>
                <a:ea typeface="Segoe UI" pitchFamily="34" charset="-122"/>
                <a:cs typeface="Segoe UI" pitchFamily="34" charset="-120"/>
              </a:rPr>
              <a:t>Small lots mean weak bargaining power, uncertain buyers and avoidable post-harvest loss.</a:t>
            </a:r>
            <a:endParaRPr lang="en-US" sz="1400" dirty="0"/>
          </a:p>
        </p:txBody>
      </p:sp>
      <p:sp>
        <p:nvSpPr>
          <p:cNvPr id="18" name="Shape 16"/>
          <p:cNvSpPr/>
          <p:nvPr/>
        </p:nvSpPr>
        <p:spPr>
          <a:xfrm>
            <a:off x="7498080" y="1783080"/>
            <a:ext cx="4160520" cy="4160520"/>
          </a:xfrm>
          <a:prstGeom prst="roundRect">
            <a:avLst>
              <a:gd name="adj" fmla="val 2637"/>
            </a:avLst>
          </a:prstGeom>
          <a:solidFill>
            <a:srgbClr val="E8F3EC"/>
          </a:solidFill>
          <a:ln/>
        </p:spPr>
      </p:sp>
      <p:sp>
        <p:nvSpPr>
          <p:cNvPr id="19" name="Text 17"/>
          <p:cNvSpPr/>
          <p:nvPr/>
        </p:nvSpPr>
        <p:spPr>
          <a:xfrm>
            <a:off x="7818120" y="2057400"/>
            <a:ext cx="356616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OUR DEMONSTRATION CLUSTER</a:t>
            </a:r>
            <a:endParaRPr lang="en-US" sz="1000" dirty="0"/>
          </a:p>
        </p:txBody>
      </p:sp>
      <p:sp>
        <p:nvSpPr>
          <p:cNvPr id="20" name="Text 18"/>
          <p:cNvSpPr/>
          <p:nvPr/>
        </p:nvSpPr>
        <p:spPr>
          <a:xfrm>
            <a:off x="7818120" y="2423160"/>
            <a:ext cx="3566160" cy="685800"/>
          </a:xfrm>
          <a:prstGeom prst="rect">
            <a:avLst/>
          </a:prstGeom>
          <a:noFill/>
          <a:ln/>
        </p:spPr>
        <p:txBody>
          <a:bodyPr wrap="square" lIns="0" tIns="0" rIns="0" bIns="0" rtlCol="0" anchor="ctr"/>
          <a:lstStyle/>
          <a:p>
            <a:pPr indent="0" marL="0">
              <a:buNone/>
            </a:pPr>
            <a:r>
              <a:rPr lang="en-US" sz="4000" dirty="0">
                <a:solidFill>
                  <a:srgbClr val="1B5538"/>
                </a:solidFill>
                <a:latin typeface="Segoe UI Semibold" pitchFamily="34" charset="0"/>
                <a:ea typeface="Segoe UI Semibold" pitchFamily="34" charset="-122"/>
                <a:cs typeface="Segoe UI Semibold" pitchFamily="34" charset="-120"/>
              </a:rPr>
              <a:t>128</a:t>
            </a:r>
            <a:endParaRPr lang="en-US" sz="4000" dirty="0"/>
          </a:p>
        </p:txBody>
      </p:sp>
      <p:sp>
        <p:nvSpPr>
          <p:cNvPr id="21" name="Text 19"/>
          <p:cNvSpPr/>
          <p:nvPr/>
        </p:nvSpPr>
        <p:spPr>
          <a:xfrm>
            <a:off x="7818120" y="3081528"/>
            <a:ext cx="3566160" cy="274320"/>
          </a:xfrm>
          <a:prstGeom prst="rect">
            <a:avLst/>
          </a:prstGeom>
          <a:noFill/>
          <a:ln/>
        </p:spPr>
        <p:txBody>
          <a:bodyPr wrap="square" lIns="0" tIns="0" rIns="0" bIns="0" rtlCol="0" anchor="ctr"/>
          <a:lstStyle/>
          <a:p>
            <a:pPr indent="0" marL="0">
              <a:buNone/>
            </a:pPr>
            <a:r>
              <a:rPr lang="en-US" sz="1400" dirty="0">
                <a:solidFill>
                  <a:srgbClr val="17201B"/>
                </a:solidFill>
                <a:latin typeface="Segoe UI" pitchFamily="34" charset="0"/>
                <a:ea typeface="Segoe UI" pitchFamily="34" charset="-122"/>
                <a:cs typeface="Segoe UI" pitchFamily="34" charset="-120"/>
              </a:rPr>
              <a:t>farmers</a:t>
            </a:r>
            <a:endParaRPr lang="en-US" sz="1400" dirty="0"/>
          </a:p>
        </p:txBody>
      </p:sp>
      <p:sp>
        <p:nvSpPr>
          <p:cNvPr id="22" name="Text 20"/>
          <p:cNvSpPr/>
          <p:nvPr/>
        </p:nvSpPr>
        <p:spPr>
          <a:xfrm>
            <a:off x="7818120" y="3429000"/>
            <a:ext cx="3566160" cy="685800"/>
          </a:xfrm>
          <a:prstGeom prst="rect">
            <a:avLst/>
          </a:prstGeom>
          <a:noFill/>
          <a:ln/>
        </p:spPr>
        <p:txBody>
          <a:bodyPr wrap="square" lIns="0" tIns="0" rIns="0" bIns="0" rtlCol="0" anchor="ctr"/>
          <a:lstStyle/>
          <a:p>
            <a:pPr indent="0" marL="0">
              <a:buNone/>
            </a:pPr>
            <a:r>
              <a:rPr lang="en-US" sz="4000" dirty="0">
                <a:solidFill>
                  <a:srgbClr val="1B5538"/>
                </a:solidFill>
                <a:latin typeface="Segoe UI Semibold" pitchFamily="34" charset="0"/>
                <a:ea typeface="Segoe UI Semibold" pitchFamily="34" charset="-122"/>
                <a:cs typeface="Segoe UI Semibold" pitchFamily="34" charset="-120"/>
              </a:rPr>
              <a:t>312</a:t>
            </a:r>
            <a:endParaRPr lang="en-US" sz="4000" dirty="0"/>
          </a:p>
        </p:txBody>
      </p:sp>
      <p:sp>
        <p:nvSpPr>
          <p:cNvPr id="23" name="Text 21"/>
          <p:cNvSpPr/>
          <p:nvPr/>
        </p:nvSpPr>
        <p:spPr>
          <a:xfrm>
            <a:off x="7818120" y="4087368"/>
            <a:ext cx="3566160" cy="274320"/>
          </a:xfrm>
          <a:prstGeom prst="rect">
            <a:avLst/>
          </a:prstGeom>
          <a:noFill/>
          <a:ln/>
        </p:spPr>
        <p:txBody>
          <a:bodyPr wrap="square" lIns="0" tIns="0" rIns="0" bIns="0" rtlCol="0" anchor="ctr"/>
          <a:lstStyle/>
          <a:p>
            <a:pPr indent="0" marL="0">
              <a:buNone/>
            </a:pPr>
            <a:r>
              <a:rPr lang="en-US" sz="1400" dirty="0">
                <a:solidFill>
                  <a:srgbClr val="17201B"/>
                </a:solidFill>
                <a:latin typeface="Segoe UI" pitchFamily="34" charset="0"/>
                <a:ea typeface="Segoe UI" pitchFamily="34" charset="-122"/>
                <a:cs typeface="Segoe UI" pitchFamily="34" charset="-120"/>
              </a:rPr>
              <a:t>acres, about 2.4 acres per farm</a:t>
            </a:r>
            <a:endParaRPr lang="en-US" sz="1400" dirty="0"/>
          </a:p>
        </p:txBody>
      </p:sp>
      <p:sp>
        <p:nvSpPr>
          <p:cNvPr id="24" name="Text 22"/>
          <p:cNvSpPr/>
          <p:nvPr/>
        </p:nvSpPr>
        <p:spPr>
          <a:xfrm>
            <a:off x="7818120" y="4617720"/>
            <a:ext cx="3566160" cy="274320"/>
          </a:xfrm>
          <a:prstGeom prst="rect">
            <a:avLst/>
          </a:prstGeom>
          <a:noFill/>
          <a:ln/>
        </p:spPr>
        <p:txBody>
          <a:bodyPr wrap="square" lIns="0" tIns="0" rIns="0" bIns="0" rtlCol="0" anchor="ctr"/>
          <a:lstStyle/>
          <a:p>
            <a:pPr indent="0" marL="0">
              <a:buNone/>
            </a:pPr>
            <a:r>
              <a:rPr lang="en-US" sz="1300" dirty="0">
                <a:solidFill>
                  <a:srgbClr val="56615A"/>
                </a:solidFill>
                <a:latin typeface="Segoe UI" pitchFamily="34" charset="0"/>
                <a:ea typeface="Segoe UI" pitchFamily="34" charset="-122"/>
                <a:cs typeface="Segoe UI" pitchFamily="34" charset="-120"/>
              </a:rPr>
              <a:t>Tomato · Chilli · Onion · Leafy vegetables</a:t>
            </a:r>
            <a:endParaRPr lang="en-US" sz="1300" dirty="0"/>
          </a:p>
        </p:txBody>
      </p:sp>
      <p:sp>
        <p:nvSpPr>
          <p:cNvPr id="25" name="Text 23"/>
          <p:cNvSpPr/>
          <p:nvPr/>
        </p:nvSpPr>
        <p:spPr>
          <a:xfrm>
            <a:off x="7818120" y="5440680"/>
            <a:ext cx="3566160" cy="274320"/>
          </a:xfrm>
          <a:prstGeom prst="rect">
            <a:avLst/>
          </a:prstGeom>
          <a:noFill/>
          <a:ln/>
        </p:spPr>
        <p:txBody>
          <a:bodyPr wrap="square" lIns="0" tIns="0" rIns="0" bIns="0" rtlCol="0" anchor="ctr"/>
          <a:lstStyle/>
          <a:p>
            <a:pPr indent="0" marL="0">
              <a:buNone/>
            </a:pPr>
            <a:r>
              <a:rPr lang="en-US" sz="1100" i="1" dirty="0">
                <a:solidFill>
                  <a:srgbClr val="636C65"/>
                </a:solidFill>
                <a:latin typeface="Segoe UI" pitchFamily="34" charset="0"/>
                <a:ea typeface="Segoe UI" pitchFamily="34" charset="-122"/>
                <a:cs typeface="Segoe UI" pitchFamily="34" charset="-120"/>
              </a:rPr>
              <a:t>Fictional demonstration data, Mysuru district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03   WHY EXISTING SOLUTIONS FALL SHORT</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Smart-farming tools are built for one farm at a time</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3 / 12</a:t>
            </a:r>
            <a:endParaRPr lang="en-US" sz="1000" dirty="0"/>
          </a:p>
        </p:txBody>
      </p:sp>
      <p:sp>
        <p:nvSpPr>
          <p:cNvPr id="6" name="Shape 4"/>
          <p:cNvSpPr/>
          <p:nvPr/>
        </p:nvSpPr>
        <p:spPr>
          <a:xfrm>
            <a:off x="548640" y="1783080"/>
            <a:ext cx="3520440" cy="1645920"/>
          </a:xfrm>
          <a:prstGeom prst="roundRect">
            <a:avLst>
              <a:gd name="adj" fmla="val 4444"/>
            </a:avLst>
          </a:prstGeom>
          <a:solidFill>
            <a:srgbClr val="FFFFFF"/>
          </a:solidFill>
          <a:ln w="9525">
            <a:solidFill>
              <a:srgbClr val="E3E5DF"/>
            </a:solidFill>
            <a:prstDash val="solid"/>
          </a:ln>
        </p:spPr>
      </p:sp>
      <p:sp>
        <p:nvSpPr>
          <p:cNvPr id="7" name="Text 5"/>
          <p:cNvSpPr/>
          <p:nvPr/>
        </p:nvSpPr>
        <p:spPr>
          <a:xfrm>
            <a:off x="777240" y="1965960"/>
            <a:ext cx="310896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Weather apps</a:t>
            </a:r>
            <a:endParaRPr lang="en-US" sz="1600" dirty="0"/>
          </a:p>
        </p:txBody>
      </p:sp>
      <p:sp>
        <p:nvSpPr>
          <p:cNvPr id="8" name="Text 6"/>
          <p:cNvSpPr/>
          <p:nvPr/>
        </p:nvSpPr>
        <p:spPr>
          <a:xfrm>
            <a:off x="777240" y="2377440"/>
            <a:ext cx="3108960" cy="914400"/>
          </a:xfrm>
          <a:prstGeom prst="rect">
            <a:avLst/>
          </a:prstGeom>
          <a:noFill/>
          <a:ln/>
        </p:spPr>
        <p:txBody>
          <a:bodyPr wrap="square" lIns="0" tIns="0" rIns="0" bIns="0" rtlCol="0" anchor="t"/>
          <a:lstStyle/>
          <a:p>
            <a:pPr indent="0" marL="0">
              <a:spcAft>
                <a:spcPts val="400"/>
              </a:spcAft>
              <a:buNone/>
            </a:pPr>
            <a:r>
              <a:rPr lang="en-US" sz="1300" dirty="0">
                <a:solidFill>
                  <a:srgbClr val="226845"/>
                </a:solidFill>
                <a:latin typeface="Segoe UI Semibold" pitchFamily="34" charset="0"/>
                <a:ea typeface="Segoe UI Semibold" pitchFamily="34" charset="-122"/>
                <a:cs typeface="Segoe UI Semibold" pitchFamily="34" charset="-120"/>
              </a:rPr>
              <a:t>Solves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Tell you it may rain.</a:t>
            </a:r>
            <a:endParaRPr lang="en-US" sz="1300" dirty="0"/>
          </a:p>
          <a:p>
            <a:pPr indent="0" marL="0">
              <a:spcAft>
                <a:spcPts val="400"/>
              </a:spcAft>
              <a:buNone/>
            </a:pPr>
            <a:r>
              <a:rPr lang="en-US" sz="1300" dirty="0">
                <a:solidFill>
                  <a:srgbClr val="B3261E"/>
                </a:solidFill>
                <a:latin typeface="Segoe UI Semibold" pitchFamily="34" charset="0"/>
                <a:ea typeface="Segoe UI Semibold" pitchFamily="34" charset="-122"/>
                <a:cs typeface="Segoe UI Semibold" pitchFamily="34" charset="-120"/>
              </a:rPr>
              <a:t>Misses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What that means for today's irrigation.</a:t>
            </a:r>
            <a:endParaRPr lang="en-US" sz="1300" dirty="0"/>
          </a:p>
        </p:txBody>
      </p:sp>
      <p:sp>
        <p:nvSpPr>
          <p:cNvPr id="9" name="Shape 7"/>
          <p:cNvSpPr/>
          <p:nvPr/>
        </p:nvSpPr>
        <p:spPr>
          <a:xfrm>
            <a:off x="4297680" y="1783080"/>
            <a:ext cx="3520440" cy="1645920"/>
          </a:xfrm>
          <a:prstGeom prst="roundRect">
            <a:avLst>
              <a:gd name="adj" fmla="val 4444"/>
            </a:avLst>
          </a:prstGeom>
          <a:solidFill>
            <a:srgbClr val="FFFFFF"/>
          </a:solidFill>
          <a:ln w="9525">
            <a:solidFill>
              <a:srgbClr val="E3E5DF"/>
            </a:solidFill>
            <a:prstDash val="solid"/>
          </a:ln>
        </p:spPr>
      </p:sp>
      <p:sp>
        <p:nvSpPr>
          <p:cNvPr id="10" name="Text 8"/>
          <p:cNvSpPr/>
          <p:nvPr/>
        </p:nvSpPr>
        <p:spPr>
          <a:xfrm>
            <a:off x="4526280" y="1965960"/>
            <a:ext cx="310896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Farm IoT dashboards</a:t>
            </a:r>
            <a:endParaRPr lang="en-US" sz="1600" dirty="0"/>
          </a:p>
        </p:txBody>
      </p:sp>
      <p:sp>
        <p:nvSpPr>
          <p:cNvPr id="11" name="Text 9"/>
          <p:cNvSpPr/>
          <p:nvPr/>
        </p:nvSpPr>
        <p:spPr>
          <a:xfrm>
            <a:off x="4526280" y="2377440"/>
            <a:ext cx="3108960" cy="914400"/>
          </a:xfrm>
          <a:prstGeom prst="rect">
            <a:avLst/>
          </a:prstGeom>
          <a:noFill/>
          <a:ln/>
        </p:spPr>
        <p:txBody>
          <a:bodyPr wrap="square" lIns="0" tIns="0" rIns="0" bIns="0" rtlCol="0" anchor="t"/>
          <a:lstStyle/>
          <a:p>
            <a:pPr indent="0" marL="0">
              <a:spcAft>
                <a:spcPts val="400"/>
              </a:spcAft>
              <a:buNone/>
            </a:pPr>
            <a:r>
              <a:rPr lang="en-US" sz="1300" dirty="0">
                <a:solidFill>
                  <a:srgbClr val="226845"/>
                </a:solidFill>
                <a:latin typeface="Segoe UI Semibold" pitchFamily="34" charset="0"/>
                <a:ea typeface="Segoe UI Semibold" pitchFamily="34" charset="-122"/>
                <a:cs typeface="Segoe UI Semibold" pitchFamily="34" charset="-120"/>
              </a:rPr>
              <a:t>Solves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Detailed field data.</a:t>
            </a:r>
            <a:endParaRPr lang="en-US" sz="1300" dirty="0"/>
          </a:p>
          <a:p>
            <a:pPr indent="0" marL="0">
              <a:spcAft>
                <a:spcPts val="400"/>
              </a:spcAft>
              <a:buNone/>
            </a:pPr>
            <a:r>
              <a:rPr lang="en-US" sz="1300" dirty="0">
                <a:solidFill>
                  <a:srgbClr val="B3261E"/>
                </a:solidFill>
                <a:latin typeface="Segoe UI Semibold" pitchFamily="34" charset="0"/>
                <a:ea typeface="Segoe UI Semibold" pitchFamily="34" charset="-122"/>
                <a:cs typeface="Segoe UI Semibold" pitchFamily="34" charset="-120"/>
              </a:rPr>
              <a:t>Misses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A sensor kit per 2-acre farm is hard to justify.</a:t>
            </a:r>
            <a:endParaRPr lang="en-US" sz="1300" dirty="0"/>
          </a:p>
        </p:txBody>
      </p:sp>
      <p:sp>
        <p:nvSpPr>
          <p:cNvPr id="12" name="Shape 10"/>
          <p:cNvSpPr/>
          <p:nvPr/>
        </p:nvSpPr>
        <p:spPr>
          <a:xfrm>
            <a:off x="8046720" y="1783080"/>
            <a:ext cx="3520440" cy="1645920"/>
          </a:xfrm>
          <a:prstGeom prst="roundRect">
            <a:avLst>
              <a:gd name="adj" fmla="val 4444"/>
            </a:avLst>
          </a:prstGeom>
          <a:solidFill>
            <a:srgbClr val="FFFFFF"/>
          </a:solidFill>
          <a:ln w="9525">
            <a:solidFill>
              <a:srgbClr val="E3E5DF"/>
            </a:solidFill>
            <a:prstDash val="solid"/>
          </a:ln>
        </p:spPr>
      </p:sp>
      <p:sp>
        <p:nvSpPr>
          <p:cNvPr id="13" name="Text 11"/>
          <p:cNvSpPr/>
          <p:nvPr/>
        </p:nvSpPr>
        <p:spPr>
          <a:xfrm>
            <a:off x="8275320" y="1965960"/>
            <a:ext cx="310896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Crop advisory apps</a:t>
            </a:r>
            <a:endParaRPr lang="en-US" sz="1600" dirty="0"/>
          </a:p>
        </p:txBody>
      </p:sp>
      <p:sp>
        <p:nvSpPr>
          <p:cNvPr id="14" name="Text 12"/>
          <p:cNvSpPr/>
          <p:nvPr/>
        </p:nvSpPr>
        <p:spPr>
          <a:xfrm>
            <a:off x="8275320" y="2377440"/>
            <a:ext cx="3108960" cy="914400"/>
          </a:xfrm>
          <a:prstGeom prst="rect">
            <a:avLst/>
          </a:prstGeom>
          <a:noFill/>
          <a:ln/>
        </p:spPr>
        <p:txBody>
          <a:bodyPr wrap="square" lIns="0" tIns="0" rIns="0" bIns="0" rtlCol="0" anchor="t"/>
          <a:lstStyle/>
          <a:p>
            <a:pPr indent="0" marL="0">
              <a:spcAft>
                <a:spcPts val="400"/>
              </a:spcAft>
              <a:buNone/>
            </a:pPr>
            <a:r>
              <a:rPr lang="en-US" sz="1300" dirty="0">
                <a:solidFill>
                  <a:srgbClr val="226845"/>
                </a:solidFill>
                <a:latin typeface="Segoe UI Semibold" pitchFamily="34" charset="0"/>
                <a:ea typeface="Segoe UI Semibold" pitchFamily="34" charset="-122"/>
                <a:cs typeface="Segoe UI Semibold" pitchFamily="34" charset="-120"/>
              </a:rPr>
              <a:t>Solves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General crop guidance.</a:t>
            </a:r>
            <a:endParaRPr lang="en-US" sz="1300" dirty="0"/>
          </a:p>
          <a:p>
            <a:pPr indent="0" marL="0">
              <a:spcAft>
                <a:spcPts val="400"/>
              </a:spcAft>
              <a:buNone/>
            </a:pPr>
            <a:r>
              <a:rPr lang="en-US" sz="1300" dirty="0">
                <a:solidFill>
                  <a:srgbClr val="B3261E"/>
                </a:solidFill>
                <a:latin typeface="Segoe UI Semibold" pitchFamily="34" charset="0"/>
                <a:ea typeface="Segoe UI Semibold" pitchFamily="34" charset="-122"/>
                <a:cs typeface="Segoe UI Semibold" pitchFamily="34" charset="-120"/>
              </a:rPr>
              <a:t>Misses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Your field's actual condition.</a:t>
            </a:r>
            <a:endParaRPr lang="en-US" sz="1300" dirty="0"/>
          </a:p>
        </p:txBody>
      </p:sp>
      <p:sp>
        <p:nvSpPr>
          <p:cNvPr id="15" name="Shape 13"/>
          <p:cNvSpPr/>
          <p:nvPr/>
        </p:nvSpPr>
        <p:spPr>
          <a:xfrm>
            <a:off x="548640" y="3657600"/>
            <a:ext cx="3520440" cy="1645920"/>
          </a:xfrm>
          <a:prstGeom prst="roundRect">
            <a:avLst>
              <a:gd name="adj" fmla="val 4444"/>
            </a:avLst>
          </a:prstGeom>
          <a:solidFill>
            <a:srgbClr val="FFFFFF"/>
          </a:solidFill>
          <a:ln w="9525">
            <a:solidFill>
              <a:srgbClr val="E3E5DF"/>
            </a:solidFill>
            <a:prstDash val="solid"/>
          </a:ln>
        </p:spPr>
      </p:sp>
      <p:sp>
        <p:nvSpPr>
          <p:cNvPr id="16" name="Text 14"/>
          <p:cNvSpPr/>
          <p:nvPr/>
        </p:nvSpPr>
        <p:spPr>
          <a:xfrm>
            <a:off x="777240" y="3840480"/>
            <a:ext cx="310896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Equipment rental</a:t>
            </a:r>
            <a:endParaRPr lang="en-US" sz="1600" dirty="0"/>
          </a:p>
        </p:txBody>
      </p:sp>
      <p:sp>
        <p:nvSpPr>
          <p:cNvPr id="17" name="Text 15"/>
          <p:cNvSpPr/>
          <p:nvPr/>
        </p:nvSpPr>
        <p:spPr>
          <a:xfrm>
            <a:off x="777240" y="4251960"/>
            <a:ext cx="3108960" cy="914400"/>
          </a:xfrm>
          <a:prstGeom prst="rect">
            <a:avLst/>
          </a:prstGeom>
          <a:noFill/>
          <a:ln/>
        </p:spPr>
        <p:txBody>
          <a:bodyPr wrap="square" lIns="0" tIns="0" rIns="0" bIns="0" rtlCol="0" anchor="t"/>
          <a:lstStyle/>
          <a:p>
            <a:pPr indent="0" marL="0">
              <a:spcAft>
                <a:spcPts val="400"/>
              </a:spcAft>
              <a:buNone/>
            </a:pPr>
            <a:r>
              <a:rPr lang="en-US" sz="1300" dirty="0">
                <a:solidFill>
                  <a:srgbClr val="226845"/>
                </a:solidFill>
                <a:latin typeface="Segoe UI Semibold" pitchFamily="34" charset="0"/>
                <a:ea typeface="Segoe UI Semibold" pitchFamily="34" charset="-122"/>
                <a:cs typeface="Segoe UI Semibold" pitchFamily="34" charset="-120"/>
              </a:rPr>
              <a:t>Solves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Finding a tractor.</a:t>
            </a:r>
            <a:endParaRPr lang="en-US" sz="1300" dirty="0"/>
          </a:p>
          <a:p>
            <a:pPr indent="0" marL="0">
              <a:spcAft>
                <a:spcPts val="400"/>
              </a:spcAft>
              <a:buNone/>
            </a:pPr>
            <a:r>
              <a:rPr lang="en-US" sz="1300" dirty="0">
                <a:solidFill>
                  <a:srgbClr val="B3261E"/>
                </a:solidFill>
                <a:latin typeface="Segoe UI Semibold" pitchFamily="34" charset="0"/>
                <a:ea typeface="Segoe UI Semibold" pitchFamily="34" charset="-122"/>
                <a:cs typeface="Segoe UI Semibold" pitchFamily="34" charset="-120"/>
              </a:rPr>
              <a:t>Misses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That 14 farms need one on the same day.</a:t>
            </a:r>
            <a:endParaRPr lang="en-US" sz="1300" dirty="0"/>
          </a:p>
        </p:txBody>
      </p:sp>
      <p:sp>
        <p:nvSpPr>
          <p:cNvPr id="18" name="Shape 16"/>
          <p:cNvSpPr/>
          <p:nvPr/>
        </p:nvSpPr>
        <p:spPr>
          <a:xfrm>
            <a:off x="4297680" y="3657600"/>
            <a:ext cx="3520440" cy="1645920"/>
          </a:xfrm>
          <a:prstGeom prst="roundRect">
            <a:avLst>
              <a:gd name="adj" fmla="val 4444"/>
            </a:avLst>
          </a:prstGeom>
          <a:solidFill>
            <a:srgbClr val="FFFFFF"/>
          </a:solidFill>
          <a:ln w="9525">
            <a:solidFill>
              <a:srgbClr val="E3E5DF"/>
            </a:solidFill>
            <a:prstDash val="solid"/>
          </a:ln>
        </p:spPr>
      </p:sp>
      <p:sp>
        <p:nvSpPr>
          <p:cNvPr id="19" name="Text 17"/>
          <p:cNvSpPr/>
          <p:nvPr/>
        </p:nvSpPr>
        <p:spPr>
          <a:xfrm>
            <a:off x="4526280" y="3840480"/>
            <a:ext cx="310896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Market platforms</a:t>
            </a:r>
            <a:endParaRPr lang="en-US" sz="1600" dirty="0"/>
          </a:p>
        </p:txBody>
      </p:sp>
      <p:sp>
        <p:nvSpPr>
          <p:cNvPr id="20" name="Text 18"/>
          <p:cNvSpPr/>
          <p:nvPr/>
        </p:nvSpPr>
        <p:spPr>
          <a:xfrm>
            <a:off x="4526280" y="4251960"/>
            <a:ext cx="3108960" cy="914400"/>
          </a:xfrm>
          <a:prstGeom prst="rect">
            <a:avLst/>
          </a:prstGeom>
          <a:noFill/>
          <a:ln/>
        </p:spPr>
        <p:txBody>
          <a:bodyPr wrap="square" lIns="0" tIns="0" rIns="0" bIns="0" rtlCol="0" anchor="t"/>
          <a:lstStyle/>
          <a:p>
            <a:pPr indent="0" marL="0">
              <a:spcAft>
                <a:spcPts val="400"/>
              </a:spcAft>
              <a:buNone/>
            </a:pPr>
            <a:r>
              <a:rPr lang="en-US" sz="1300" dirty="0">
                <a:solidFill>
                  <a:srgbClr val="226845"/>
                </a:solidFill>
                <a:latin typeface="Segoe UI Semibold" pitchFamily="34" charset="0"/>
                <a:ea typeface="Segoe UI Semibold" pitchFamily="34" charset="-122"/>
                <a:cs typeface="Segoe UI Semibold" pitchFamily="34" charset="-120"/>
              </a:rPr>
              <a:t>Solves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Listing a crop.</a:t>
            </a:r>
            <a:endParaRPr lang="en-US" sz="1300" dirty="0"/>
          </a:p>
          <a:p>
            <a:pPr indent="0" marL="0">
              <a:spcAft>
                <a:spcPts val="400"/>
              </a:spcAft>
              <a:buNone/>
            </a:pPr>
            <a:r>
              <a:rPr lang="en-US" sz="1300" dirty="0">
                <a:solidFill>
                  <a:srgbClr val="B3261E"/>
                </a:solidFill>
                <a:latin typeface="Segoe UI Semibold" pitchFamily="34" charset="0"/>
                <a:ea typeface="Segoe UI Semibold" pitchFamily="34" charset="-122"/>
                <a:cs typeface="Segoe UI Semibold" pitchFamily="34" charset="-120"/>
              </a:rPr>
              <a:t>Misses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Pooling small lots into buyer-sized supply.</a:t>
            </a:r>
            <a:endParaRPr lang="en-US" sz="1300" dirty="0"/>
          </a:p>
        </p:txBody>
      </p:sp>
      <p:sp>
        <p:nvSpPr>
          <p:cNvPr id="21" name="Shape 19"/>
          <p:cNvSpPr/>
          <p:nvPr/>
        </p:nvSpPr>
        <p:spPr>
          <a:xfrm>
            <a:off x="8046720" y="3657600"/>
            <a:ext cx="3520440" cy="1645920"/>
          </a:xfrm>
          <a:prstGeom prst="roundRect">
            <a:avLst>
              <a:gd name="adj" fmla="val 4444"/>
            </a:avLst>
          </a:prstGeom>
          <a:solidFill>
            <a:srgbClr val="FFFFFF"/>
          </a:solidFill>
          <a:ln w="9525">
            <a:solidFill>
              <a:srgbClr val="E3E5DF"/>
            </a:solidFill>
            <a:prstDash val="solid"/>
          </a:ln>
        </p:spPr>
      </p:sp>
      <p:sp>
        <p:nvSpPr>
          <p:cNvPr id="22" name="Text 20"/>
          <p:cNvSpPr/>
          <p:nvPr/>
        </p:nvSpPr>
        <p:spPr>
          <a:xfrm>
            <a:off x="8275320" y="3840480"/>
            <a:ext cx="310896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AI chatbots</a:t>
            </a:r>
            <a:endParaRPr lang="en-US" sz="1600" dirty="0"/>
          </a:p>
        </p:txBody>
      </p:sp>
      <p:sp>
        <p:nvSpPr>
          <p:cNvPr id="23" name="Text 21"/>
          <p:cNvSpPr/>
          <p:nvPr/>
        </p:nvSpPr>
        <p:spPr>
          <a:xfrm>
            <a:off x="8275320" y="4251960"/>
            <a:ext cx="3108960" cy="914400"/>
          </a:xfrm>
          <a:prstGeom prst="rect">
            <a:avLst/>
          </a:prstGeom>
          <a:noFill/>
          <a:ln/>
        </p:spPr>
        <p:txBody>
          <a:bodyPr wrap="square" lIns="0" tIns="0" rIns="0" bIns="0" rtlCol="0" anchor="t"/>
          <a:lstStyle/>
          <a:p>
            <a:pPr indent="0" marL="0">
              <a:spcAft>
                <a:spcPts val="400"/>
              </a:spcAft>
              <a:buNone/>
            </a:pPr>
            <a:r>
              <a:rPr lang="en-US" sz="1300" dirty="0">
                <a:solidFill>
                  <a:srgbClr val="226845"/>
                </a:solidFill>
                <a:latin typeface="Segoe UI Semibold" pitchFamily="34" charset="0"/>
                <a:ea typeface="Segoe UI Semibold" pitchFamily="34" charset="-122"/>
                <a:cs typeface="Segoe UI Semibold" pitchFamily="34" charset="-120"/>
              </a:rPr>
              <a:t>Solves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Answering questions.</a:t>
            </a:r>
            <a:endParaRPr lang="en-US" sz="1300" dirty="0"/>
          </a:p>
          <a:p>
            <a:pPr indent="0" marL="0">
              <a:spcAft>
                <a:spcPts val="400"/>
              </a:spcAft>
              <a:buNone/>
            </a:pPr>
            <a:r>
              <a:rPr lang="en-US" sz="1300" dirty="0">
                <a:solidFill>
                  <a:srgbClr val="B3261E"/>
                </a:solidFill>
                <a:latin typeface="Segoe UI Semibold" pitchFamily="34" charset="0"/>
                <a:ea typeface="Segoe UI Semibold" pitchFamily="34" charset="-122"/>
                <a:cs typeface="Segoe UI Semibold" pitchFamily="34" charset="-120"/>
              </a:rPr>
              <a:t>Misses  </a:t>
            </a:r>
            <a:pPr indent="0" marL="0">
              <a:spcAft>
                <a:spcPts val="400"/>
              </a:spcAft>
              <a:buNone/>
            </a:pPr>
            <a:r>
              <a:rPr lang="en-US" sz="1300" dirty="0">
                <a:solidFill>
                  <a:srgbClr val="17201B"/>
                </a:solidFill>
                <a:latin typeface="Segoe UI" pitchFamily="34" charset="0"/>
                <a:ea typeface="Segoe UI" pitchFamily="34" charset="-122"/>
                <a:cs typeface="Segoe UI" pitchFamily="34" charset="-120"/>
              </a:rPr>
              <a:t>The farm data and follow-through behind a decision.</a:t>
            </a:r>
            <a:endParaRPr lang="en-US" sz="1300" dirty="0"/>
          </a:p>
        </p:txBody>
      </p:sp>
      <p:sp>
        <p:nvSpPr>
          <p:cNvPr id="24" name="Text 22"/>
          <p:cNvSpPr/>
          <p:nvPr/>
        </p:nvSpPr>
        <p:spPr>
          <a:xfrm>
            <a:off x="548640" y="5669280"/>
            <a:ext cx="11064240" cy="411480"/>
          </a:xfrm>
          <a:prstGeom prst="rect">
            <a:avLst/>
          </a:prstGeom>
          <a:noFill/>
          <a:ln/>
        </p:spPr>
        <p:txBody>
          <a:bodyPr wrap="square" lIns="0" tIns="0" rIns="0" bIns="0" rtlCol="0" anchor="ctr"/>
          <a:lstStyle/>
          <a:p>
            <a:pPr indent="0" marL="0">
              <a:buNone/>
            </a:pPr>
            <a:r>
              <a:rPr lang="en-US" sz="1800" dirty="0">
                <a:solidFill>
                  <a:srgbClr val="1B5538"/>
                </a:solidFill>
                <a:latin typeface="Segoe UI Semibold" pitchFamily="34" charset="0"/>
                <a:ea typeface="Segoe UI Semibold" pitchFamily="34" charset="-122"/>
                <a:cs typeface="Segoe UI Semibold" pitchFamily="34" charset="-120"/>
              </a:rPr>
              <a:t>Each tool solves one piece. None coordinates the farms around it.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04   SOLUTION</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AgriCluster makes the cluster smart, not every farm</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4 / 12</a:t>
            </a:r>
            <a:endParaRPr lang="en-US" sz="1000" dirty="0"/>
          </a:p>
        </p:txBody>
      </p:sp>
      <p:sp>
        <p:nvSpPr>
          <p:cNvPr id="6" name="Text 4"/>
          <p:cNvSpPr/>
          <p:nvPr/>
        </p:nvSpPr>
        <p:spPr>
          <a:xfrm>
            <a:off x="548640" y="1737360"/>
            <a:ext cx="5486400" cy="640080"/>
          </a:xfrm>
          <a:prstGeom prst="rect">
            <a:avLst/>
          </a:prstGeom>
          <a:noFill/>
          <a:ln/>
        </p:spPr>
        <p:txBody>
          <a:bodyPr wrap="square" lIns="0" tIns="0" rIns="0" bIns="0" rtlCol="0" anchor="t"/>
          <a:lstStyle/>
          <a:p>
            <a:pPr indent="0" marL="0">
              <a:spcAft>
                <a:spcPts val="600"/>
              </a:spcAft>
              <a:buNone/>
            </a:pPr>
            <a:r>
              <a:rPr lang="en-US" sz="1700" dirty="0">
                <a:solidFill>
                  <a:srgbClr val="56615A"/>
                </a:solidFill>
                <a:latin typeface="Segoe UI" pitchFamily="34" charset="0"/>
                <a:ea typeface="Segoe UI" pitchFamily="34" charset="-122"/>
                <a:cs typeface="Segoe UI" pitchFamily="34" charset="-120"/>
              </a:rPr>
              <a:t>A shared intelligence and coordination layer for a group of neighbouring farms.</a:t>
            </a:r>
            <a:endParaRPr lang="en-US" sz="1700" dirty="0"/>
          </a:p>
        </p:txBody>
      </p:sp>
      <p:sp>
        <p:nvSpPr>
          <p:cNvPr id="7" name="Text 5"/>
          <p:cNvSpPr/>
          <p:nvPr/>
        </p:nvSpPr>
        <p:spPr>
          <a:xfrm>
            <a:off x="548640" y="2514600"/>
            <a:ext cx="1737360" cy="320040"/>
          </a:xfrm>
          <a:prstGeom prst="rect">
            <a:avLst/>
          </a:prstGeom>
          <a:noFill/>
          <a:ln/>
        </p:spPr>
        <p:txBody>
          <a:bodyPr wrap="square" lIns="0" tIns="0" rIns="0" bIns="0" rtlCol="0" anchor="ctr"/>
          <a:lstStyle/>
          <a:p>
            <a:pPr indent="0" marL="0">
              <a:buNone/>
            </a:pPr>
            <a:r>
              <a:rPr lang="en-US" sz="1700" dirty="0">
                <a:solidFill>
                  <a:srgbClr val="1B5538"/>
                </a:solidFill>
                <a:latin typeface="Segoe UI Semibold" pitchFamily="34" charset="0"/>
                <a:ea typeface="Segoe UI Semibold" pitchFamily="34" charset="-122"/>
                <a:cs typeface="Segoe UI Semibold" pitchFamily="34" charset="-120"/>
              </a:rPr>
              <a:t>Connect</a:t>
            </a:r>
            <a:endParaRPr lang="en-US" sz="1700" dirty="0"/>
          </a:p>
        </p:txBody>
      </p:sp>
      <p:sp>
        <p:nvSpPr>
          <p:cNvPr id="8" name="Text 6"/>
          <p:cNvSpPr/>
          <p:nvPr/>
        </p:nvSpPr>
        <p:spPr>
          <a:xfrm>
            <a:off x="2148840" y="2514600"/>
            <a:ext cx="3886200" cy="731520"/>
          </a:xfrm>
          <a:prstGeom prst="rect">
            <a:avLst/>
          </a:prstGeom>
          <a:noFill/>
          <a:ln/>
        </p:spPr>
        <p:txBody>
          <a:bodyPr wrap="square" lIns="0" tIns="0" rIns="0" bIns="0" rtlCol="0" anchor="t"/>
          <a:lstStyle/>
          <a:p>
            <a:pPr indent="0" marL="0">
              <a:buNone/>
            </a:pPr>
            <a:r>
              <a:rPr lang="en-US" sz="1400" dirty="0">
                <a:solidFill>
                  <a:srgbClr val="17201B"/>
                </a:solidFill>
                <a:latin typeface="Segoe UI" pitchFamily="34" charset="0"/>
                <a:ea typeface="Segoe UI" pitchFamily="34" charset="-122"/>
                <a:cs typeface="Segoe UI" pitchFamily="34" charset="-120"/>
              </a:rPr>
              <a:t>Farmers, farms, machinery, labour, experts and buyers in one cluster.</a:t>
            </a:r>
            <a:endParaRPr lang="en-US" sz="1400" dirty="0"/>
          </a:p>
        </p:txBody>
      </p:sp>
      <p:sp>
        <p:nvSpPr>
          <p:cNvPr id="9" name="Text 7"/>
          <p:cNvSpPr/>
          <p:nvPr/>
        </p:nvSpPr>
        <p:spPr>
          <a:xfrm>
            <a:off x="548640" y="3383280"/>
            <a:ext cx="1737360" cy="320040"/>
          </a:xfrm>
          <a:prstGeom prst="rect">
            <a:avLst/>
          </a:prstGeom>
          <a:noFill/>
          <a:ln/>
        </p:spPr>
        <p:txBody>
          <a:bodyPr wrap="square" lIns="0" tIns="0" rIns="0" bIns="0" rtlCol="0" anchor="ctr"/>
          <a:lstStyle/>
          <a:p>
            <a:pPr indent="0" marL="0">
              <a:buNone/>
            </a:pPr>
            <a:r>
              <a:rPr lang="en-US" sz="1700" dirty="0">
                <a:solidFill>
                  <a:srgbClr val="1B5538"/>
                </a:solidFill>
                <a:latin typeface="Segoe UI Semibold" pitchFamily="34" charset="0"/>
                <a:ea typeface="Segoe UI Semibold" pitchFamily="34" charset="-122"/>
                <a:cs typeface="Segoe UI Semibold" pitchFamily="34" charset="-120"/>
              </a:rPr>
              <a:t>Understand</a:t>
            </a:r>
            <a:endParaRPr lang="en-US" sz="1700" dirty="0"/>
          </a:p>
        </p:txBody>
      </p:sp>
      <p:sp>
        <p:nvSpPr>
          <p:cNvPr id="10" name="Text 8"/>
          <p:cNvSpPr/>
          <p:nvPr/>
        </p:nvSpPr>
        <p:spPr>
          <a:xfrm>
            <a:off x="2148840" y="3383280"/>
            <a:ext cx="3886200" cy="731520"/>
          </a:xfrm>
          <a:prstGeom prst="rect">
            <a:avLst/>
          </a:prstGeom>
          <a:noFill/>
          <a:ln/>
        </p:spPr>
        <p:txBody>
          <a:bodyPr wrap="square" lIns="0" tIns="0" rIns="0" bIns="0" rtlCol="0" anchor="t"/>
          <a:lstStyle/>
          <a:p>
            <a:pPr indent="0" marL="0">
              <a:buNone/>
            </a:pPr>
            <a:r>
              <a:rPr lang="en-US" sz="1400" dirty="0">
                <a:solidFill>
                  <a:srgbClr val="17201B"/>
                </a:solidFill>
                <a:latin typeface="Segoe UI" pitchFamily="34" charset="0"/>
                <a:ea typeface="Segoe UI" pitchFamily="34" charset="-122"/>
                <a:cs typeface="Segoe UI" pitchFamily="34" charset="-120"/>
              </a:rPr>
              <a:t>Farm, weather, sensor, resource and market data turned into suggestions that explain themselves.</a:t>
            </a:r>
            <a:endParaRPr lang="en-US" sz="1400" dirty="0"/>
          </a:p>
        </p:txBody>
      </p:sp>
      <p:sp>
        <p:nvSpPr>
          <p:cNvPr id="11" name="Text 9"/>
          <p:cNvSpPr/>
          <p:nvPr/>
        </p:nvSpPr>
        <p:spPr>
          <a:xfrm>
            <a:off x="548640" y="4251960"/>
            <a:ext cx="1737360" cy="320040"/>
          </a:xfrm>
          <a:prstGeom prst="rect">
            <a:avLst/>
          </a:prstGeom>
          <a:noFill/>
          <a:ln/>
        </p:spPr>
        <p:txBody>
          <a:bodyPr wrap="square" lIns="0" tIns="0" rIns="0" bIns="0" rtlCol="0" anchor="ctr"/>
          <a:lstStyle/>
          <a:p>
            <a:pPr indent="0" marL="0">
              <a:buNone/>
            </a:pPr>
            <a:r>
              <a:rPr lang="en-US" sz="1700" dirty="0">
                <a:solidFill>
                  <a:srgbClr val="1B5538"/>
                </a:solidFill>
                <a:latin typeface="Segoe UI Semibold" pitchFamily="34" charset="0"/>
                <a:ea typeface="Segoe UI Semibold" pitchFamily="34" charset="-122"/>
                <a:cs typeface="Segoe UI Semibold" pitchFamily="34" charset="-120"/>
              </a:rPr>
              <a:t>Coordinate</a:t>
            </a:r>
            <a:endParaRPr lang="en-US" sz="1700" dirty="0"/>
          </a:p>
        </p:txBody>
      </p:sp>
      <p:sp>
        <p:nvSpPr>
          <p:cNvPr id="12" name="Text 10"/>
          <p:cNvSpPr/>
          <p:nvPr/>
        </p:nvSpPr>
        <p:spPr>
          <a:xfrm>
            <a:off x="2148840" y="4251960"/>
            <a:ext cx="3886200" cy="731520"/>
          </a:xfrm>
          <a:prstGeom prst="rect">
            <a:avLst/>
          </a:prstGeom>
          <a:noFill/>
          <a:ln/>
        </p:spPr>
        <p:txBody>
          <a:bodyPr wrap="square" lIns="0" tIns="0" rIns="0" bIns="0" rtlCol="0" anchor="t"/>
          <a:lstStyle/>
          <a:p>
            <a:pPr indent="0" marL="0">
              <a:buNone/>
            </a:pPr>
            <a:r>
              <a:rPr lang="en-US" sz="1400" dirty="0">
                <a:solidFill>
                  <a:srgbClr val="17201B"/>
                </a:solidFill>
                <a:latin typeface="Segoe UI" pitchFamily="34" charset="0"/>
                <a:ea typeface="Segoe UI" pitchFamily="34" charset="-122"/>
                <a:cs typeface="Segoe UI" pitchFamily="34" charset="-120"/>
              </a:rPr>
              <a:t>Shared machinery, labour and expertise, and pooled harvests matched to buyer demand.</a:t>
            </a:r>
            <a:endParaRPr lang="en-US" sz="1400" dirty="0"/>
          </a:p>
        </p:txBody>
      </p:sp>
      <p:sp>
        <p:nvSpPr>
          <p:cNvPr id="13" name="Shape 11"/>
          <p:cNvSpPr/>
          <p:nvPr/>
        </p:nvSpPr>
        <p:spPr>
          <a:xfrm>
            <a:off x="548640" y="5257800"/>
            <a:ext cx="5486400" cy="731520"/>
          </a:xfrm>
          <a:prstGeom prst="roundRect">
            <a:avLst>
              <a:gd name="adj" fmla="val 10000"/>
            </a:avLst>
          </a:prstGeom>
          <a:solidFill>
            <a:srgbClr val="0F3021"/>
          </a:solidFill>
          <a:ln/>
        </p:spPr>
      </p:sp>
      <p:sp>
        <p:nvSpPr>
          <p:cNvPr id="14" name="Text 12"/>
          <p:cNvSpPr/>
          <p:nvPr/>
        </p:nvSpPr>
        <p:spPr>
          <a:xfrm>
            <a:off x="777240" y="5257800"/>
            <a:ext cx="5120640" cy="73152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The platform recommends. The farmer decides.</a:t>
            </a:r>
            <a:endParaRPr lang="en-US" sz="1800" dirty="0"/>
          </a:p>
        </p:txBody>
      </p:sp>
      <p:sp>
        <p:nvSpPr>
          <p:cNvPr id="15" name="Shape 13"/>
          <p:cNvSpPr/>
          <p:nvPr/>
        </p:nvSpPr>
        <p:spPr>
          <a:xfrm>
            <a:off x="6446520" y="1737360"/>
            <a:ext cx="5212080" cy="3945255"/>
          </a:xfrm>
          <a:prstGeom prst="roundRect">
            <a:avLst>
              <a:gd name="adj" fmla="val 1854"/>
            </a:avLst>
          </a:prstGeom>
          <a:solidFill>
            <a:srgbClr val="FFFFFF"/>
          </a:solidFill>
          <a:ln w="9525">
            <a:solidFill>
              <a:srgbClr val="E3E5DF"/>
            </a:solidFill>
            <a:prstDash val="solid"/>
          </a:ln>
          <a:effectLst>
            <a:outerShdw sx="100000" sy="100000" kx="0" ky="0" algn="bl" rotWithShape="0" blurRad="152400" dist="38100" dir="5400000">
              <a:srgbClr val="17201B">
                <a:alpha val="12000"/>
              </a:srgbClr>
            </a:outerShdw>
          </a:effectLst>
        </p:spPr>
      </p:sp>
      <p:pic>
        <p:nvPicPr>
          <p:cNvPr id="16" name="Image 0" descr="assets/crop-cluster-map.png">    </p:cNvPr>
          <p:cNvPicPr>
            <a:picLocks noChangeAspect="1"/>
          </p:cNvPicPr>
          <p:nvPr/>
        </p:nvPicPr>
        <p:blipFill>
          <a:blip r:embed="rId1"/>
          <a:stretch>
            <a:fillRect/>
          </a:stretch>
        </p:blipFill>
        <p:spPr>
          <a:xfrm>
            <a:off x="6501384" y="1792224"/>
            <a:ext cx="5102352" cy="3835527"/>
          </a:xfrm>
          <a:prstGeom prst="rect">
            <a:avLst/>
          </a:prstGeom>
        </p:spPr>
      </p:pic>
      <p:sp>
        <p:nvSpPr>
          <p:cNvPr id="17" name="Text 14"/>
          <p:cNvSpPr/>
          <p:nvPr/>
        </p:nvSpPr>
        <p:spPr>
          <a:xfrm>
            <a:off x="6446520" y="5760720"/>
            <a:ext cx="5212080" cy="274320"/>
          </a:xfrm>
          <a:prstGeom prst="rect">
            <a:avLst/>
          </a:prstGeom>
          <a:noFill/>
          <a:ln/>
        </p:spPr>
        <p:txBody>
          <a:bodyPr wrap="square" lIns="0" tIns="0" rIns="0" bIns="0" rtlCol="0" anchor="ctr"/>
          <a:lstStyle/>
          <a:p>
            <a:pPr indent="0" marL="0">
              <a:buNone/>
            </a:pPr>
            <a:r>
              <a:rPr lang="en-US" sz="1100" i="1" dirty="0">
                <a:solidFill>
                  <a:srgbClr val="636C65"/>
                </a:solidFill>
                <a:latin typeface="Segoe UI" pitchFamily="34" charset="0"/>
                <a:ea typeface="Segoe UI" pitchFamily="34" charset="-122"/>
                <a:cs typeface="Segoe UI" pitchFamily="34" charset="-120"/>
              </a:rPr>
              <a:t>128 farms in six villages, with shared water sources, machinery, cold storage and a collection centre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05   HOW IT WORKS</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From data to coordinated action</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5 / 12</a:t>
            </a:r>
            <a:endParaRPr lang="en-US" sz="1000" dirty="0"/>
          </a:p>
        </p:txBody>
      </p:sp>
      <p:sp>
        <p:nvSpPr>
          <p:cNvPr id="6" name="Shape 4"/>
          <p:cNvSpPr/>
          <p:nvPr/>
        </p:nvSpPr>
        <p:spPr>
          <a:xfrm>
            <a:off x="548640" y="1828800"/>
            <a:ext cx="1678577" cy="685800"/>
          </a:xfrm>
          <a:prstGeom prst="homePlate">
            <a:avLst/>
          </a:prstGeom>
          <a:solidFill>
            <a:srgbClr val="1B5538"/>
          </a:solidFill>
          <a:ln w="19050">
            <a:solidFill>
              <a:srgbClr val="F6F6F3"/>
            </a:solidFill>
            <a:prstDash val="solid"/>
          </a:ln>
        </p:spPr>
      </p:sp>
      <p:sp>
        <p:nvSpPr>
          <p:cNvPr id="7" name="Text 5"/>
          <p:cNvSpPr/>
          <p:nvPr/>
        </p:nvSpPr>
        <p:spPr>
          <a:xfrm>
            <a:off x="640080" y="1828800"/>
            <a:ext cx="1267097" cy="685800"/>
          </a:xfrm>
          <a:prstGeom prst="rect">
            <a:avLst/>
          </a:prstGeom>
          <a:noFill/>
          <a:ln/>
        </p:spPr>
        <p:txBody>
          <a:bodyPr wrap="square" lIns="0" tIns="0" rIns="0" bIns="0" rtlCol="0" anchor="ctr"/>
          <a:lstStyle/>
          <a:p>
            <a:pPr algn="l" indent="0" marL="0">
              <a:buNone/>
            </a:pPr>
            <a:r>
              <a:rPr lang="en-US" sz="1250" dirty="0">
                <a:solidFill>
                  <a:srgbClr val="FFFFFF"/>
                </a:solidFill>
                <a:latin typeface="Segoe UI Semibold" pitchFamily="34" charset="0"/>
                <a:ea typeface="Segoe UI Semibold" pitchFamily="34" charset="-122"/>
                <a:cs typeface="Segoe UI Semibold" pitchFamily="34" charset="-120"/>
              </a:rPr>
              <a:t>Connect</a:t>
            </a:r>
            <a:endParaRPr lang="en-US" sz="1250" dirty="0"/>
          </a:p>
        </p:txBody>
      </p:sp>
      <p:sp>
        <p:nvSpPr>
          <p:cNvPr id="8" name="Text 6"/>
          <p:cNvSpPr/>
          <p:nvPr/>
        </p:nvSpPr>
        <p:spPr>
          <a:xfrm>
            <a:off x="640080" y="2651760"/>
            <a:ext cx="1449977" cy="914400"/>
          </a:xfrm>
          <a:prstGeom prst="rect">
            <a:avLst/>
          </a:prstGeom>
          <a:noFill/>
          <a:ln/>
        </p:spPr>
        <p:txBody>
          <a:bodyPr wrap="square" lIns="0" tIns="0" rIns="0" bIns="0" rtlCol="0" anchor="t"/>
          <a:lstStyle/>
          <a:p>
            <a:pPr indent="0" marL="0">
              <a:buNone/>
            </a:pPr>
            <a:r>
              <a:rPr lang="en-US" sz="1200" dirty="0">
                <a:solidFill>
                  <a:srgbClr val="56615A"/>
                </a:solidFill>
                <a:latin typeface="Segoe UI" pitchFamily="34" charset="0"/>
                <a:ea typeface="Segoe UI" pitchFamily="34" charset="-122"/>
                <a:cs typeface="Segoe UI" pitchFamily="34" charset="-120"/>
              </a:rPr>
              <a:t>Farms, resources, experts and buyers join the cluster</a:t>
            </a:r>
            <a:endParaRPr lang="en-US" sz="1200" dirty="0"/>
          </a:p>
        </p:txBody>
      </p:sp>
      <p:sp>
        <p:nvSpPr>
          <p:cNvPr id="9" name="Shape 7"/>
          <p:cNvSpPr/>
          <p:nvPr/>
        </p:nvSpPr>
        <p:spPr>
          <a:xfrm>
            <a:off x="2117489" y="1828800"/>
            <a:ext cx="1678577" cy="685800"/>
          </a:xfrm>
          <a:prstGeom prst="chevron">
            <a:avLst/>
          </a:prstGeom>
          <a:solidFill>
            <a:srgbClr val="1B5538"/>
          </a:solidFill>
          <a:ln w="19050">
            <a:solidFill>
              <a:srgbClr val="F6F6F3"/>
            </a:solidFill>
            <a:prstDash val="solid"/>
          </a:ln>
        </p:spPr>
      </p:sp>
      <p:sp>
        <p:nvSpPr>
          <p:cNvPr id="10" name="Text 8"/>
          <p:cNvSpPr/>
          <p:nvPr/>
        </p:nvSpPr>
        <p:spPr>
          <a:xfrm>
            <a:off x="2428385" y="1828800"/>
            <a:ext cx="1111649" cy="685800"/>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Collect</a:t>
            </a:r>
            <a:endParaRPr lang="en-US" sz="1250" dirty="0"/>
          </a:p>
        </p:txBody>
      </p:sp>
      <p:sp>
        <p:nvSpPr>
          <p:cNvPr id="11" name="Text 9"/>
          <p:cNvSpPr/>
          <p:nvPr/>
        </p:nvSpPr>
        <p:spPr>
          <a:xfrm>
            <a:off x="2208929" y="2651760"/>
            <a:ext cx="1449977" cy="914400"/>
          </a:xfrm>
          <a:prstGeom prst="rect">
            <a:avLst/>
          </a:prstGeom>
          <a:noFill/>
          <a:ln/>
        </p:spPr>
        <p:txBody>
          <a:bodyPr wrap="square" lIns="0" tIns="0" rIns="0" bIns="0" rtlCol="0" anchor="t"/>
          <a:lstStyle/>
          <a:p>
            <a:pPr indent="0" marL="0">
              <a:buNone/>
            </a:pPr>
            <a:r>
              <a:rPr lang="en-US" sz="1200" dirty="0">
                <a:solidFill>
                  <a:srgbClr val="56615A"/>
                </a:solidFill>
                <a:latin typeface="Segoe UI" pitchFamily="34" charset="0"/>
                <a:ea typeface="Segoe UI" pitchFamily="34" charset="-122"/>
                <a:cs typeface="Segoe UI" pitchFamily="34" charset="-120"/>
              </a:rPr>
              <a:t>Farmer input, weather, sensors, energy and market data</a:t>
            </a:r>
            <a:endParaRPr lang="en-US" sz="1200" dirty="0"/>
          </a:p>
        </p:txBody>
      </p:sp>
      <p:sp>
        <p:nvSpPr>
          <p:cNvPr id="12" name="Shape 10"/>
          <p:cNvSpPr/>
          <p:nvPr/>
        </p:nvSpPr>
        <p:spPr>
          <a:xfrm>
            <a:off x="3686338" y="1828800"/>
            <a:ext cx="1678577" cy="685800"/>
          </a:xfrm>
          <a:prstGeom prst="chevron">
            <a:avLst/>
          </a:prstGeom>
          <a:solidFill>
            <a:srgbClr val="1B5538"/>
          </a:solidFill>
          <a:ln w="19050">
            <a:solidFill>
              <a:srgbClr val="F6F6F3"/>
            </a:solidFill>
            <a:prstDash val="solid"/>
          </a:ln>
        </p:spPr>
      </p:sp>
      <p:sp>
        <p:nvSpPr>
          <p:cNvPr id="13" name="Text 11"/>
          <p:cNvSpPr/>
          <p:nvPr/>
        </p:nvSpPr>
        <p:spPr>
          <a:xfrm>
            <a:off x="3997234" y="1828800"/>
            <a:ext cx="1111649" cy="685800"/>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Analyze</a:t>
            </a:r>
            <a:endParaRPr lang="en-US" sz="1250" dirty="0"/>
          </a:p>
        </p:txBody>
      </p:sp>
      <p:sp>
        <p:nvSpPr>
          <p:cNvPr id="14" name="Text 12"/>
          <p:cNvSpPr/>
          <p:nvPr/>
        </p:nvSpPr>
        <p:spPr>
          <a:xfrm>
            <a:off x="3777778" y="2651760"/>
            <a:ext cx="1449977" cy="914400"/>
          </a:xfrm>
          <a:prstGeom prst="rect">
            <a:avLst/>
          </a:prstGeom>
          <a:noFill/>
          <a:ln/>
        </p:spPr>
        <p:txBody>
          <a:bodyPr wrap="square" lIns="0" tIns="0" rIns="0" bIns="0" rtlCol="0" anchor="t"/>
          <a:lstStyle/>
          <a:p>
            <a:pPr indent="0" marL="0">
              <a:buNone/>
            </a:pPr>
            <a:r>
              <a:rPr lang="en-US" sz="1200" dirty="0">
                <a:solidFill>
                  <a:srgbClr val="56615A"/>
                </a:solidFill>
                <a:latin typeface="Segoe UI" pitchFamily="34" charset="0"/>
                <a:ea typeface="Segoe UI" pitchFamily="34" charset="-122"/>
                <a:cs typeface="Segoe UI" pitchFamily="34" charset="-120"/>
              </a:rPr>
              <a:t>Rules check the data against each crop and plan</a:t>
            </a:r>
            <a:endParaRPr lang="en-US" sz="1200" dirty="0"/>
          </a:p>
        </p:txBody>
      </p:sp>
      <p:sp>
        <p:nvSpPr>
          <p:cNvPr id="15" name="Shape 13"/>
          <p:cNvSpPr/>
          <p:nvPr/>
        </p:nvSpPr>
        <p:spPr>
          <a:xfrm>
            <a:off x="5255187" y="1828800"/>
            <a:ext cx="1678577" cy="685800"/>
          </a:xfrm>
          <a:prstGeom prst="chevron">
            <a:avLst/>
          </a:prstGeom>
          <a:solidFill>
            <a:srgbClr val="1B5538"/>
          </a:solidFill>
          <a:ln w="19050">
            <a:solidFill>
              <a:srgbClr val="F6F6F3"/>
            </a:solidFill>
            <a:prstDash val="solid"/>
          </a:ln>
        </p:spPr>
      </p:sp>
      <p:sp>
        <p:nvSpPr>
          <p:cNvPr id="16" name="Text 14"/>
          <p:cNvSpPr/>
          <p:nvPr/>
        </p:nvSpPr>
        <p:spPr>
          <a:xfrm>
            <a:off x="5566083" y="1828800"/>
            <a:ext cx="1111649" cy="685800"/>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Recommend</a:t>
            </a:r>
            <a:endParaRPr lang="en-US" sz="1250" dirty="0"/>
          </a:p>
        </p:txBody>
      </p:sp>
      <p:sp>
        <p:nvSpPr>
          <p:cNvPr id="17" name="Text 15"/>
          <p:cNvSpPr/>
          <p:nvPr/>
        </p:nvSpPr>
        <p:spPr>
          <a:xfrm>
            <a:off x="5346627" y="2651760"/>
            <a:ext cx="1449977" cy="914400"/>
          </a:xfrm>
          <a:prstGeom prst="rect">
            <a:avLst/>
          </a:prstGeom>
          <a:noFill/>
          <a:ln/>
        </p:spPr>
        <p:txBody>
          <a:bodyPr wrap="square" lIns="0" tIns="0" rIns="0" bIns="0" rtlCol="0" anchor="t"/>
          <a:lstStyle/>
          <a:p>
            <a:pPr indent="0" marL="0">
              <a:buNone/>
            </a:pPr>
            <a:r>
              <a:rPr lang="en-US" sz="1200" dirty="0">
                <a:solidFill>
                  <a:srgbClr val="56615A"/>
                </a:solidFill>
                <a:latin typeface="Segoe UI" pitchFamily="34" charset="0"/>
                <a:ea typeface="Segoe UI" pitchFamily="34" charset="-122"/>
                <a:cs typeface="Segoe UI" pitchFamily="34" charset="-120"/>
              </a:rPr>
              <a:t>A suggestion with its reasons and data</a:t>
            </a:r>
            <a:endParaRPr lang="en-US" sz="1200" dirty="0"/>
          </a:p>
        </p:txBody>
      </p:sp>
      <p:sp>
        <p:nvSpPr>
          <p:cNvPr id="18" name="Shape 16"/>
          <p:cNvSpPr/>
          <p:nvPr/>
        </p:nvSpPr>
        <p:spPr>
          <a:xfrm>
            <a:off x="6824037" y="1828800"/>
            <a:ext cx="1678577" cy="685800"/>
          </a:xfrm>
          <a:prstGeom prst="chevron">
            <a:avLst/>
          </a:prstGeom>
          <a:solidFill>
            <a:srgbClr val="1B5538"/>
          </a:solidFill>
          <a:ln w="19050">
            <a:solidFill>
              <a:srgbClr val="F6F6F3"/>
            </a:solidFill>
            <a:prstDash val="solid"/>
          </a:ln>
        </p:spPr>
      </p:sp>
      <p:sp>
        <p:nvSpPr>
          <p:cNvPr id="19" name="Text 17"/>
          <p:cNvSpPr/>
          <p:nvPr/>
        </p:nvSpPr>
        <p:spPr>
          <a:xfrm>
            <a:off x="7134933" y="1828800"/>
            <a:ext cx="1111649" cy="685800"/>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Coordinate</a:t>
            </a:r>
            <a:endParaRPr lang="en-US" sz="1250" dirty="0"/>
          </a:p>
        </p:txBody>
      </p:sp>
      <p:sp>
        <p:nvSpPr>
          <p:cNvPr id="20" name="Text 18"/>
          <p:cNvSpPr/>
          <p:nvPr/>
        </p:nvSpPr>
        <p:spPr>
          <a:xfrm>
            <a:off x="6915477" y="2651760"/>
            <a:ext cx="1449977" cy="914400"/>
          </a:xfrm>
          <a:prstGeom prst="rect">
            <a:avLst/>
          </a:prstGeom>
          <a:noFill/>
          <a:ln/>
        </p:spPr>
        <p:txBody>
          <a:bodyPr wrap="square" lIns="0" tIns="0" rIns="0" bIns="0" rtlCol="0" anchor="t"/>
          <a:lstStyle/>
          <a:p>
            <a:pPr indent="0" marL="0">
              <a:buNone/>
            </a:pPr>
            <a:r>
              <a:rPr lang="en-US" sz="1200" dirty="0">
                <a:solidFill>
                  <a:srgbClr val="56615A"/>
                </a:solidFill>
                <a:latin typeface="Segoe UI" pitchFamily="34" charset="0"/>
                <a:ea typeface="Segoe UI" pitchFamily="34" charset="-122"/>
                <a:cs typeface="Segoe UI" pitchFamily="34" charset="-120"/>
              </a:rPr>
              <a:t>Shared machinery, labour and buyers across farms</a:t>
            </a:r>
            <a:endParaRPr lang="en-US" sz="1200" dirty="0"/>
          </a:p>
        </p:txBody>
      </p:sp>
      <p:sp>
        <p:nvSpPr>
          <p:cNvPr id="21" name="Shape 19"/>
          <p:cNvSpPr/>
          <p:nvPr/>
        </p:nvSpPr>
        <p:spPr>
          <a:xfrm>
            <a:off x="8392886" y="1828800"/>
            <a:ext cx="1678577" cy="685800"/>
          </a:xfrm>
          <a:prstGeom prst="chevron">
            <a:avLst/>
          </a:prstGeom>
          <a:solidFill>
            <a:srgbClr val="226845"/>
          </a:solidFill>
          <a:ln w="19050">
            <a:solidFill>
              <a:srgbClr val="F6F6F3"/>
            </a:solidFill>
            <a:prstDash val="solid"/>
          </a:ln>
        </p:spPr>
      </p:sp>
      <p:sp>
        <p:nvSpPr>
          <p:cNvPr id="22" name="Text 20"/>
          <p:cNvSpPr/>
          <p:nvPr/>
        </p:nvSpPr>
        <p:spPr>
          <a:xfrm>
            <a:off x="8703782" y="1828800"/>
            <a:ext cx="1111649" cy="685800"/>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Act</a:t>
            </a:r>
            <a:endParaRPr lang="en-US" sz="1250" dirty="0"/>
          </a:p>
        </p:txBody>
      </p:sp>
      <p:sp>
        <p:nvSpPr>
          <p:cNvPr id="23" name="Text 21"/>
          <p:cNvSpPr/>
          <p:nvPr/>
        </p:nvSpPr>
        <p:spPr>
          <a:xfrm>
            <a:off x="8484326" y="2651760"/>
            <a:ext cx="1449977" cy="914400"/>
          </a:xfrm>
          <a:prstGeom prst="rect">
            <a:avLst/>
          </a:prstGeom>
          <a:noFill/>
          <a:ln/>
        </p:spPr>
        <p:txBody>
          <a:bodyPr wrap="square" lIns="0" tIns="0" rIns="0" bIns="0" rtlCol="0" anchor="t"/>
          <a:lstStyle/>
          <a:p>
            <a:pPr indent="0" marL="0">
              <a:buNone/>
            </a:pPr>
            <a:r>
              <a:rPr lang="en-US" sz="1200" dirty="0">
                <a:solidFill>
                  <a:srgbClr val="56615A"/>
                </a:solidFill>
                <a:latin typeface="Segoe UI" pitchFamily="34" charset="0"/>
                <a:ea typeface="Segoe UI" pitchFamily="34" charset="-122"/>
                <a:cs typeface="Segoe UI" pitchFamily="34" charset="-120"/>
              </a:rPr>
              <a:t>The farmer accepts, ignores or checks first</a:t>
            </a:r>
            <a:endParaRPr lang="en-US" sz="1200" dirty="0"/>
          </a:p>
        </p:txBody>
      </p:sp>
      <p:sp>
        <p:nvSpPr>
          <p:cNvPr id="24" name="Shape 22"/>
          <p:cNvSpPr/>
          <p:nvPr/>
        </p:nvSpPr>
        <p:spPr>
          <a:xfrm>
            <a:off x="9961735" y="1828800"/>
            <a:ext cx="1678577" cy="685800"/>
          </a:xfrm>
          <a:prstGeom prst="chevron">
            <a:avLst/>
          </a:prstGeom>
          <a:solidFill>
            <a:srgbClr val="226845"/>
          </a:solidFill>
          <a:ln w="19050">
            <a:solidFill>
              <a:srgbClr val="F6F6F3"/>
            </a:solidFill>
            <a:prstDash val="solid"/>
          </a:ln>
        </p:spPr>
      </p:sp>
      <p:sp>
        <p:nvSpPr>
          <p:cNvPr id="25" name="Text 23"/>
          <p:cNvSpPr/>
          <p:nvPr/>
        </p:nvSpPr>
        <p:spPr>
          <a:xfrm>
            <a:off x="10272631" y="1828800"/>
            <a:ext cx="1111649" cy="685800"/>
          </a:xfrm>
          <a:prstGeom prst="rect">
            <a:avLst/>
          </a:prstGeom>
          <a:noFill/>
          <a:ln/>
        </p:spPr>
        <p:txBody>
          <a:bodyPr wrap="square" lIns="0" tIns="0" rIns="0" bIns="0" rtlCol="0" anchor="ctr"/>
          <a:lstStyle/>
          <a:p>
            <a:pPr algn="ctr" indent="0" marL="0">
              <a:buNone/>
            </a:pPr>
            <a:r>
              <a:rPr lang="en-US" sz="1250" dirty="0">
                <a:solidFill>
                  <a:srgbClr val="FFFFFF"/>
                </a:solidFill>
                <a:latin typeface="Segoe UI Semibold" pitchFamily="34" charset="0"/>
                <a:ea typeface="Segoe UI Semibold" pitchFamily="34" charset="-122"/>
                <a:cs typeface="Segoe UI Semibold" pitchFamily="34" charset="-120"/>
              </a:rPr>
              <a:t>Measure</a:t>
            </a:r>
            <a:endParaRPr lang="en-US" sz="1250" dirty="0"/>
          </a:p>
        </p:txBody>
      </p:sp>
      <p:sp>
        <p:nvSpPr>
          <p:cNvPr id="26" name="Text 24"/>
          <p:cNvSpPr/>
          <p:nvPr/>
        </p:nvSpPr>
        <p:spPr>
          <a:xfrm>
            <a:off x="10053175" y="2651760"/>
            <a:ext cx="1449977" cy="914400"/>
          </a:xfrm>
          <a:prstGeom prst="rect">
            <a:avLst/>
          </a:prstGeom>
          <a:noFill/>
          <a:ln/>
        </p:spPr>
        <p:txBody>
          <a:bodyPr wrap="square" lIns="0" tIns="0" rIns="0" bIns="0" rtlCol="0" anchor="t"/>
          <a:lstStyle/>
          <a:p>
            <a:pPr indent="0" marL="0">
              <a:buNone/>
            </a:pPr>
            <a:r>
              <a:rPr lang="en-US" sz="1200" dirty="0">
                <a:solidFill>
                  <a:srgbClr val="56615A"/>
                </a:solidFill>
                <a:latin typeface="Segoe UI" pitchFamily="34" charset="0"/>
                <a:ea typeface="Segoe UI" pitchFamily="34" charset="-122"/>
                <a:cs typeface="Segoe UI" pitchFamily="34" charset="-120"/>
              </a:rPr>
              <a:t>Water, energy, inputs, loss and prices</a:t>
            </a:r>
            <a:endParaRPr lang="en-US" sz="1200" dirty="0"/>
          </a:p>
        </p:txBody>
      </p:sp>
      <p:sp>
        <p:nvSpPr>
          <p:cNvPr id="27" name="Text 25"/>
          <p:cNvSpPr/>
          <p:nvPr/>
        </p:nvSpPr>
        <p:spPr>
          <a:xfrm>
            <a:off x="548640" y="3794760"/>
            <a:ext cx="5486400" cy="274320"/>
          </a:xfrm>
          <a:prstGeom prst="rect">
            <a:avLst/>
          </a:prstGeom>
          <a:noFill/>
          <a:ln/>
        </p:spPr>
        <p:txBody>
          <a:bodyPr wrap="square" lIns="0" tIns="0" rIns="0" bIns="0" rtlCol="0" anchor="ctr"/>
          <a:lstStyle/>
          <a:p>
            <a:pPr indent="0" marL="0">
              <a:buNone/>
            </a:pPr>
            <a:r>
              <a:rPr lang="en-US" sz="1000" spc="200" kern="0" dirty="0">
                <a:solidFill>
                  <a:srgbClr val="0F6A9C"/>
                </a:solidFill>
                <a:latin typeface="Segoe UI Semibold" pitchFamily="34" charset="0"/>
                <a:ea typeface="Segoe UI Semibold" pitchFamily="34" charset="-122"/>
                <a:cs typeface="Segoe UI Semibold" pitchFamily="34" charset="-120"/>
              </a:rPr>
              <a:t>ONE EXAMPLE FROM THE PROTOTYPE</a:t>
            </a:r>
            <a:endParaRPr lang="en-US" sz="1000" dirty="0"/>
          </a:p>
        </p:txBody>
      </p:sp>
      <p:sp>
        <p:nvSpPr>
          <p:cNvPr id="28" name="Shape 26"/>
          <p:cNvSpPr/>
          <p:nvPr/>
        </p:nvSpPr>
        <p:spPr>
          <a:xfrm>
            <a:off x="548640" y="4160520"/>
            <a:ext cx="2606040" cy="1783080"/>
          </a:xfrm>
          <a:prstGeom prst="roundRect">
            <a:avLst>
              <a:gd name="adj" fmla="val 4103"/>
            </a:avLst>
          </a:prstGeom>
          <a:solidFill>
            <a:srgbClr val="E7F1F8"/>
          </a:solidFill>
          <a:ln/>
        </p:spPr>
      </p:sp>
      <p:sp>
        <p:nvSpPr>
          <p:cNvPr id="29" name="Text 27"/>
          <p:cNvSpPr/>
          <p:nvPr/>
        </p:nvSpPr>
        <p:spPr>
          <a:xfrm>
            <a:off x="731520" y="4315968"/>
            <a:ext cx="2286000" cy="274320"/>
          </a:xfrm>
          <a:prstGeom prst="rect">
            <a:avLst/>
          </a:prstGeom>
          <a:noFill/>
          <a:ln/>
        </p:spPr>
        <p:txBody>
          <a:bodyPr wrap="square" lIns="0" tIns="0" rIns="0" bIns="0" rtlCol="0" anchor="ctr"/>
          <a:lstStyle/>
          <a:p>
            <a:pPr indent="0" marL="0">
              <a:buNone/>
            </a:pPr>
            <a:r>
              <a:rPr lang="en-US" sz="1400" dirty="0">
                <a:solidFill>
                  <a:srgbClr val="0F6A9C"/>
                </a:solidFill>
                <a:latin typeface="Segoe UI Semibold" pitchFamily="34" charset="0"/>
                <a:ea typeface="Segoe UI Semibold" pitchFamily="34" charset="-122"/>
                <a:cs typeface="Segoe UI Semibold" pitchFamily="34" charset="-120"/>
              </a:rPr>
              <a:t>Signal</a:t>
            </a:r>
            <a:endParaRPr lang="en-US" sz="1400" dirty="0"/>
          </a:p>
        </p:txBody>
      </p:sp>
      <p:sp>
        <p:nvSpPr>
          <p:cNvPr id="30" name="Text 28"/>
          <p:cNvSpPr/>
          <p:nvPr/>
        </p:nvSpPr>
        <p:spPr>
          <a:xfrm>
            <a:off x="731520" y="4663440"/>
            <a:ext cx="2286000" cy="1188720"/>
          </a:xfrm>
          <a:prstGeom prst="rect">
            <a:avLst/>
          </a:prstGeom>
          <a:noFill/>
          <a:ln/>
        </p:spPr>
        <p:txBody>
          <a:bodyPr wrap="square" lIns="0" tIns="0" rIns="0" bIns="0" rtlCol="0" anchor="t"/>
          <a:lstStyle/>
          <a:p>
            <a:pPr indent="0" marL="0">
              <a:buNone/>
            </a:pPr>
            <a:r>
              <a:rPr lang="en-US" sz="1300" dirty="0">
                <a:solidFill>
                  <a:srgbClr val="17201B"/>
                </a:solidFill>
                <a:latin typeface="Segoe UI" pitchFamily="34" charset="0"/>
                <a:ea typeface="Segoe UI" pitchFamily="34" charset="-122"/>
                <a:cs typeface="Segoe UI" pitchFamily="34" charset="-120"/>
              </a:rPr>
              <a:t>Rain 82% likely from 6:30 pm. Field 1 soil moisture 64%; tomato needs at least 55%.</a:t>
            </a:r>
            <a:endParaRPr lang="en-US" sz="1300" dirty="0"/>
          </a:p>
        </p:txBody>
      </p:sp>
      <p:sp>
        <p:nvSpPr>
          <p:cNvPr id="31" name="Text 29"/>
          <p:cNvSpPr/>
          <p:nvPr/>
        </p:nvSpPr>
        <p:spPr>
          <a:xfrm>
            <a:off x="3136392" y="4800600"/>
            <a:ext cx="274320" cy="365760"/>
          </a:xfrm>
          <a:prstGeom prst="rect">
            <a:avLst/>
          </a:prstGeom>
          <a:noFill/>
          <a:ln/>
        </p:spPr>
        <p:txBody>
          <a:bodyPr wrap="square" lIns="0" tIns="0" rIns="0" bIns="0" rtlCol="0" anchor="ctr"/>
          <a:lstStyle/>
          <a:p>
            <a:pPr algn="ctr" indent="0" marL="0">
              <a:buNone/>
            </a:pPr>
            <a:r>
              <a:rPr lang="en-US" sz="1800" dirty="0">
                <a:solidFill>
                  <a:srgbClr val="0F6A9C"/>
                </a:solidFill>
                <a:latin typeface="Segoe UI" pitchFamily="34" charset="0"/>
                <a:ea typeface="Segoe UI" pitchFamily="34" charset="-122"/>
                <a:cs typeface="Segoe UI" pitchFamily="34" charset="-120"/>
              </a:rPr>
              <a:t>→</a:t>
            </a:r>
            <a:endParaRPr lang="en-US" sz="1800" dirty="0"/>
          </a:p>
        </p:txBody>
      </p:sp>
      <p:sp>
        <p:nvSpPr>
          <p:cNvPr id="32" name="Shape 30"/>
          <p:cNvSpPr/>
          <p:nvPr/>
        </p:nvSpPr>
        <p:spPr>
          <a:xfrm>
            <a:off x="3383280" y="4160520"/>
            <a:ext cx="2606040" cy="1783080"/>
          </a:xfrm>
          <a:prstGeom prst="roundRect">
            <a:avLst>
              <a:gd name="adj" fmla="val 4103"/>
            </a:avLst>
          </a:prstGeom>
          <a:solidFill>
            <a:srgbClr val="E7F1F8"/>
          </a:solidFill>
          <a:ln/>
        </p:spPr>
      </p:sp>
      <p:sp>
        <p:nvSpPr>
          <p:cNvPr id="33" name="Text 31"/>
          <p:cNvSpPr/>
          <p:nvPr/>
        </p:nvSpPr>
        <p:spPr>
          <a:xfrm>
            <a:off x="3566160" y="4315968"/>
            <a:ext cx="2286000" cy="274320"/>
          </a:xfrm>
          <a:prstGeom prst="rect">
            <a:avLst/>
          </a:prstGeom>
          <a:noFill/>
          <a:ln/>
        </p:spPr>
        <p:txBody>
          <a:bodyPr wrap="square" lIns="0" tIns="0" rIns="0" bIns="0" rtlCol="0" anchor="ctr"/>
          <a:lstStyle/>
          <a:p>
            <a:pPr indent="0" marL="0">
              <a:buNone/>
            </a:pPr>
            <a:r>
              <a:rPr lang="en-US" sz="1400" dirty="0">
                <a:solidFill>
                  <a:srgbClr val="0F6A9C"/>
                </a:solidFill>
                <a:latin typeface="Segoe UI Semibold" pitchFamily="34" charset="0"/>
                <a:ea typeface="Segoe UI Semibold" pitchFamily="34" charset="-122"/>
                <a:cs typeface="Segoe UI Semibold" pitchFamily="34" charset="-120"/>
              </a:rPr>
              <a:t>Suggestion</a:t>
            </a:r>
            <a:endParaRPr lang="en-US" sz="1400" dirty="0"/>
          </a:p>
        </p:txBody>
      </p:sp>
      <p:sp>
        <p:nvSpPr>
          <p:cNvPr id="34" name="Text 32"/>
          <p:cNvSpPr/>
          <p:nvPr/>
        </p:nvSpPr>
        <p:spPr>
          <a:xfrm>
            <a:off x="3566160" y="4663440"/>
            <a:ext cx="2286000" cy="1188720"/>
          </a:xfrm>
          <a:prstGeom prst="rect">
            <a:avLst/>
          </a:prstGeom>
          <a:noFill/>
          <a:ln/>
        </p:spPr>
        <p:txBody>
          <a:bodyPr wrap="square" lIns="0" tIns="0" rIns="0" bIns="0" rtlCol="0" anchor="t"/>
          <a:lstStyle/>
          <a:p>
            <a:pPr indent="0" marL="0">
              <a:buNone/>
            </a:pPr>
            <a:r>
              <a:rPr lang="en-US" sz="1300" dirty="0">
                <a:solidFill>
                  <a:srgbClr val="17201B"/>
                </a:solidFill>
                <a:latin typeface="Segoe UI" pitchFamily="34" charset="0"/>
                <a:ea typeface="Segoe UI" pitchFamily="34" charset="-122"/>
                <a:cs typeface="Segoe UI" pitchFamily="34" charset="-120"/>
              </a:rPr>
              <a:t>Consider delaying Field 1 irrigation by 24 hours, with the data shown.</a:t>
            </a:r>
            <a:endParaRPr lang="en-US" sz="1300" dirty="0"/>
          </a:p>
        </p:txBody>
      </p:sp>
      <p:sp>
        <p:nvSpPr>
          <p:cNvPr id="35" name="Text 33"/>
          <p:cNvSpPr/>
          <p:nvPr/>
        </p:nvSpPr>
        <p:spPr>
          <a:xfrm>
            <a:off x="5971032" y="4800600"/>
            <a:ext cx="274320" cy="365760"/>
          </a:xfrm>
          <a:prstGeom prst="rect">
            <a:avLst/>
          </a:prstGeom>
          <a:noFill/>
          <a:ln/>
        </p:spPr>
        <p:txBody>
          <a:bodyPr wrap="square" lIns="0" tIns="0" rIns="0" bIns="0" rtlCol="0" anchor="ctr"/>
          <a:lstStyle/>
          <a:p>
            <a:pPr algn="ctr" indent="0" marL="0">
              <a:buNone/>
            </a:pPr>
            <a:r>
              <a:rPr lang="en-US" sz="1800" dirty="0">
                <a:solidFill>
                  <a:srgbClr val="0F6A9C"/>
                </a:solidFill>
                <a:latin typeface="Segoe UI" pitchFamily="34" charset="0"/>
                <a:ea typeface="Segoe UI" pitchFamily="34" charset="-122"/>
                <a:cs typeface="Segoe UI" pitchFamily="34" charset="-120"/>
              </a:rPr>
              <a:t>→</a:t>
            </a:r>
            <a:endParaRPr lang="en-US" sz="1800" dirty="0"/>
          </a:p>
        </p:txBody>
      </p:sp>
      <p:sp>
        <p:nvSpPr>
          <p:cNvPr id="36" name="Shape 34"/>
          <p:cNvSpPr/>
          <p:nvPr/>
        </p:nvSpPr>
        <p:spPr>
          <a:xfrm>
            <a:off x="6217920" y="4160520"/>
            <a:ext cx="2606040" cy="1783080"/>
          </a:xfrm>
          <a:prstGeom prst="roundRect">
            <a:avLst>
              <a:gd name="adj" fmla="val 4103"/>
            </a:avLst>
          </a:prstGeom>
          <a:solidFill>
            <a:srgbClr val="E7F1F8"/>
          </a:solidFill>
          <a:ln/>
        </p:spPr>
      </p:sp>
      <p:sp>
        <p:nvSpPr>
          <p:cNvPr id="37" name="Text 35"/>
          <p:cNvSpPr/>
          <p:nvPr/>
        </p:nvSpPr>
        <p:spPr>
          <a:xfrm>
            <a:off x="6400800" y="4315968"/>
            <a:ext cx="2286000" cy="274320"/>
          </a:xfrm>
          <a:prstGeom prst="rect">
            <a:avLst/>
          </a:prstGeom>
          <a:noFill/>
          <a:ln/>
        </p:spPr>
        <p:txBody>
          <a:bodyPr wrap="square" lIns="0" tIns="0" rIns="0" bIns="0" rtlCol="0" anchor="ctr"/>
          <a:lstStyle/>
          <a:p>
            <a:pPr indent="0" marL="0">
              <a:buNone/>
            </a:pPr>
            <a:r>
              <a:rPr lang="en-US" sz="1400" dirty="0">
                <a:solidFill>
                  <a:srgbClr val="0F6A9C"/>
                </a:solidFill>
                <a:latin typeface="Segoe UI Semibold" pitchFamily="34" charset="0"/>
                <a:ea typeface="Segoe UI Semibold" pitchFamily="34" charset="-122"/>
                <a:cs typeface="Segoe UI Semibold" pitchFamily="34" charset="-120"/>
              </a:rPr>
              <a:t>Decision</a:t>
            </a:r>
            <a:endParaRPr lang="en-US" sz="1400" dirty="0"/>
          </a:p>
        </p:txBody>
      </p:sp>
      <p:sp>
        <p:nvSpPr>
          <p:cNvPr id="38" name="Text 36"/>
          <p:cNvSpPr/>
          <p:nvPr/>
        </p:nvSpPr>
        <p:spPr>
          <a:xfrm>
            <a:off x="6400800" y="4663440"/>
            <a:ext cx="2286000" cy="1188720"/>
          </a:xfrm>
          <a:prstGeom prst="rect">
            <a:avLst/>
          </a:prstGeom>
          <a:noFill/>
          <a:ln/>
        </p:spPr>
        <p:txBody>
          <a:bodyPr wrap="square" lIns="0" tIns="0" rIns="0" bIns="0" rtlCol="0" anchor="t"/>
          <a:lstStyle/>
          <a:p>
            <a:pPr indent="0" marL="0">
              <a:buNone/>
            </a:pPr>
            <a:r>
              <a:rPr lang="en-US" sz="1300" dirty="0">
                <a:solidFill>
                  <a:srgbClr val="17201B"/>
                </a:solidFill>
                <a:latin typeface="Segoe UI" pitchFamily="34" charset="0"/>
                <a:ea typeface="Segoe UI" pitchFamily="34" charset="-122"/>
                <a:cs typeface="Segoe UI" pitchFamily="34" charset="-120"/>
              </a:rPr>
              <a:t>The farmer accepts. The schedule moves; one tap undoes it.</a:t>
            </a:r>
            <a:endParaRPr lang="en-US" sz="1300" dirty="0"/>
          </a:p>
        </p:txBody>
      </p:sp>
      <p:sp>
        <p:nvSpPr>
          <p:cNvPr id="39" name="Text 37"/>
          <p:cNvSpPr/>
          <p:nvPr/>
        </p:nvSpPr>
        <p:spPr>
          <a:xfrm>
            <a:off x="8805672" y="4800600"/>
            <a:ext cx="274320" cy="365760"/>
          </a:xfrm>
          <a:prstGeom prst="rect">
            <a:avLst/>
          </a:prstGeom>
          <a:noFill/>
          <a:ln/>
        </p:spPr>
        <p:txBody>
          <a:bodyPr wrap="square" lIns="0" tIns="0" rIns="0" bIns="0" rtlCol="0" anchor="ctr"/>
          <a:lstStyle/>
          <a:p>
            <a:pPr algn="ctr" indent="0" marL="0">
              <a:buNone/>
            </a:pPr>
            <a:r>
              <a:rPr lang="en-US" sz="1800" dirty="0">
                <a:solidFill>
                  <a:srgbClr val="0F6A9C"/>
                </a:solidFill>
                <a:latin typeface="Segoe UI" pitchFamily="34" charset="0"/>
                <a:ea typeface="Segoe UI" pitchFamily="34" charset="-122"/>
                <a:cs typeface="Segoe UI" pitchFamily="34" charset="-120"/>
              </a:rPr>
              <a:t>→</a:t>
            </a:r>
            <a:endParaRPr lang="en-US" sz="1800" dirty="0"/>
          </a:p>
        </p:txBody>
      </p:sp>
      <p:sp>
        <p:nvSpPr>
          <p:cNvPr id="40" name="Shape 38"/>
          <p:cNvSpPr/>
          <p:nvPr/>
        </p:nvSpPr>
        <p:spPr>
          <a:xfrm>
            <a:off x="9052560" y="4160520"/>
            <a:ext cx="2606040" cy="1783080"/>
          </a:xfrm>
          <a:prstGeom prst="roundRect">
            <a:avLst>
              <a:gd name="adj" fmla="val 4103"/>
            </a:avLst>
          </a:prstGeom>
          <a:solidFill>
            <a:srgbClr val="E7F1F8"/>
          </a:solidFill>
          <a:ln/>
        </p:spPr>
      </p:sp>
      <p:sp>
        <p:nvSpPr>
          <p:cNvPr id="41" name="Text 39"/>
          <p:cNvSpPr/>
          <p:nvPr/>
        </p:nvSpPr>
        <p:spPr>
          <a:xfrm>
            <a:off x="9235440" y="4315968"/>
            <a:ext cx="2286000" cy="274320"/>
          </a:xfrm>
          <a:prstGeom prst="rect">
            <a:avLst/>
          </a:prstGeom>
          <a:noFill/>
          <a:ln/>
        </p:spPr>
        <p:txBody>
          <a:bodyPr wrap="square" lIns="0" tIns="0" rIns="0" bIns="0" rtlCol="0" anchor="ctr"/>
          <a:lstStyle/>
          <a:p>
            <a:pPr indent="0" marL="0">
              <a:buNone/>
            </a:pPr>
            <a:r>
              <a:rPr lang="en-US" sz="1400" dirty="0">
                <a:solidFill>
                  <a:srgbClr val="0F6A9C"/>
                </a:solidFill>
                <a:latin typeface="Segoe UI Semibold" pitchFamily="34" charset="0"/>
                <a:ea typeface="Segoe UI Semibold" pitchFamily="34" charset="-122"/>
                <a:cs typeface="Segoe UI Semibold" pitchFamily="34" charset="-120"/>
              </a:rPr>
              <a:t>Measured</a:t>
            </a:r>
            <a:endParaRPr lang="en-US" sz="1400" dirty="0"/>
          </a:p>
        </p:txBody>
      </p:sp>
      <p:sp>
        <p:nvSpPr>
          <p:cNvPr id="42" name="Text 40"/>
          <p:cNvSpPr/>
          <p:nvPr/>
        </p:nvSpPr>
        <p:spPr>
          <a:xfrm>
            <a:off x="9235440" y="4663440"/>
            <a:ext cx="2286000" cy="1188720"/>
          </a:xfrm>
          <a:prstGeom prst="rect">
            <a:avLst/>
          </a:prstGeom>
          <a:noFill/>
          <a:ln/>
        </p:spPr>
        <p:txBody>
          <a:bodyPr wrap="square" lIns="0" tIns="0" rIns="0" bIns="0" rtlCol="0" anchor="t"/>
          <a:lstStyle/>
          <a:p>
            <a:pPr indent="0" marL="0">
              <a:buNone/>
            </a:pPr>
            <a:r>
              <a:rPr lang="en-US" sz="1300" dirty="0">
                <a:solidFill>
                  <a:srgbClr val="17201B"/>
                </a:solidFill>
                <a:latin typeface="Segoe UI" pitchFamily="34" charset="0"/>
                <a:ea typeface="Segoe UI" pitchFamily="34" charset="-122"/>
                <a:cs typeface="Segoe UI" pitchFamily="34" charset="-120"/>
              </a:rPr>
              <a:t>About 36,000 L of water and 11 kWh of pumping avoided (indicative).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06   CLUSTER INTELLIGENCE</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One signal on one farm becomes a pattern across the cluster</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6 / 12</a:t>
            </a:r>
            <a:endParaRPr lang="en-US" sz="1000" dirty="0"/>
          </a:p>
        </p:txBody>
      </p:sp>
      <p:sp>
        <p:nvSpPr>
          <p:cNvPr id="6" name="Text 4"/>
          <p:cNvSpPr/>
          <p:nvPr/>
        </p:nvSpPr>
        <p:spPr>
          <a:xfrm>
            <a:off x="548640" y="1737360"/>
            <a:ext cx="365760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DATA COMBINED</a:t>
            </a:r>
            <a:endParaRPr lang="en-US" sz="1000" dirty="0"/>
          </a:p>
        </p:txBody>
      </p:sp>
      <p:sp>
        <p:nvSpPr>
          <p:cNvPr id="7" name="Shape 5"/>
          <p:cNvSpPr/>
          <p:nvPr/>
        </p:nvSpPr>
        <p:spPr>
          <a:xfrm>
            <a:off x="548640" y="2103120"/>
            <a:ext cx="2011680" cy="347472"/>
          </a:xfrm>
          <a:prstGeom prst="roundRect">
            <a:avLst>
              <a:gd name="adj" fmla="val 50000"/>
            </a:avLst>
          </a:prstGeom>
          <a:solidFill>
            <a:srgbClr val="E8F3EC"/>
          </a:solidFill>
          <a:ln/>
        </p:spPr>
      </p:sp>
      <p:sp>
        <p:nvSpPr>
          <p:cNvPr id="8" name="Text 6"/>
          <p:cNvSpPr/>
          <p:nvPr/>
        </p:nvSpPr>
        <p:spPr>
          <a:xfrm>
            <a:off x="548640" y="21031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Farm &amp; crop stage</a:t>
            </a:r>
            <a:endParaRPr lang="en-US" sz="1200" dirty="0"/>
          </a:p>
        </p:txBody>
      </p:sp>
      <p:sp>
        <p:nvSpPr>
          <p:cNvPr id="9" name="Shape 7"/>
          <p:cNvSpPr/>
          <p:nvPr/>
        </p:nvSpPr>
        <p:spPr>
          <a:xfrm>
            <a:off x="2697480" y="2103120"/>
            <a:ext cx="2011680" cy="347472"/>
          </a:xfrm>
          <a:prstGeom prst="roundRect">
            <a:avLst>
              <a:gd name="adj" fmla="val 50000"/>
            </a:avLst>
          </a:prstGeom>
          <a:solidFill>
            <a:srgbClr val="E8F3EC"/>
          </a:solidFill>
          <a:ln/>
        </p:spPr>
      </p:sp>
      <p:sp>
        <p:nvSpPr>
          <p:cNvPr id="10" name="Text 8"/>
          <p:cNvSpPr/>
          <p:nvPr/>
        </p:nvSpPr>
        <p:spPr>
          <a:xfrm>
            <a:off x="2697480" y="21031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Soil moisture</a:t>
            </a:r>
            <a:endParaRPr lang="en-US" sz="1200" dirty="0"/>
          </a:p>
        </p:txBody>
      </p:sp>
      <p:sp>
        <p:nvSpPr>
          <p:cNvPr id="11" name="Shape 9"/>
          <p:cNvSpPr/>
          <p:nvPr/>
        </p:nvSpPr>
        <p:spPr>
          <a:xfrm>
            <a:off x="548640" y="2560320"/>
            <a:ext cx="2011680" cy="347472"/>
          </a:xfrm>
          <a:prstGeom prst="roundRect">
            <a:avLst>
              <a:gd name="adj" fmla="val 50000"/>
            </a:avLst>
          </a:prstGeom>
          <a:solidFill>
            <a:srgbClr val="E8F3EC"/>
          </a:solidFill>
          <a:ln/>
        </p:spPr>
      </p:sp>
      <p:sp>
        <p:nvSpPr>
          <p:cNvPr id="12" name="Text 10"/>
          <p:cNvSpPr/>
          <p:nvPr/>
        </p:nvSpPr>
        <p:spPr>
          <a:xfrm>
            <a:off x="548640" y="25603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Weather</a:t>
            </a:r>
            <a:endParaRPr lang="en-US" sz="1200" dirty="0"/>
          </a:p>
        </p:txBody>
      </p:sp>
      <p:sp>
        <p:nvSpPr>
          <p:cNvPr id="13" name="Shape 11"/>
          <p:cNvSpPr/>
          <p:nvPr/>
        </p:nvSpPr>
        <p:spPr>
          <a:xfrm>
            <a:off x="2697480" y="2560320"/>
            <a:ext cx="2011680" cy="347472"/>
          </a:xfrm>
          <a:prstGeom prst="roundRect">
            <a:avLst>
              <a:gd name="adj" fmla="val 50000"/>
            </a:avLst>
          </a:prstGeom>
          <a:solidFill>
            <a:srgbClr val="E8F3EC"/>
          </a:solidFill>
          <a:ln/>
        </p:spPr>
      </p:sp>
      <p:sp>
        <p:nvSpPr>
          <p:cNvPr id="14" name="Text 12"/>
          <p:cNvSpPr/>
          <p:nvPr/>
        </p:nvSpPr>
        <p:spPr>
          <a:xfrm>
            <a:off x="2697480" y="25603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Water &amp; energy</a:t>
            </a:r>
            <a:endParaRPr lang="en-US" sz="1200" dirty="0"/>
          </a:p>
        </p:txBody>
      </p:sp>
      <p:sp>
        <p:nvSpPr>
          <p:cNvPr id="15" name="Shape 13"/>
          <p:cNvSpPr/>
          <p:nvPr/>
        </p:nvSpPr>
        <p:spPr>
          <a:xfrm>
            <a:off x="548640" y="3017520"/>
            <a:ext cx="2011680" cy="347472"/>
          </a:xfrm>
          <a:prstGeom prst="roundRect">
            <a:avLst>
              <a:gd name="adj" fmla="val 50000"/>
            </a:avLst>
          </a:prstGeom>
          <a:solidFill>
            <a:srgbClr val="E8F3EC"/>
          </a:solidFill>
          <a:ln/>
        </p:spPr>
      </p:sp>
      <p:sp>
        <p:nvSpPr>
          <p:cNvPr id="16" name="Text 14"/>
          <p:cNvSpPr/>
          <p:nvPr/>
        </p:nvSpPr>
        <p:spPr>
          <a:xfrm>
            <a:off x="548640" y="30175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Machinery</a:t>
            </a:r>
            <a:endParaRPr lang="en-US" sz="1200" dirty="0"/>
          </a:p>
        </p:txBody>
      </p:sp>
      <p:sp>
        <p:nvSpPr>
          <p:cNvPr id="17" name="Shape 15"/>
          <p:cNvSpPr/>
          <p:nvPr/>
        </p:nvSpPr>
        <p:spPr>
          <a:xfrm>
            <a:off x="2697480" y="3017520"/>
            <a:ext cx="2011680" cy="347472"/>
          </a:xfrm>
          <a:prstGeom prst="roundRect">
            <a:avLst>
              <a:gd name="adj" fmla="val 50000"/>
            </a:avLst>
          </a:prstGeom>
          <a:solidFill>
            <a:srgbClr val="E8F3EC"/>
          </a:solidFill>
          <a:ln/>
        </p:spPr>
      </p:sp>
      <p:sp>
        <p:nvSpPr>
          <p:cNvPr id="18" name="Text 16"/>
          <p:cNvSpPr/>
          <p:nvPr/>
        </p:nvSpPr>
        <p:spPr>
          <a:xfrm>
            <a:off x="2697480" y="30175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Labour</a:t>
            </a:r>
            <a:endParaRPr lang="en-US" sz="1200" dirty="0"/>
          </a:p>
        </p:txBody>
      </p:sp>
      <p:sp>
        <p:nvSpPr>
          <p:cNvPr id="19" name="Shape 17"/>
          <p:cNvSpPr/>
          <p:nvPr/>
        </p:nvSpPr>
        <p:spPr>
          <a:xfrm>
            <a:off x="548640" y="3474720"/>
            <a:ext cx="2011680" cy="347472"/>
          </a:xfrm>
          <a:prstGeom prst="roundRect">
            <a:avLst>
              <a:gd name="adj" fmla="val 50000"/>
            </a:avLst>
          </a:prstGeom>
          <a:solidFill>
            <a:srgbClr val="E8F3EC"/>
          </a:solidFill>
          <a:ln/>
        </p:spPr>
      </p:sp>
      <p:sp>
        <p:nvSpPr>
          <p:cNvPr id="20" name="Text 18"/>
          <p:cNvSpPr/>
          <p:nvPr/>
        </p:nvSpPr>
        <p:spPr>
          <a:xfrm>
            <a:off x="548640" y="34747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Experts</a:t>
            </a:r>
            <a:endParaRPr lang="en-US" sz="1200" dirty="0"/>
          </a:p>
        </p:txBody>
      </p:sp>
      <p:sp>
        <p:nvSpPr>
          <p:cNvPr id="21" name="Shape 19"/>
          <p:cNvSpPr/>
          <p:nvPr/>
        </p:nvSpPr>
        <p:spPr>
          <a:xfrm>
            <a:off x="2697480" y="3474720"/>
            <a:ext cx="2011680" cy="347472"/>
          </a:xfrm>
          <a:prstGeom prst="roundRect">
            <a:avLst>
              <a:gd name="adj" fmla="val 50000"/>
            </a:avLst>
          </a:prstGeom>
          <a:solidFill>
            <a:srgbClr val="E8F3EC"/>
          </a:solidFill>
          <a:ln/>
        </p:spPr>
      </p:sp>
      <p:sp>
        <p:nvSpPr>
          <p:cNvPr id="22" name="Text 20"/>
          <p:cNvSpPr/>
          <p:nvPr/>
        </p:nvSpPr>
        <p:spPr>
          <a:xfrm>
            <a:off x="2697480" y="3474720"/>
            <a:ext cx="2011680" cy="347472"/>
          </a:xfrm>
          <a:prstGeom prst="rect">
            <a:avLst/>
          </a:prstGeom>
          <a:noFill/>
          <a:ln/>
        </p:spPr>
        <p:txBody>
          <a:bodyPr wrap="square" lIns="0" tIns="0" rIns="0" bIns="0" rtlCol="0" anchor="ctr"/>
          <a:lstStyle/>
          <a:p>
            <a:pPr algn="ctr" indent="0" marL="0">
              <a:buNone/>
            </a:pPr>
            <a:r>
              <a:rPr lang="en-US" sz="1200" dirty="0">
                <a:solidFill>
                  <a:srgbClr val="1B5538"/>
                </a:solidFill>
                <a:latin typeface="Segoe UI" pitchFamily="34" charset="0"/>
                <a:ea typeface="Segoe UI" pitchFamily="34" charset="-122"/>
                <a:cs typeface="Segoe UI" pitchFamily="34" charset="-120"/>
              </a:rPr>
              <a:t>Market demand</a:t>
            </a:r>
            <a:endParaRPr lang="en-US" sz="1200" dirty="0"/>
          </a:p>
        </p:txBody>
      </p:sp>
      <p:sp>
        <p:nvSpPr>
          <p:cNvPr id="23" name="Text 21"/>
          <p:cNvSpPr/>
          <p:nvPr/>
        </p:nvSpPr>
        <p:spPr>
          <a:xfrm>
            <a:off x="548640" y="4069080"/>
            <a:ext cx="420624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ACROSS THE CLUSTER TODAY</a:t>
            </a:r>
            <a:endParaRPr lang="en-US" sz="1000" dirty="0"/>
          </a:p>
        </p:txBody>
      </p:sp>
      <p:sp>
        <p:nvSpPr>
          <p:cNvPr id="24" name="Text 22"/>
          <p:cNvSpPr/>
          <p:nvPr/>
        </p:nvSpPr>
        <p:spPr>
          <a:xfrm>
            <a:off x="548640" y="4389120"/>
            <a:ext cx="4297680" cy="1645920"/>
          </a:xfrm>
          <a:prstGeom prst="rect">
            <a:avLst/>
          </a:prstGeom>
          <a:noFill/>
          <a:ln/>
        </p:spPr>
        <p:txBody>
          <a:bodyPr wrap="square" lIns="0" tIns="0" rIns="0" bIns="0" rtlCol="0" anchor="t"/>
          <a:lstStyle/>
          <a:p>
            <a:pPr indent="0" marL="0">
              <a:spcAft>
                <a:spcPts val="800"/>
              </a:spcAft>
              <a:buNone/>
            </a:pPr>
            <a:r>
              <a:rPr lang="en-US" sz="1400" dirty="0">
                <a:solidFill>
                  <a:srgbClr val="17201B"/>
                </a:solidFill>
                <a:latin typeface="Segoe UI Semibold" pitchFamily="34" charset="0"/>
                <a:ea typeface="Segoe UI Semibold" pitchFamily="34" charset="-122"/>
                <a:cs typeface="Segoe UI Semibold" pitchFamily="34" charset="-120"/>
              </a:rPr>
              <a:t>24 farms</a:t>
            </a:r>
            <a:pPr indent="0" marL="0">
              <a:spcAft>
                <a:spcPts val="800"/>
              </a:spcAft>
              <a:buNone/>
            </a:pPr>
            <a:r>
              <a:rPr lang="en-US" sz="1400" dirty="0">
                <a:solidFill>
                  <a:srgbClr val="17201B"/>
                </a:solidFill>
                <a:latin typeface="Segoe UI" pitchFamily="34" charset="0"/>
                <a:ea typeface="Segoe UI" pitchFamily="34" charset="-122"/>
                <a:cs typeface="Segoe UI" pitchFamily="34" charset="-120"/>
              </a:rPr>
              <a:t> plan to irrigate before tonight's rain</a:t>
            </a:r>
            <a:endParaRPr lang="en-US" sz="1400" dirty="0"/>
          </a:p>
          <a:p>
            <a:pPr indent="0" marL="0">
              <a:spcAft>
                <a:spcPts val="800"/>
              </a:spcAft>
              <a:buNone/>
            </a:pPr>
            <a:r>
              <a:rPr lang="en-US" sz="1400" dirty="0">
                <a:solidFill>
                  <a:srgbClr val="17201B"/>
                </a:solidFill>
                <a:latin typeface="Segoe UI Semibold" pitchFamily="34" charset="0"/>
                <a:ea typeface="Segoe UI Semibold" pitchFamily="34" charset="-122"/>
                <a:cs typeface="Segoe UI Semibold" pitchFamily="34" charset="-120"/>
              </a:rPr>
              <a:t>6 tomato farms</a:t>
            </a:r>
            <a:pPr indent="0" marL="0">
              <a:spcAft>
                <a:spcPts val="800"/>
              </a:spcAft>
              <a:buNone/>
            </a:pPr>
            <a:r>
              <a:rPr lang="en-US" sz="1400" dirty="0">
                <a:solidFill>
                  <a:srgbClr val="17201B"/>
                </a:solidFill>
                <a:latin typeface="Segoe UI" pitchFamily="34" charset="0"/>
                <a:ea typeface="Segoe UI" pitchFamily="34" charset="-122"/>
                <a:cs typeface="Segoe UI" pitchFamily="34" charset="-120"/>
              </a:rPr>
              <a:t> show possible crop stress</a:t>
            </a:r>
            <a:endParaRPr lang="en-US" sz="1400" dirty="0"/>
          </a:p>
          <a:p>
            <a:pPr indent="0" marL="0">
              <a:spcAft>
                <a:spcPts val="800"/>
              </a:spcAft>
              <a:buNone/>
            </a:pPr>
            <a:r>
              <a:rPr lang="en-US" sz="1400" dirty="0">
                <a:solidFill>
                  <a:srgbClr val="17201B"/>
                </a:solidFill>
                <a:latin typeface="Segoe UI Semibold" pitchFamily="34" charset="0"/>
                <a:ea typeface="Segoe UI Semibold" pitchFamily="34" charset="-122"/>
                <a:cs typeface="Segoe UI Semibold" pitchFamily="34" charset="-120"/>
              </a:rPr>
              <a:t>14 tractor requests</a:t>
            </a:r>
            <a:pPr indent="0" marL="0">
              <a:spcAft>
                <a:spcPts val="800"/>
              </a:spcAft>
              <a:buNone/>
            </a:pPr>
            <a:r>
              <a:rPr lang="en-US" sz="1400" dirty="0">
                <a:solidFill>
                  <a:srgbClr val="17201B"/>
                </a:solidFill>
                <a:latin typeface="Segoe UI" pitchFamily="34" charset="0"/>
                <a:ea typeface="Segoe UI" pitchFamily="34" charset="-122"/>
                <a:cs typeface="Segoe UI" pitchFamily="34" charset="-120"/>
              </a:rPr>
              <a:t> for 9 tractors tomorrow</a:t>
            </a:r>
            <a:endParaRPr lang="en-US" sz="1400" dirty="0"/>
          </a:p>
          <a:p>
            <a:pPr indent="0" marL="0">
              <a:spcAft>
                <a:spcPts val="800"/>
              </a:spcAft>
              <a:buNone/>
            </a:pPr>
            <a:r>
              <a:rPr lang="en-US" sz="1400" dirty="0">
                <a:solidFill>
                  <a:srgbClr val="17201B"/>
                </a:solidFill>
                <a:latin typeface="Segoe UI Semibold" pitchFamily="34" charset="0"/>
                <a:ea typeface="Segoe UI Semibold" pitchFamily="34" charset="-122"/>
                <a:cs typeface="Segoe UI Semibold" pitchFamily="34" charset="-120"/>
              </a:rPr>
              <a:t>42 t of tomato</a:t>
            </a:r>
            <a:pPr indent="0" marL="0">
              <a:spcAft>
                <a:spcPts val="800"/>
              </a:spcAft>
              <a:buNone/>
            </a:pPr>
            <a:r>
              <a:rPr lang="en-US" sz="1400" dirty="0">
                <a:solidFill>
                  <a:srgbClr val="17201B"/>
                </a:solidFill>
                <a:latin typeface="Segoe UI" pitchFamily="34" charset="0"/>
                <a:ea typeface="Segoe UI" pitchFamily="34" charset="-122"/>
                <a:cs typeface="Segoe UI" pitchFamily="34" charset="-120"/>
              </a:rPr>
              <a:t> expected against 35 t of buyer demand</a:t>
            </a:r>
            <a:endParaRPr lang="en-US" sz="1400" dirty="0"/>
          </a:p>
        </p:txBody>
      </p:sp>
      <p:sp>
        <p:nvSpPr>
          <p:cNvPr id="25" name="Shape 23"/>
          <p:cNvSpPr/>
          <p:nvPr/>
        </p:nvSpPr>
        <p:spPr>
          <a:xfrm>
            <a:off x="5120640" y="1737360"/>
            <a:ext cx="6537960" cy="3268980"/>
          </a:xfrm>
          <a:prstGeom prst="roundRect">
            <a:avLst>
              <a:gd name="adj" fmla="val 2238"/>
            </a:avLst>
          </a:prstGeom>
          <a:solidFill>
            <a:srgbClr val="FFFFFF"/>
          </a:solidFill>
          <a:ln w="9525">
            <a:solidFill>
              <a:srgbClr val="E3E5DF"/>
            </a:solidFill>
            <a:prstDash val="solid"/>
          </a:ln>
          <a:effectLst>
            <a:outerShdw sx="100000" sy="100000" kx="0" ky="0" algn="bl" rotWithShape="0" blurRad="152400" dist="38100" dir="5400000">
              <a:srgbClr val="17201B">
                <a:alpha val="12000"/>
              </a:srgbClr>
            </a:outerShdw>
          </a:effectLst>
        </p:spPr>
      </p:sp>
      <p:pic>
        <p:nvPicPr>
          <p:cNvPr id="26" name="Image 0" descr="assets/crop-reasoning.png">    </p:cNvPr>
          <p:cNvPicPr>
            <a:picLocks noChangeAspect="1"/>
          </p:cNvPicPr>
          <p:nvPr/>
        </p:nvPicPr>
        <p:blipFill>
          <a:blip r:embed="rId1"/>
          <a:stretch>
            <a:fillRect/>
          </a:stretch>
        </p:blipFill>
        <p:spPr>
          <a:xfrm>
            <a:off x="5175504" y="1792224"/>
            <a:ext cx="6428232" cy="3159252"/>
          </a:xfrm>
          <a:prstGeom prst="rect">
            <a:avLst/>
          </a:prstGeom>
        </p:spPr>
      </p:pic>
      <p:sp>
        <p:nvSpPr>
          <p:cNvPr id="27" name="Text 24"/>
          <p:cNvSpPr/>
          <p:nvPr/>
        </p:nvSpPr>
        <p:spPr>
          <a:xfrm>
            <a:off x="5120640" y="5120640"/>
            <a:ext cx="6537960" cy="274320"/>
          </a:xfrm>
          <a:prstGeom prst="rect">
            <a:avLst/>
          </a:prstGeom>
          <a:noFill/>
          <a:ln/>
        </p:spPr>
        <p:txBody>
          <a:bodyPr wrap="square" lIns="0" tIns="0" rIns="0" bIns="0" rtlCol="0" anchor="ctr"/>
          <a:lstStyle/>
          <a:p>
            <a:pPr indent="0" marL="0">
              <a:buNone/>
            </a:pPr>
            <a:r>
              <a:rPr lang="en-US" sz="1100" i="1" dirty="0">
                <a:solidFill>
                  <a:srgbClr val="636C65"/>
                </a:solidFill>
                <a:latin typeface="Segoe UI" pitchFamily="34" charset="0"/>
                <a:ea typeface="Segoe UI" pitchFamily="34" charset="-122"/>
                <a:cs typeface="Segoe UI" pitchFamily="34" charset="-120"/>
              </a:rPr>
              <a:t>Every suggestion shows what is happening, why it matters, and the data behind it, with each value's source labelled.</a:t>
            </a:r>
            <a:endParaRPr lang="en-US" sz="1100" dirty="0"/>
          </a:p>
        </p:txBody>
      </p:sp>
      <p:sp>
        <p:nvSpPr>
          <p:cNvPr id="28" name="Text 25"/>
          <p:cNvSpPr/>
          <p:nvPr/>
        </p:nvSpPr>
        <p:spPr>
          <a:xfrm>
            <a:off x="5120640" y="5440680"/>
            <a:ext cx="2743200" cy="274320"/>
          </a:xfrm>
          <a:prstGeom prst="rect">
            <a:avLst/>
          </a:prstGeom>
          <a:noFill/>
          <a:ln/>
        </p:spPr>
        <p:txBody>
          <a:bodyPr wrap="square" lIns="0" tIns="0" rIns="0" bIns="0" rtlCol="0" anchor="ctr"/>
          <a:lstStyle/>
          <a:p>
            <a:pPr indent="0" marL="0">
              <a:buNone/>
            </a:pPr>
            <a:r>
              <a:rPr lang="en-US" sz="1100" dirty="0">
                <a:solidFill>
                  <a:srgbClr val="636C65"/>
                </a:solidFill>
                <a:latin typeface="Segoe UI" pitchFamily="34" charset="0"/>
                <a:ea typeface="Segoe UI" pitchFamily="34" charset="-122"/>
                <a:cs typeface="Segoe UI" pitchFamily="34" charset="-120"/>
              </a:rPr>
              <a:t>Demonstration data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07   PRODUCT</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Six roles, one connected cluster</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7 / 12</a:t>
            </a:r>
            <a:endParaRPr lang="en-US" sz="1000" dirty="0"/>
          </a:p>
        </p:txBody>
      </p:sp>
      <p:sp>
        <p:nvSpPr>
          <p:cNvPr id="6" name="Text 4"/>
          <p:cNvSpPr/>
          <p:nvPr/>
        </p:nvSpPr>
        <p:spPr>
          <a:xfrm>
            <a:off x="548640" y="1737360"/>
            <a:ext cx="4389120" cy="274320"/>
          </a:xfrm>
          <a:prstGeom prst="rect">
            <a:avLst/>
          </a:prstGeom>
          <a:noFill/>
          <a:ln/>
        </p:spPr>
        <p:txBody>
          <a:bodyPr wrap="square" lIns="0" tIns="0" rIns="0" bIns="0" rtlCol="0" anchor="ctr"/>
          <a:lstStyle/>
          <a:p>
            <a:pPr indent="0" marL="0">
              <a:buNone/>
            </a:pPr>
            <a:r>
              <a:rPr lang="en-US" sz="1500" dirty="0">
                <a:solidFill>
                  <a:srgbClr val="1B5538"/>
                </a:solidFill>
                <a:latin typeface="Segoe UI Semibold" pitchFamily="34" charset="0"/>
                <a:ea typeface="Segoe UI Semibold" pitchFamily="34" charset="-122"/>
                <a:cs typeface="Segoe UI Semibold" pitchFamily="34" charset="-120"/>
              </a:rPr>
              <a:t>Farmer</a:t>
            </a:r>
            <a:endParaRPr lang="en-US" sz="1500" dirty="0"/>
          </a:p>
        </p:txBody>
      </p:sp>
      <p:sp>
        <p:nvSpPr>
          <p:cNvPr id="7" name="Text 5"/>
          <p:cNvSpPr/>
          <p:nvPr/>
        </p:nvSpPr>
        <p:spPr>
          <a:xfrm>
            <a:off x="548640" y="2011680"/>
            <a:ext cx="4389120" cy="411480"/>
          </a:xfrm>
          <a:prstGeom prst="rect">
            <a:avLst/>
          </a:prstGeom>
          <a:noFill/>
          <a:ln/>
        </p:spPr>
        <p:txBody>
          <a:bodyPr wrap="square" lIns="0" tIns="0" rIns="0" bIns="0" rtlCol="0" anchor="t"/>
          <a:lstStyle/>
          <a:p>
            <a:pPr indent="0" marL="0">
              <a:buNone/>
            </a:pPr>
            <a:r>
              <a:rPr lang="en-US" sz="1250" dirty="0">
                <a:solidFill>
                  <a:srgbClr val="17201B"/>
                </a:solidFill>
                <a:latin typeface="Segoe UI" pitchFamily="34" charset="0"/>
                <a:ea typeface="Segoe UI" pitchFamily="34" charset="-122"/>
                <a:cs typeface="Segoe UI" pitchFamily="34" charset="-120"/>
              </a:rPr>
              <a:t>Decisions with reasons; requests resources; lists harvests.</a:t>
            </a:r>
            <a:endParaRPr lang="en-US" sz="1250" dirty="0"/>
          </a:p>
        </p:txBody>
      </p:sp>
      <p:sp>
        <p:nvSpPr>
          <p:cNvPr id="8" name="Text 6"/>
          <p:cNvSpPr/>
          <p:nvPr/>
        </p:nvSpPr>
        <p:spPr>
          <a:xfrm>
            <a:off x="548640" y="2468880"/>
            <a:ext cx="4389120" cy="274320"/>
          </a:xfrm>
          <a:prstGeom prst="rect">
            <a:avLst/>
          </a:prstGeom>
          <a:noFill/>
          <a:ln/>
        </p:spPr>
        <p:txBody>
          <a:bodyPr wrap="square" lIns="0" tIns="0" rIns="0" bIns="0" rtlCol="0" anchor="ctr"/>
          <a:lstStyle/>
          <a:p>
            <a:pPr indent="0" marL="0">
              <a:buNone/>
            </a:pPr>
            <a:r>
              <a:rPr lang="en-US" sz="1500" dirty="0">
                <a:solidFill>
                  <a:srgbClr val="1B5538"/>
                </a:solidFill>
                <a:latin typeface="Segoe UI Semibold" pitchFamily="34" charset="0"/>
                <a:ea typeface="Segoe UI Semibold" pitchFamily="34" charset="-122"/>
                <a:cs typeface="Segoe UI Semibold" pitchFamily="34" charset="-120"/>
              </a:rPr>
              <a:t>Cluster manager</a:t>
            </a:r>
            <a:endParaRPr lang="en-US" sz="1500" dirty="0"/>
          </a:p>
        </p:txBody>
      </p:sp>
      <p:sp>
        <p:nvSpPr>
          <p:cNvPr id="9" name="Text 7"/>
          <p:cNvSpPr/>
          <p:nvPr/>
        </p:nvSpPr>
        <p:spPr>
          <a:xfrm>
            <a:off x="548640" y="2743200"/>
            <a:ext cx="4389120" cy="411480"/>
          </a:xfrm>
          <a:prstGeom prst="rect">
            <a:avLst/>
          </a:prstGeom>
          <a:noFill/>
          <a:ln/>
        </p:spPr>
        <p:txBody>
          <a:bodyPr wrap="square" lIns="0" tIns="0" rIns="0" bIns="0" rtlCol="0" anchor="t"/>
          <a:lstStyle/>
          <a:p>
            <a:pPr indent="0" marL="0">
              <a:buNone/>
            </a:pPr>
            <a:r>
              <a:rPr lang="en-US" sz="1250" dirty="0">
                <a:solidFill>
                  <a:srgbClr val="17201B"/>
                </a:solidFill>
                <a:latin typeface="Segoe UI" pitchFamily="34" charset="0"/>
                <a:ea typeface="Segoe UI" pitchFamily="34" charset="-122"/>
                <a:cs typeface="Segoe UI" pitchFamily="34" charset="-120"/>
              </a:rPr>
              <a:t>Sees all 128 farms; coordinates water, resources, buyers.</a:t>
            </a:r>
            <a:endParaRPr lang="en-US" sz="1250" dirty="0"/>
          </a:p>
        </p:txBody>
      </p:sp>
      <p:sp>
        <p:nvSpPr>
          <p:cNvPr id="10" name="Text 8"/>
          <p:cNvSpPr/>
          <p:nvPr/>
        </p:nvSpPr>
        <p:spPr>
          <a:xfrm>
            <a:off x="548640" y="3200400"/>
            <a:ext cx="4389120" cy="274320"/>
          </a:xfrm>
          <a:prstGeom prst="rect">
            <a:avLst/>
          </a:prstGeom>
          <a:noFill/>
          <a:ln/>
        </p:spPr>
        <p:txBody>
          <a:bodyPr wrap="square" lIns="0" tIns="0" rIns="0" bIns="0" rtlCol="0" anchor="ctr"/>
          <a:lstStyle/>
          <a:p>
            <a:pPr indent="0" marL="0">
              <a:buNone/>
            </a:pPr>
            <a:r>
              <a:rPr lang="en-US" sz="1500" dirty="0">
                <a:solidFill>
                  <a:srgbClr val="1B5538"/>
                </a:solidFill>
                <a:latin typeface="Segoe UI Semibold" pitchFamily="34" charset="0"/>
                <a:ea typeface="Segoe UI Semibold" pitchFamily="34" charset="-122"/>
                <a:cs typeface="Segoe UI Semibold" pitchFamily="34" charset="-120"/>
              </a:rPr>
              <a:t>Buyer</a:t>
            </a:r>
            <a:endParaRPr lang="en-US" sz="1500" dirty="0"/>
          </a:p>
        </p:txBody>
      </p:sp>
      <p:sp>
        <p:nvSpPr>
          <p:cNvPr id="11" name="Text 9"/>
          <p:cNvSpPr/>
          <p:nvPr/>
        </p:nvSpPr>
        <p:spPr>
          <a:xfrm>
            <a:off x="548640" y="3474720"/>
            <a:ext cx="4389120" cy="411480"/>
          </a:xfrm>
          <a:prstGeom prst="rect">
            <a:avLst/>
          </a:prstGeom>
          <a:noFill/>
          <a:ln/>
        </p:spPr>
        <p:txBody>
          <a:bodyPr wrap="square" lIns="0" tIns="0" rIns="0" bIns="0" rtlCol="0" anchor="t"/>
          <a:lstStyle/>
          <a:p>
            <a:pPr indent="0" marL="0">
              <a:buNone/>
            </a:pPr>
            <a:r>
              <a:rPr lang="en-US" sz="1250" dirty="0">
                <a:solidFill>
                  <a:srgbClr val="17201B"/>
                </a:solidFill>
                <a:latin typeface="Segoe UI" pitchFamily="34" charset="0"/>
                <a:ea typeface="Segoe UI" pitchFamily="34" charset="-122"/>
                <a:cs typeface="Segoe UI" pitchFamily="34" charset="-120"/>
              </a:rPr>
              <a:t>Posts requirements, sees pooled supply, accepts offers.</a:t>
            </a:r>
            <a:endParaRPr lang="en-US" sz="1250" dirty="0"/>
          </a:p>
        </p:txBody>
      </p:sp>
      <p:sp>
        <p:nvSpPr>
          <p:cNvPr id="12" name="Text 10"/>
          <p:cNvSpPr/>
          <p:nvPr/>
        </p:nvSpPr>
        <p:spPr>
          <a:xfrm>
            <a:off x="548640" y="3931920"/>
            <a:ext cx="4389120" cy="274320"/>
          </a:xfrm>
          <a:prstGeom prst="rect">
            <a:avLst/>
          </a:prstGeom>
          <a:noFill/>
          <a:ln/>
        </p:spPr>
        <p:txBody>
          <a:bodyPr wrap="square" lIns="0" tIns="0" rIns="0" bIns="0" rtlCol="0" anchor="ctr"/>
          <a:lstStyle/>
          <a:p>
            <a:pPr indent="0" marL="0">
              <a:buNone/>
            </a:pPr>
            <a:r>
              <a:rPr lang="en-US" sz="1500" dirty="0">
                <a:solidFill>
                  <a:srgbClr val="1B5538"/>
                </a:solidFill>
                <a:latin typeface="Segoe UI Semibold" pitchFamily="34" charset="0"/>
                <a:ea typeface="Segoe UI Semibold" pitchFamily="34" charset="-122"/>
                <a:cs typeface="Segoe UI Semibold" pitchFamily="34" charset="-120"/>
              </a:rPr>
              <a:t>Machinery owner</a:t>
            </a:r>
            <a:endParaRPr lang="en-US" sz="1500" dirty="0"/>
          </a:p>
        </p:txBody>
      </p:sp>
      <p:sp>
        <p:nvSpPr>
          <p:cNvPr id="13" name="Text 11"/>
          <p:cNvSpPr/>
          <p:nvPr/>
        </p:nvSpPr>
        <p:spPr>
          <a:xfrm>
            <a:off x="548640" y="4206240"/>
            <a:ext cx="4389120" cy="411480"/>
          </a:xfrm>
          <a:prstGeom prst="rect">
            <a:avLst/>
          </a:prstGeom>
          <a:noFill/>
          <a:ln/>
        </p:spPr>
        <p:txBody>
          <a:bodyPr wrap="square" lIns="0" tIns="0" rIns="0" bIns="0" rtlCol="0" anchor="t"/>
          <a:lstStyle/>
          <a:p>
            <a:pPr indent="0" marL="0">
              <a:buNone/>
            </a:pPr>
            <a:r>
              <a:rPr lang="en-US" sz="1250" dirty="0">
                <a:solidFill>
                  <a:srgbClr val="17201B"/>
                </a:solidFill>
                <a:latin typeface="Segoe UI" pitchFamily="34" charset="0"/>
                <a:ea typeface="Segoe UI" pitchFamily="34" charset="-122"/>
                <a:cs typeface="Segoe UI" pitchFamily="34" charset="-120"/>
              </a:rPr>
              <a:t>Lists equipment and availability, accepts bookings.</a:t>
            </a:r>
            <a:endParaRPr lang="en-US" sz="1250" dirty="0"/>
          </a:p>
        </p:txBody>
      </p:sp>
      <p:sp>
        <p:nvSpPr>
          <p:cNvPr id="14" name="Text 12"/>
          <p:cNvSpPr/>
          <p:nvPr/>
        </p:nvSpPr>
        <p:spPr>
          <a:xfrm>
            <a:off x="548640" y="4663440"/>
            <a:ext cx="4389120" cy="274320"/>
          </a:xfrm>
          <a:prstGeom prst="rect">
            <a:avLst/>
          </a:prstGeom>
          <a:noFill/>
          <a:ln/>
        </p:spPr>
        <p:txBody>
          <a:bodyPr wrap="square" lIns="0" tIns="0" rIns="0" bIns="0" rtlCol="0" anchor="ctr"/>
          <a:lstStyle/>
          <a:p>
            <a:pPr indent="0" marL="0">
              <a:buNone/>
            </a:pPr>
            <a:r>
              <a:rPr lang="en-US" sz="1500" dirty="0">
                <a:solidFill>
                  <a:srgbClr val="1B5538"/>
                </a:solidFill>
                <a:latin typeface="Segoe UI Semibold" pitchFamily="34" charset="0"/>
                <a:ea typeface="Segoe UI Semibold" pitchFamily="34" charset="-122"/>
                <a:cs typeface="Segoe UI Semibold" pitchFamily="34" charset="-120"/>
              </a:rPr>
              <a:t>Labour</a:t>
            </a:r>
            <a:endParaRPr lang="en-US" sz="1500" dirty="0"/>
          </a:p>
        </p:txBody>
      </p:sp>
      <p:sp>
        <p:nvSpPr>
          <p:cNvPr id="15" name="Text 13"/>
          <p:cNvSpPr/>
          <p:nvPr/>
        </p:nvSpPr>
        <p:spPr>
          <a:xfrm>
            <a:off x="548640" y="4937760"/>
            <a:ext cx="4389120" cy="411480"/>
          </a:xfrm>
          <a:prstGeom prst="rect">
            <a:avLst/>
          </a:prstGeom>
          <a:noFill/>
          <a:ln/>
        </p:spPr>
        <p:txBody>
          <a:bodyPr wrap="square" lIns="0" tIns="0" rIns="0" bIns="0" rtlCol="0" anchor="t"/>
          <a:lstStyle/>
          <a:p>
            <a:pPr indent="0" marL="0">
              <a:buNone/>
            </a:pPr>
            <a:r>
              <a:rPr lang="en-US" sz="1250" dirty="0">
                <a:solidFill>
                  <a:srgbClr val="17201B"/>
                </a:solidFill>
                <a:latin typeface="Segoe UI" pitchFamily="34" charset="0"/>
                <a:ea typeface="Segoe UI" pitchFamily="34" charset="-122"/>
                <a:cs typeface="Segoe UI" pitchFamily="34" charset="-120"/>
              </a:rPr>
              <a:t>Lists skills and availability, accepts and tracks work.</a:t>
            </a:r>
            <a:endParaRPr lang="en-US" sz="1250" dirty="0"/>
          </a:p>
        </p:txBody>
      </p:sp>
      <p:sp>
        <p:nvSpPr>
          <p:cNvPr id="16" name="Text 14"/>
          <p:cNvSpPr/>
          <p:nvPr/>
        </p:nvSpPr>
        <p:spPr>
          <a:xfrm>
            <a:off x="548640" y="5394960"/>
            <a:ext cx="4389120" cy="274320"/>
          </a:xfrm>
          <a:prstGeom prst="rect">
            <a:avLst/>
          </a:prstGeom>
          <a:noFill/>
          <a:ln/>
        </p:spPr>
        <p:txBody>
          <a:bodyPr wrap="square" lIns="0" tIns="0" rIns="0" bIns="0" rtlCol="0" anchor="ctr"/>
          <a:lstStyle/>
          <a:p>
            <a:pPr indent="0" marL="0">
              <a:buNone/>
            </a:pPr>
            <a:r>
              <a:rPr lang="en-US" sz="1500" dirty="0">
                <a:solidFill>
                  <a:srgbClr val="1B5538"/>
                </a:solidFill>
                <a:latin typeface="Segoe UI Semibold" pitchFamily="34" charset="0"/>
                <a:ea typeface="Segoe UI Semibold" pitchFamily="34" charset="-122"/>
                <a:cs typeface="Segoe UI Semibold" pitchFamily="34" charset="-120"/>
              </a:rPr>
              <a:t>Expert</a:t>
            </a:r>
            <a:endParaRPr lang="en-US" sz="1500" dirty="0"/>
          </a:p>
        </p:txBody>
      </p:sp>
      <p:sp>
        <p:nvSpPr>
          <p:cNvPr id="17" name="Text 15"/>
          <p:cNvSpPr/>
          <p:nvPr/>
        </p:nvSpPr>
        <p:spPr>
          <a:xfrm>
            <a:off x="548640" y="5669280"/>
            <a:ext cx="4389120" cy="411480"/>
          </a:xfrm>
          <a:prstGeom prst="rect">
            <a:avLst/>
          </a:prstGeom>
          <a:noFill/>
          <a:ln/>
        </p:spPr>
        <p:txBody>
          <a:bodyPr wrap="square" lIns="0" tIns="0" rIns="0" bIns="0" rtlCol="0" anchor="t"/>
          <a:lstStyle/>
          <a:p>
            <a:pPr indent="0" marL="0">
              <a:buNone/>
            </a:pPr>
            <a:r>
              <a:rPr lang="en-US" sz="1250" dirty="0">
                <a:solidFill>
                  <a:srgbClr val="17201B"/>
                </a:solidFill>
                <a:latin typeface="Segoe UI" pitchFamily="34" charset="0"/>
                <a:ea typeface="Segoe UI" pitchFamily="34" charset="-122"/>
                <a:cs typeface="Segoe UI" pitchFamily="34" charset="-120"/>
              </a:rPr>
              <a:t>Answers questions with farm data in view; schedules visits.</a:t>
            </a:r>
            <a:endParaRPr lang="en-US" sz="1250" dirty="0"/>
          </a:p>
        </p:txBody>
      </p:sp>
      <p:sp>
        <p:nvSpPr>
          <p:cNvPr id="18" name="Shape 16"/>
          <p:cNvSpPr/>
          <p:nvPr/>
        </p:nvSpPr>
        <p:spPr>
          <a:xfrm>
            <a:off x="5257800" y="1737360"/>
            <a:ext cx="6400800" cy="3600450"/>
          </a:xfrm>
          <a:prstGeom prst="roundRect">
            <a:avLst>
              <a:gd name="adj" fmla="val 2032"/>
            </a:avLst>
          </a:prstGeom>
          <a:solidFill>
            <a:srgbClr val="FFFFFF"/>
          </a:solidFill>
          <a:ln w="9525">
            <a:solidFill>
              <a:srgbClr val="E3E5DF"/>
            </a:solidFill>
            <a:prstDash val="solid"/>
          </a:ln>
          <a:effectLst>
            <a:outerShdw sx="100000" sy="100000" kx="0" ky="0" algn="bl" rotWithShape="0" blurRad="152400" dist="38100" dir="5400000">
              <a:srgbClr val="17201B">
                <a:alpha val="12000"/>
              </a:srgbClr>
            </a:outerShdw>
          </a:effectLst>
        </p:spPr>
      </p:sp>
      <p:pic>
        <p:nvPicPr>
          <p:cNvPr id="19" name="Image 0" descr="assets/cluster-overview.png">    </p:cNvPr>
          <p:cNvPicPr>
            <a:picLocks noChangeAspect="1"/>
          </p:cNvPicPr>
          <p:nvPr/>
        </p:nvPicPr>
        <p:blipFill>
          <a:blip r:embed="rId1"/>
          <a:stretch>
            <a:fillRect/>
          </a:stretch>
        </p:blipFill>
        <p:spPr>
          <a:xfrm>
            <a:off x="5312664" y="1792224"/>
            <a:ext cx="6291072" cy="3490722"/>
          </a:xfrm>
          <a:prstGeom prst="rect">
            <a:avLst/>
          </a:prstGeom>
        </p:spPr>
      </p:pic>
      <p:sp>
        <p:nvSpPr>
          <p:cNvPr id="20" name="Text 17"/>
          <p:cNvSpPr/>
          <p:nvPr/>
        </p:nvSpPr>
        <p:spPr>
          <a:xfrm>
            <a:off x="5257800" y="5440680"/>
            <a:ext cx="6400800" cy="274320"/>
          </a:xfrm>
          <a:prstGeom prst="rect">
            <a:avLst/>
          </a:prstGeom>
          <a:noFill/>
          <a:ln/>
        </p:spPr>
        <p:txBody>
          <a:bodyPr wrap="square" lIns="0" tIns="0" rIns="0" bIns="0" rtlCol="0" anchor="ctr"/>
          <a:lstStyle/>
          <a:p>
            <a:pPr indent="0" marL="0">
              <a:buNone/>
            </a:pPr>
            <a:r>
              <a:rPr lang="en-US" sz="1100" i="1" dirty="0">
                <a:solidFill>
                  <a:srgbClr val="636C65"/>
                </a:solidFill>
                <a:latin typeface="Segoe UI" pitchFamily="34" charset="0"/>
                <a:ea typeface="Segoe UI" pitchFamily="34" charset="-122"/>
                <a:cs typeface="Segoe UI" pitchFamily="34" charset="-120"/>
              </a:rPr>
              <a:t>Cluster overview in the working prototype. A farmer's decision updates what every other role sees.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08   IMPACT</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Impact we will measure against a baseline</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8 / 12</a:t>
            </a:r>
            <a:endParaRPr lang="en-US" sz="1000" dirty="0"/>
          </a:p>
        </p:txBody>
      </p:sp>
      <p:sp>
        <p:nvSpPr>
          <p:cNvPr id="6" name="Shape 4"/>
          <p:cNvSpPr/>
          <p:nvPr/>
        </p:nvSpPr>
        <p:spPr>
          <a:xfrm>
            <a:off x="548640" y="1737360"/>
            <a:ext cx="2606040" cy="1691640"/>
          </a:xfrm>
          <a:prstGeom prst="roundRect">
            <a:avLst>
              <a:gd name="adj" fmla="val 4324"/>
            </a:avLst>
          </a:prstGeom>
          <a:solidFill>
            <a:srgbClr val="FFFFFF"/>
          </a:solidFill>
          <a:ln w="9525">
            <a:solidFill>
              <a:srgbClr val="E3E5DF"/>
            </a:solidFill>
            <a:prstDash val="solid"/>
          </a:ln>
        </p:spPr>
      </p:sp>
      <p:sp>
        <p:nvSpPr>
          <p:cNvPr id="7" name="Text 5"/>
          <p:cNvSpPr/>
          <p:nvPr/>
        </p:nvSpPr>
        <p:spPr>
          <a:xfrm>
            <a:off x="777240" y="1920240"/>
            <a:ext cx="2194560" cy="685800"/>
          </a:xfrm>
          <a:prstGeom prst="rect">
            <a:avLst/>
          </a:prstGeom>
          <a:noFill/>
          <a:ln/>
        </p:spPr>
        <p:txBody>
          <a:bodyPr wrap="square" lIns="0" tIns="0" rIns="0" bIns="0" rtlCol="0" anchor="ctr"/>
          <a:lstStyle/>
          <a:p>
            <a:pPr indent="0" marL="0">
              <a:buNone/>
            </a:pPr>
            <a:r>
              <a:rPr lang="en-US" sz="3600" dirty="0">
                <a:solidFill>
                  <a:srgbClr val="1B5538"/>
                </a:solidFill>
                <a:latin typeface="Segoe UI Semibold" pitchFamily="34" charset="0"/>
                <a:ea typeface="Segoe UI Semibold" pitchFamily="34" charset="-122"/>
                <a:cs typeface="Segoe UI Semibold" pitchFamily="34" charset="-120"/>
              </a:rPr>
              <a:t>15–20%</a:t>
            </a:r>
            <a:endParaRPr lang="en-US" sz="3600" dirty="0"/>
          </a:p>
        </p:txBody>
      </p:sp>
      <p:sp>
        <p:nvSpPr>
          <p:cNvPr id="8" name="Text 6"/>
          <p:cNvSpPr/>
          <p:nvPr/>
        </p:nvSpPr>
        <p:spPr>
          <a:xfrm>
            <a:off x="777240" y="2651760"/>
            <a:ext cx="2194560" cy="320040"/>
          </a:xfrm>
          <a:prstGeom prst="rect">
            <a:avLst/>
          </a:prstGeom>
          <a:noFill/>
          <a:ln/>
        </p:spPr>
        <p:txBody>
          <a:bodyPr wrap="square" lIns="0" tIns="0" rIns="0" bIns="0" rtlCol="0" anchor="ctr"/>
          <a:lstStyle/>
          <a:p>
            <a:pPr indent="0" marL="0">
              <a:buNone/>
            </a:pPr>
            <a:r>
              <a:rPr lang="en-US" sz="1400" dirty="0">
                <a:solidFill>
                  <a:srgbClr val="17201B"/>
                </a:solidFill>
                <a:latin typeface="Segoe UI" pitchFamily="34" charset="0"/>
                <a:ea typeface="Segoe UI" pitchFamily="34" charset="-122"/>
                <a:cs typeface="Segoe UI" pitchFamily="34" charset="-120"/>
              </a:rPr>
              <a:t>less avoidable water use</a:t>
            </a:r>
            <a:endParaRPr lang="en-US" sz="1400" dirty="0"/>
          </a:p>
        </p:txBody>
      </p:sp>
      <p:sp>
        <p:nvSpPr>
          <p:cNvPr id="9" name="Text 7"/>
          <p:cNvSpPr/>
          <p:nvPr/>
        </p:nvSpPr>
        <p:spPr>
          <a:xfrm>
            <a:off x="777240" y="3017520"/>
            <a:ext cx="2194560" cy="274320"/>
          </a:xfrm>
          <a:prstGeom prst="rect">
            <a:avLst/>
          </a:prstGeom>
          <a:noFill/>
          <a:ln/>
        </p:spPr>
        <p:txBody>
          <a:bodyPr wrap="square" lIns="0" tIns="0" rIns="0" bIns="0" rtlCol="0" anchor="ctr"/>
          <a:lstStyle/>
          <a:p>
            <a:pPr indent="0" marL="0">
              <a:buNone/>
            </a:pPr>
            <a:r>
              <a:rPr lang="en-US" sz="1100" dirty="0">
                <a:solidFill>
                  <a:srgbClr val="636C65"/>
                </a:solidFill>
                <a:latin typeface="Segoe UI" pitchFamily="34" charset="0"/>
                <a:ea typeface="Segoe UI" pitchFamily="34" charset="-122"/>
                <a:cs typeface="Segoe UI" pitchFamily="34" charset="-120"/>
              </a:rPr>
              <a:t>Pilot target</a:t>
            </a:r>
            <a:endParaRPr lang="en-US" sz="1100" dirty="0"/>
          </a:p>
        </p:txBody>
      </p:sp>
      <p:sp>
        <p:nvSpPr>
          <p:cNvPr id="10" name="Shape 8"/>
          <p:cNvSpPr/>
          <p:nvPr/>
        </p:nvSpPr>
        <p:spPr>
          <a:xfrm>
            <a:off x="3383280" y="1737360"/>
            <a:ext cx="2606040" cy="1691640"/>
          </a:xfrm>
          <a:prstGeom prst="roundRect">
            <a:avLst>
              <a:gd name="adj" fmla="val 4324"/>
            </a:avLst>
          </a:prstGeom>
          <a:solidFill>
            <a:srgbClr val="FFFFFF"/>
          </a:solidFill>
          <a:ln w="9525">
            <a:solidFill>
              <a:srgbClr val="E3E5DF"/>
            </a:solidFill>
            <a:prstDash val="solid"/>
          </a:ln>
        </p:spPr>
      </p:sp>
      <p:sp>
        <p:nvSpPr>
          <p:cNvPr id="11" name="Text 9"/>
          <p:cNvSpPr/>
          <p:nvPr/>
        </p:nvSpPr>
        <p:spPr>
          <a:xfrm>
            <a:off x="3611880" y="1920240"/>
            <a:ext cx="2194560" cy="685800"/>
          </a:xfrm>
          <a:prstGeom prst="rect">
            <a:avLst/>
          </a:prstGeom>
          <a:noFill/>
          <a:ln/>
        </p:spPr>
        <p:txBody>
          <a:bodyPr wrap="square" lIns="0" tIns="0" rIns="0" bIns="0" rtlCol="0" anchor="ctr"/>
          <a:lstStyle/>
          <a:p>
            <a:pPr indent="0" marL="0">
              <a:buNone/>
            </a:pPr>
            <a:r>
              <a:rPr lang="en-US" sz="3600" dirty="0">
                <a:solidFill>
                  <a:srgbClr val="1B5538"/>
                </a:solidFill>
                <a:latin typeface="Segoe UI Semibold" pitchFamily="34" charset="0"/>
                <a:ea typeface="Segoe UI Semibold" pitchFamily="34" charset="-122"/>
                <a:cs typeface="Segoe UI Semibold" pitchFamily="34" charset="-120"/>
              </a:rPr>
              <a:t>10–15%</a:t>
            </a:r>
            <a:endParaRPr lang="en-US" sz="3600" dirty="0"/>
          </a:p>
        </p:txBody>
      </p:sp>
      <p:sp>
        <p:nvSpPr>
          <p:cNvPr id="12" name="Text 10"/>
          <p:cNvSpPr/>
          <p:nvPr/>
        </p:nvSpPr>
        <p:spPr>
          <a:xfrm>
            <a:off x="3611880" y="2651760"/>
            <a:ext cx="2194560" cy="320040"/>
          </a:xfrm>
          <a:prstGeom prst="rect">
            <a:avLst/>
          </a:prstGeom>
          <a:noFill/>
          <a:ln/>
        </p:spPr>
        <p:txBody>
          <a:bodyPr wrap="square" lIns="0" tIns="0" rIns="0" bIns="0" rtlCol="0" anchor="ctr"/>
          <a:lstStyle/>
          <a:p>
            <a:pPr indent="0" marL="0">
              <a:buNone/>
            </a:pPr>
            <a:r>
              <a:rPr lang="en-US" sz="1400" dirty="0">
                <a:solidFill>
                  <a:srgbClr val="17201B"/>
                </a:solidFill>
                <a:latin typeface="Segoe UI" pitchFamily="34" charset="0"/>
                <a:ea typeface="Segoe UI" pitchFamily="34" charset="-122"/>
                <a:cs typeface="Segoe UI" pitchFamily="34" charset="-120"/>
              </a:rPr>
              <a:t>better input efficiency</a:t>
            </a:r>
            <a:endParaRPr lang="en-US" sz="1400" dirty="0"/>
          </a:p>
        </p:txBody>
      </p:sp>
      <p:sp>
        <p:nvSpPr>
          <p:cNvPr id="13" name="Text 11"/>
          <p:cNvSpPr/>
          <p:nvPr/>
        </p:nvSpPr>
        <p:spPr>
          <a:xfrm>
            <a:off x="3611880" y="3017520"/>
            <a:ext cx="2194560" cy="274320"/>
          </a:xfrm>
          <a:prstGeom prst="rect">
            <a:avLst/>
          </a:prstGeom>
          <a:noFill/>
          <a:ln/>
        </p:spPr>
        <p:txBody>
          <a:bodyPr wrap="square" lIns="0" tIns="0" rIns="0" bIns="0" rtlCol="0" anchor="ctr"/>
          <a:lstStyle/>
          <a:p>
            <a:pPr indent="0" marL="0">
              <a:buNone/>
            </a:pPr>
            <a:r>
              <a:rPr lang="en-US" sz="1100" dirty="0">
                <a:solidFill>
                  <a:srgbClr val="636C65"/>
                </a:solidFill>
                <a:latin typeface="Segoe UI" pitchFamily="34" charset="0"/>
                <a:ea typeface="Segoe UI" pitchFamily="34" charset="-122"/>
                <a:cs typeface="Segoe UI" pitchFamily="34" charset="-120"/>
              </a:rPr>
              <a:t>Pilot target</a:t>
            </a:r>
            <a:endParaRPr lang="en-US" sz="1100" dirty="0"/>
          </a:p>
        </p:txBody>
      </p:sp>
      <p:sp>
        <p:nvSpPr>
          <p:cNvPr id="14" name="Shape 12"/>
          <p:cNvSpPr/>
          <p:nvPr/>
        </p:nvSpPr>
        <p:spPr>
          <a:xfrm>
            <a:off x="6217920" y="1737360"/>
            <a:ext cx="2606040" cy="1691640"/>
          </a:xfrm>
          <a:prstGeom prst="roundRect">
            <a:avLst>
              <a:gd name="adj" fmla="val 4324"/>
            </a:avLst>
          </a:prstGeom>
          <a:solidFill>
            <a:srgbClr val="FFFFFF"/>
          </a:solidFill>
          <a:ln w="9525">
            <a:solidFill>
              <a:srgbClr val="E3E5DF"/>
            </a:solidFill>
            <a:prstDash val="solid"/>
          </a:ln>
        </p:spPr>
      </p:sp>
      <p:sp>
        <p:nvSpPr>
          <p:cNvPr id="15" name="Text 13"/>
          <p:cNvSpPr/>
          <p:nvPr/>
        </p:nvSpPr>
        <p:spPr>
          <a:xfrm>
            <a:off x="6446520" y="1920240"/>
            <a:ext cx="2194560" cy="685800"/>
          </a:xfrm>
          <a:prstGeom prst="rect">
            <a:avLst/>
          </a:prstGeom>
          <a:noFill/>
          <a:ln/>
        </p:spPr>
        <p:txBody>
          <a:bodyPr wrap="square" lIns="0" tIns="0" rIns="0" bIns="0" rtlCol="0" anchor="ctr"/>
          <a:lstStyle/>
          <a:p>
            <a:pPr indent="0" marL="0">
              <a:buNone/>
            </a:pPr>
            <a:r>
              <a:rPr lang="en-US" sz="3600" dirty="0">
                <a:solidFill>
                  <a:srgbClr val="1B5538"/>
                </a:solidFill>
                <a:latin typeface="Segoe UI Semibold" pitchFamily="34" charset="0"/>
                <a:ea typeface="Segoe UI Semibold" pitchFamily="34" charset="-122"/>
                <a:cs typeface="Segoe UI Semibold" pitchFamily="34" charset="-120"/>
              </a:rPr>
              <a:t>10%</a:t>
            </a:r>
            <a:endParaRPr lang="en-US" sz="3600" dirty="0"/>
          </a:p>
        </p:txBody>
      </p:sp>
      <p:sp>
        <p:nvSpPr>
          <p:cNvPr id="16" name="Text 14"/>
          <p:cNvSpPr/>
          <p:nvPr/>
        </p:nvSpPr>
        <p:spPr>
          <a:xfrm>
            <a:off x="6446520" y="2651760"/>
            <a:ext cx="2194560" cy="320040"/>
          </a:xfrm>
          <a:prstGeom prst="rect">
            <a:avLst/>
          </a:prstGeom>
          <a:noFill/>
          <a:ln/>
        </p:spPr>
        <p:txBody>
          <a:bodyPr wrap="square" lIns="0" tIns="0" rIns="0" bIns="0" rtlCol="0" anchor="ctr"/>
          <a:lstStyle/>
          <a:p>
            <a:pPr indent="0" marL="0">
              <a:buNone/>
            </a:pPr>
            <a:r>
              <a:rPr lang="en-US" sz="1400" dirty="0">
                <a:solidFill>
                  <a:srgbClr val="17201B"/>
                </a:solidFill>
                <a:latin typeface="Segoe UI" pitchFamily="34" charset="0"/>
                <a:ea typeface="Segoe UI" pitchFamily="34" charset="-122"/>
                <a:cs typeface="Segoe UI" pitchFamily="34" charset="-120"/>
              </a:rPr>
              <a:t>less crop loss</a:t>
            </a:r>
            <a:endParaRPr lang="en-US" sz="1400" dirty="0"/>
          </a:p>
        </p:txBody>
      </p:sp>
      <p:sp>
        <p:nvSpPr>
          <p:cNvPr id="17" name="Text 15"/>
          <p:cNvSpPr/>
          <p:nvPr/>
        </p:nvSpPr>
        <p:spPr>
          <a:xfrm>
            <a:off x="6446520" y="3017520"/>
            <a:ext cx="2194560" cy="274320"/>
          </a:xfrm>
          <a:prstGeom prst="rect">
            <a:avLst/>
          </a:prstGeom>
          <a:noFill/>
          <a:ln/>
        </p:spPr>
        <p:txBody>
          <a:bodyPr wrap="square" lIns="0" tIns="0" rIns="0" bIns="0" rtlCol="0" anchor="ctr"/>
          <a:lstStyle/>
          <a:p>
            <a:pPr indent="0" marL="0">
              <a:buNone/>
            </a:pPr>
            <a:r>
              <a:rPr lang="en-US" sz="1100" dirty="0">
                <a:solidFill>
                  <a:srgbClr val="636C65"/>
                </a:solidFill>
                <a:latin typeface="Segoe UI" pitchFamily="34" charset="0"/>
                <a:ea typeface="Segoe UI" pitchFamily="34" charset="-122"/>
                <a:cs typeface="Segoe UI" pitchFamily="34" charset="-120"/>
              </a:rPr>
              <a:t>Pilot target</a:t>
            </a:r>
            <a:endParaRPr lang="en-US" sz="1100" dirty="0"/>
          </a:p>
        </p:txBody>
      </p:sp>
      <p:sp>
        <p:nvSpPr>
          <p:cNvPr id="18" name="Shape 16"/>
          <p:cNvSpPr/>
          <p:nvPr/>
        </p:nvSpPr>
        <p:spPr>
          <a:xfrm>
            <a:off x="9052560" y="1737360"/>
            <a:ext cx="2606040" cy="1691640"/>
          </a:xfrm>
          <a:prstGeom prst="roundRect">
            <a:avLst>
              <a:gd name="adj" fmla="val 4324"/>
            </a:avLst>
          </a:prstGeom>
          <a:solidFill>
            <a:srgbClr val="FFFFFF"/>
          </a:solidFill>
          <a:ln w="9525">
            <a:solidFill>
              <a:srgbClr val="E3E5DF"/>
            </a:solidFill>
            <a:prstDash val="solid"/>
          </a:ln>
        </p:spPr>
      </p:sp>
      <p:sp>
        <p:nvSpPr>
          <p:cNvPr id="19" name="Text 17"/>
          <p:cNvSpPr/>
          <p:nvPr/>
        </p:nvSpPr>
        <p:spPr>
          <a:xfrm>
            <a:off x="9281160" y="1920240"/>
            <a:ext cx="2194560" cy="685800"/>
          </a:xfrm>
          <a:prstGeom prst="rect">
            <a:avLst/>
          </a:prstGeom>
          <a:noFill/>
          <a:ln/>
        </p:spPr>
        <p:txBody>
          <a:bodyPr wrap="square" lIns="0" tIns="0" rIns="0" bIns="0" rtlCol="0" anchor="ctr"/>
          <a:lstStyle/>
          <a:p>
            <a:pPr indent="0" marL="0">
              <a:buNone/>
            </a:pPr>
            <a:r>
              <a:rPr lang="en-US" sz="3600" dirty="0">
                <a:solidFill>
                  <a:srgbClr val="1B5538"/>
                </a:solidFill>
                <a:latin typeface="Segoe UI Semibold" pitchFamily="34" charset="0"/>
                <a:ea typeface="Segoe UI Semibold" pitchFamily="34" charset="-122"/>
                <a:cs typeface="Segoe UI Semibold" pitchFamily="34" charset="-120"/>
              </a:rPr>
              <a:t>5–10%</a:t>
            </a:r>
            <a:endParaRPr lang="en-US" sz="3600" dirty="0"/>
          </a:p>
        </p:txBody>
      </p:sp>
      <p:sp>
        <p:nvSpPr>
          <p:cNvPr id="20" name="Text 18"/>
          <p:cNvSpPr/>
          <p:nvPr/>
        </p:nvSpPr>
        <p:spPr>
          <a:xfrm>
            <a:off x="9281160" y="2651760"/>
            <a:ext cx="2194560" cy="320040"/>
          </a:xfrm>
          <a:prstGeom prst="rect">
            <a:avLst/>
          </a:prstGeom>
          <a:noFill/>
          <a:ln/>
        </p:spPr>
        <p:txBody>
          <a:bodyPr wrap="square" lIns="0" tIns="0" rIns="0" bIns="0" rtlCol="0" anchor="ctr"/>
          <a:lstStyle/>
          <a:p>
            <a:pPr indent="0" marL="0">
              <a:buNone/>
            </a:pPr>
            <a:r>
              <a:rPr lang="en-US" sz="1400" dirty="0">
                <a:solidFill>
                  <a:srgbClr val="17201B"/>
                </a:solidFill>
                <a:latin typeface="Segoe UI" pitchFamily="34" charset="0"/>
                <a:ea typeface="Segoe UI" pitchFamily="34" charset="-122"/>
                <a:cs typeface="Segoe UI" pitchFamily="34" charset="-120"/>
              </a:rPr>
              <a:t>better market realisation</a:t>
            </a:r>
            <a:endParaRPr lang="en-US" sz="1400" dirty="0"/>
          </a:p>
        </p:txBody>
      </p:sp>
      <p:sp>
        <p:nvSpPr>
          <p:cNvPr id="21" name="Text 19"/>
          <p:cNvSpPr/>
          <p:nvPr/>
        </p:nvSpPr>
        <p:spPr>
          <a:xfrm>
            <a:off x="9281160" y="3017520"/>
            <a:ext cx="2194560" cy="274320"/>
          </a:xfrm>
          <a:prstGeom prst="rect">
            <a:avLst/>
          </a:prstGeom>
          <a:noFill/>
          <a:ln/>
        </p:spPr>
        <p:txBody>
          <a:bodyPr wrap="square" lIns="0" tIns="0" rIns="0" bIns="0" rtlCol="0" anchor="ctr"/>
          <a:lstStyle/>
          <a:p>
            <a:pPr indent="0" marL="0">
              <a:buNone/>
            </a:pPr>
            <a:r>
              <a:rPr lang="en-US" sz="1100" dirty="0">
                <a:solidFill>
                  <a:srgbClr val="636C65"/>
                </a:solidFill>
                <a:latin typeface="Segoe UI" pitchFamily="34" charset="0"/>
                <a:ea typeface="Segoe UI" pitchFamily="34" charset="-122"/>
                <a:cs typeface="Segoe UI" pitchFamily="34" charset="-120"/>
              </a:rPr>
              <a:t>Pilot target</a:t>
            </a:r>
            <a:endParaRPr lang="en-US" sz="1100" dirty="0"/>
          </a:p>
        </p:txBody>
      </p:sp>
      <p:sp>
        <p:nvSpPr>
          <p:cNvPr id="22" name="Text 20"/>
          <p:cNvSpPr/>
          <p:nvPr/>
        </p:nvSpPr>
        <p:spPr>
          <a:xfrm>
            <a:off x="548640" y="3611880"/>
            <a:ext cx="11064240" cy="274320"/>
          </a:xfrm>
          <a:prstGeom prst="rect">
            <a:avLst/>
          </a:prstGeom>
          <a:noFill/>
          <a:ln/>
        </p:spPr>
        <p:txBody>
          <a:bodyPr wrap="square" lIns="0" tIns="0" rIns="0" bIns="0" rtlCol="0" anchor="ctr"/>
          <a:lstStyle/>
          <a:p>
            <a:pPr indent="0" marL="0">
              <a:buNone/>
            </a:pPr>
            <a:r>
              <a:rPr lang="en-US" sz="1200" i="1" dirty="0">
                <a:solidFill>
                  <a:srgbClr val="636C65"/>
                </a:solidFill>
                <a:latin typeface="Segoe UI" pitchFamily="34" charset="0"/>
                <a:ea typeface="Segoe UI" pitchFamily="34" charset="-122"/>
                <a:cs typeface="Segoe UI" pitchFamily="34" charset="-120"/>
              </a:rPr>
              <a:t>Pilot targets are illustrative goals, not guaranteed outcomes. Improvements are claimed only against a measured baseline season.</a:t>
            </a:r>
            <a:endParaRPr lang="en-US" sz="1200" dirty="0"/>
          </a:p>
        </p:txBody>
      </p:sp>
      <p:sp>
        <p:nvSpPr>
          <p:cNvPr id="23" name="Text 21"/>
          <p:cNvSpPr/>
          <p:nvPr/>
        </p:nvSpPr>
        <p:spPr>
          <a:xfrm>
            <a:off x="548640" y="4160520"/>
            <a:ext cx="548640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WHAT THE PROTOTYPE ALREADY SHOWS</a:t>
            </a:r>
            <a:endParaRPr lang="en-US" sz="1000" dirty="0"/>
          </a:p>
        </p:txBody>
      </p:sp>
      <p:sp>
        <p:nvSpPr>
          <p:cNvPr id="24" name="Text 22"/>
          <p:cNvSpPr/>
          <p:nvPr/>
        </p:nvSpPr>
        <p:spPr>
          <a:xfrm>
            <a:off x="548640" y="4526280"/>
            <a:ext cx="3474720" cy="502920"/>
          </a:xfrm>
          <a:prstGeom prst="rect">
            <a:avLst/>
          </a:prstGeom>
          <a:noFill/>
          <a:ln/>
        </p:spPr>
        <p:txBody>
          <a:bodyPr wrap="square" lIns="0" tIns="0" rIns="0" bIns="0" rtlCol="0" anchor="ctr"/>
          <a:lstStyle/>
          <a:p>
            <a:pPr indent="0" marL="0">
              <a:buNone/>
            </a:pPr>
            <a:r>
              <a:rPr lang="en-US" sz="2400" dirty="0">
                <a:solidFill>
                  <a:srgbClr val="0F6A9C"/>
                </a:solidFill>
                <a:latin typeface="Segoe UI Semibold" pitchFamily="34" charset="0"/>
                <a:ea typeface="Segoe UI Semibold" pitchFamily="34" charset="-122"/>
                <a:cs typeface="Segoe UI Semibold" pitchFamily="34" charset="-120"/>
              </a:rPr>
              <a:t>≈36,000 L</a:t>
            </a:r>
            <a:endParaRPr lang="en-US" sz="2400" dirty="0"/>
          </a:p>
        </p:txBody>
      </p:sp>
      <p:sp>
        <p:nvSpPr>
          <p:cNvPr id="25" name="Text 23"/>
          <p:cNvSpPr/>
          <p:nvPr/>
        </p:nvSpPr>
        <p:spPr>
          <a:xfrm>
            <a:off x="548640" y="5029200"/>
            <a:ext cx="3383280" cy="822960"/>
          </a:xfrm>
          <a:prstGeom prst="rect">
            <a:avLst/>
          </a:prstGeom>
          <a:noFill/>
          <a:ln/>
        </p:spPr>
        <p:txBody>
          <a:bodyPr wrap="square" lIns="0" tIns="0" rIns="0" bIns="0" rtlCol="0" anchor="t"/>
          <a:lstStyle/>
          <a:p>
            <a:pPr indent="0" marL="0">
              <a:buNone/>
            </a:pPr>
            <a:r>
              <a:rPr lang="en-US" sz="1300" dirty="0">
                <a:solidFill>
                  <a:srgbClr val="17201B"/>
                </a:solidFill>
                <a:latin typeface="Segoe UI" pitchFamily="34" charset="0"/>
                <a:ea typeface="Segoe UI" pitchFamily="34" charset="-122"/>
                <a:cs typeface="Segoe UI" pitchFamily="34" charset="-120"/>
              </a:rPr>
              <a:t>water and ≈11 kWh pumping avoided by one accepted irrigation suggestion (indicative)</a:t>
            </a:r>
            <a:endParaRPr lang="en-US" sz="1300" dirty="0"/>
          </a:p>
        </p:txBody>
      </p:sp>
      <p:sp>
        <p:nvSpPr>
          <p:cNvPr id="26" name="Text 24"/>
          <p:cNvSpPr/>
          <p:nvPr/>
        </p:nvSpPr>
        <p:spPr>
          <a:xfrm>
            <a:off x="4297680" y="4526280"/>
            <a:ext cx="3474720" cy="502920"/>
          </a:xfrm>
          <a:prstGeom prst="rect">
            <a:avLst/>
          </a:prstGeom>
          <a:noFill/>
          <a:ln/>
        </p:spPr>
        <p:txBody>
          <a:bodyPr wrap="square" lIns="0" tIns="0" rIns="0" bIns="0" rtlCol="0" anchor="ctr"/>
          <a:lstStyle/>
          <a:p>
            <a:pPr indent="0" marL="0">
              <a:buNone/>
            </a:pPr>
            <a:r>
              <a:rPr lang="en-US" sz="2400" dirty="0">
                <a:solidFill>
                  <a:srgbClr val="0F6A9C"/>
                </a:solidFill>
                <a:latin typeface="Segoe UI Semibold" pitchFamily="34" charset="0"/>
                <a:ea typeface="Segoe UI Semibold" pitchFamily="34" charset="-122"/>
                <a:cs typeface="Segoe UI Semibold" pitchFamily="34" charset="-120"/>
              </a:rPr>
              <a:t>42 t vs 35 t</a:t>
            </a:r>
            <a:endParaRPr lang="en-US" sz="2400" dirty="0"/>
          </a:p>
        </p:txBody>
      </p:sp>
      <p:sp>
        <p:nvSpPr>
          <p:cNvPr id="27" name="Text 25"/>
          <p:cNvSpPr/>
          <p:nvPr/>
        </p:nvSpPr>
        <p:spPr>
          <a:xfrm>
            <a:off x="4297680" y="5029200"/>
            <a:ext cx="3383280" cy="822960"/>
          </a:xfrm>
          <a:prstGeom prst="rect">
            <a:avLst/>
          </a:prstGeom>
          <a:noFill/>
          <a:ln/>
        </p:spPr>
        <p:txBody>
          <a:bodyPr wrap="square" lIns="0" tIns="0" rIns="0" bIns="0" rtlCol="0" anchor="t"/>
          <a:lstStyle/>
          <a:p>
            <a:pPr indent="0" marL="0">
              <a:buNone/>
            </a:pPr>
            <a:r>
              <a:rPr lang="en-US" sz="1300" dirty="0">
                <a:solidFill>
                  <a:srgbClr val="17201B"/>
                </a:solidFill>
                <a:latin typeface="Segoe UI" pitchFamily="34" charset="0"/>
                <a:ea typeface="Segoe UI" pitchFamily="34" charset="-122"/>
                <a:cs typeface="Segoe UI" pitchFamily="34" charset="-120"/>
              </a:rPr>
              <a:t>pooled tomato supply against buyer demand, visible a week before harvest</a:t>
            </a:r>
            <a:endParaRPr lang="en-US" sz="1300" dirty="0"/>
          </a:p>
        </p:txBody>
      </p:sp>
      <p:sp>
        <p:nvSpPr>
          <p:cNvPr id="28" name="Text 26"/>
          <p:cNvSpPr/>
          <p:nvPr/>
        </p:nvSpPr>
        <p:spPr>
          <a:xfrm>
            <a:off x="8046720" y="4526280"/>
            <a:ext cx="3474720" cy="502920"/>
          </a:xfrm>
          <a:prstGeom prst="rect">
            <a:avLst/>
          </a:prstGeom>
          <a:noFill/>
          <a:ln/>
        </p:spPr>
        <p:txBody>
          <a:bodyPr wrap="square" lIns="0" tIns="0" rIns="0" bIns="0" rtlCol="0" anchor="ctr"/>
          <a:lstStyle/>
          <a:p>
            <a:pPr indent="0" marL="0">
              <a:buNone/>
            </a:pPr>
            <a:r>
              <a:rPr lang="en-US" sz="2400" dirty="0">
                <a:solidFill>
                  <a:srgbClr val="0F6A9C"/>
                </a:solidFill>
                <a:latin typeface="Segoe UI Semibold" pitchFamily="34" charset="0"/>
                <a:ea typeface="Segoe UI Semibold" pitchFamily="34" charset="-122"/>
                <a:cs typeface="Segoe UI Semibold" pitchFamily="34" charset="-120"/>
              </a:rPr>
              <a:t>14 vs 9</a:t>
            </a:r>
            <a:endParaRPr lang="en-US" sz="2400" dirty="0"/>
          </a:p>
        </p:txBody>
      </p:sp>
      <p:sp>
        <p:nvSpPr>
          <p:cNvPr id="29" name="Text 27"/>
          <p:cNvSpPr/>
          <p:nvPr/>
        </p:nvSpPr>
        <p:spPr>
          <a:xfrm>
            <a:off x="8046720" y="5029200"/>
            <a:ext cx="3383280" cy="822960"/>
          </a:xfrm>
          <a:prstGeom prst="rect">
            <a:avLst/>
          </a:prstGeom>
          <a:noFill/>
          <a:ln/>
        </p:spPr>
        <p:txBody>
          <a:bodyPr wrap="square" lIns="0" tIns="0" rIns="0" bIns="0" rtlCol="0" anchor="t"/>
          <a:lstStyle/>
          <a:p>
            <a:pPr indent="0" marL="0">
              <a:buNone/>
            </a:pPr>
            <a:r>
              <a:rPr lang="en-US" sz="1300" dirty="0">
                <a:solidFill>
                  <a:srgbClr val="17201B"/>
                </a:solidFill>
                <a:latin typeface="Segoe UI" pitchFamily="34" charset="0"/>
                <a:ea typeface="Segoe UI" pitchFamily="34" charset="-122"/>
                <a:cs typeface="Segoe UI" pitchFamily="34" charset="-120"/>
              </a:rPr>
              <a:t>tractor requests against available tractors, flagged a day ahead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09   BUSINESS MODEL</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Revenue follows coordination</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9 / 12</a:t>
            </a:r>
            <a:endParaRPr lang="en-US" sz="1000" dirty="0"/>
          </a:p>
        </p:txBody>
      </p:sp>
      <p:sp>
        <p:nvSpPr>
          <p:cNvPr id="6" name="Text 4"/>
          <p:cNvSpPr/>
          <p:nvPr/>
        </p:nvSpPr>
        <p:spPr>
          <a:xfrm>
            <a:off x="548640" y="1783080"/>
            <a:ext cx="283464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REVENUE STREAM</a:t>
            </a:r>
            <a:endParaRPr lang="en-US" sz="1000" dirty="0"/>
          </a:p>
        </p:txBody>
      </p:sp>
      <p:sp>
        <p:nvSpPr>
          <p:cNvPr id="7" name="Text 5"/>
          <p:cNvSpPr/>
          <p:nvPr/>
        </p:nvSpPr>
        <p:spPr>
          <a:xfrm>
            <a:off x="3520440" y="1783080"/>
            <a:ext cx="352044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WHO PAYS</a:t>
            </a:r>
            <a:endParaRPr lang="en-US" sz="1000" dirty="0"/>
          </a:p>
        </p:txBody>
      </p:sp>
      <p:sp>
        <p:nvSpPr>
          <p:cNvPr id="8" name="Text 6"/>
          <p:cNvSpPr/>
          <p:nvPr/>
        </p:nvSpPr>
        <p:spPr>
          <a:xfrm>
            <a:off x="7178040" y="1783080"/>
            <a:ext cx="448056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MODEL</a:t>
            </a:r>
            <a:endParaRPr lang="en-US" sz="1000" dirty="0"/>
          </a:p>
        </p:txBody>
      </p:sp>
      <p:sp>
        <p:nvSpPr>
          <p:cNvPr id="9" name="Shape 7"/>
          <p:cNvSpPr/>
          <p:nvPr/>
        </p:nvSpPr>
        <p:spPr>
          <a:xfrm>
            <a:off x="548640" y="2103120"/>
            <a:ext cx="11109960" cy="0"/>
          </a:xfrm>
          <a:prstGeom prst="line">
            <a:avLst/>
          </a:prstGeom>
          <a:noFill/>
          <a:ln w="9525">
            <a:solidFill>
              <a:srgbClr val="E3E5DF"/>
            </a:solidFill>
            <a:prstDash val="solid"/>
          </a:ln>
        </p:spPr>
      </p:sp>
      <p:sp>
        <p:nvSpPr>
          <p:cNvPr id="10" name="Text 8"/>
          <p:cNvSpPr/>
          <p:nvPr/>
        </p:nvSpPr>
        <p:spPr>
          <a:xfrm>
            <a:off x="548640" y="2148840"/>
            <a:ext cx="2834640" cy="548640"/>
          </a:xfrm>
          <a:prstGeom prst="rect">
            <a:avLst/>
          </a:prstGeom>
          <a:noFill/>
          <a:ln/>
        </p:spPr>
        <p:txBody>
          <a:bodyPr wrap="square" lIns="0" tIns="0" rIns="0" bIns="0" rtlCol="0" anchor="ctr"/>
          <a:lstStyle/>
          <a:p>
            <a:pPr indent="0" marL="0">
              <a:buNone/>
            </a:pPr>
            <a:r>
              <a:rPr lang="en-US" sz="1400" dirty="0">
                <a:solidFill>
                  <a:srgbClr val="17201B"/>
                </a:solidFill>
                <a:latin typeface="Segoe UI Semibold" pitchFamily="34" charset="0"/>
                <a:ea typeface="Segoe UI Semibold" pitchFamily="34" charset="-122"/>
                <a:cs typeface="Segoe UI Semibold" pitchFamily="34" charset="-120"/>
              </a:rPr>
              <a:t>Cluster services</a:t>
            </a:r>
            <a:endParaRPr lang="en-US" sz="1400" dirty="0"/>
          </a:p>
        </p:txBody>
      </p:sp>
      <p:sp>
        <p:nvSpPr>
          <p:cNvPr id="11" name="Text 9"/>
          <p:cNvSpPr/>
          <p:nvPr/>
        </p:nvSpPr>
        <p:spPr>
          <a:xfrm>
            <a:off x="3520440" y="2148840"/>
            <a:ext cx="352044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FPOs, cluster organisations, agriculture programmes</a:t>
            </a:r>
            <a:endParaRPr lang="en-US" sz="1400" dirty="0"/>
          </a:p>
        </p:txBody>
      </p:sp>
      <p:sp>
        <p:nvSpPr>
          <p:cNvPr id="12" name="Text 10"/>
          <p:cNvSpPr/>
          <p:nvPr/>
        </p:nvSpPr>
        <p:spPr>
          <a:xfrm>
            <a:off x="7178040" y="2148840"/>
            <a:ext cx="448056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Subscription per cluster</a:t>
            </a:r>
            <a:endParaRPr lang="en-US" sz="1400" dirty="0"/>
          </a:p>
        </p:txBody>
      </p:sp>
      <p:sp>
        <p:nvSpPr>
          <p:cNvPr id="13" name="Shape 11"/>
          <p:cNvSpPr/>
          <p:nvPr/>
        </p:nvSpPr>
        <p:spPr>
          <a:xfrm>
            <a:off x="548640" y="2743200"/>
            <a:ext cx="11109960" cy="0"/>
          </a:xfrm>
          <a:prstGeom prst="line">
            <a:avLst/>
          </a:prstGeom>
          <a:noFill/>
          <a:ln w="9525">
            <a:solidFill>
              <a:srgbClr val="E3E5DF"/>
            </a:solidFill>
            <a:prstDash val="solid"/>
          </a:ln>
        </p:spPr>
      </p:sp>
      <p:sp>
        <p:nvSpPr>
          <p:cNvPr id="14" name="Text 12"/>
          <p:cNvSpPr/>
          <p:nvPr/>
        </p:nvSpPr>
        <p:spPr>
          <a:xfrm>
            <a:off x="548640" y="2788920"/>
            <a:ext cx="2834640" cy="548640"/>
          </a:xfrm>
          <a:prstGeom prst="rect">
            <a:avLst/>
          </a:prstGeom>
          <a:noFill/>
          <a:ln/>
        </p:spPr>
        <p:txBody>
          <a:bodyPr wrap="square" lIns="0" tIns="0" rIns="0" bIns="0" rtlCol="0" anchor="ctr"/>
          <a:lstStyle/>
          <a:p>
            <a:pPr indent="0" marL="0">
              <a:buNone/>
            </a:pPr>
            <a:r>
              <a:rPr lang="en-US" sz="1400" dirty="0">
                <a:solidFill>
                  <a:srgbClr val="17201B"/>
                </a:solidFill>
                <a:latin typeface="Segoe UI Semibold" pitchFamily="34" charset="0"/>
                <a:ea typeface="Segoe UI Semibold" pitchFamily="34" charset="-122"/>
                <a:cs typeface="Segoe UI Semibold" pitchFamily="34" charset="-120"/>
              </a:rPr>
              <a:t>Equipment marketplace</a:t>
            </a:r>
            <a:endParaRPr lang="en-US" sz="1400" dirty="0"/>
          </a:p>
        </p:txBody>
      </p:sp>
      <p:sp>
        <p:nvSpPr>
          <p:cNvPr id="15" name="Text 13"/>
          <p:cNvSpPr/>
          <p:nvPr/>
        </p:nvSpPr>
        <p:spPr>
          <a:xfrm>
            <a:off x="3520440" y="2788920"/>
            <a:ext cx="352044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Equipment owners and renters</a:t>
            </a:r>
            <a:endParaRPr lang="en-US" sz="1400" dirty="0"/>
          </a:p>
        </p:txBody>
      </p:sp>
      <p:sp>
        <p:nvSpPr>
          <p:cNvPr id="16" name="Text 14"/>
          <p:cNvSpPr/>
          <p:nvPr/>
        </p:nvSpPr>
        <p:spPr>
          <a:xfrm>
            <a:off x="7178040" y="2788920"/>
            <a:ext cx="448056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Commission on completed bookings</a:t>
            </a:r>
            <a:endParaRPr lang="en-US" sz="1400" dirty="0"/>
          </a:p>
        </p:txBody>
      </p:sp>
      <p:sp>
        <p:nvSpPr>
          <p:cNvPr id="17" name="Shape 15"/>
          <p:cNvSpPr/>
          <p:nvPr/>
        </p:nvSpPr>
        <p:spPr>
          <a:xfrm>
            <a:off x="548640" y="3383280"/>
            <a:ext cx="11109960" cy="0"/>
          </a:xfrm>
          <a:prstGeom prst="line">
            <a:avLst/>
          </a:prstGeom>
          <a:noFill/>
          <a:ln w="9525">
            <a:solidFill>
              <a:srgbClr val="E3E5DF"/>
            </a:solidFill>
            <a:prstDash val="solid"/>
          </a:ln>
        </p:spPr>
      </p:sp>
      <p:sp>
        <p:nvSpPr>
          <p:cNvPr id="18" name="Text 16"/>
          <p:cNvSpPr/>
          <p:nvPr/>
        </p:nvSpPr>
        <p:spPr>
          <a:xfrm>
            <a:off x="548640" y="3429000"/>
            <a:ext cx="2834640" cy="548640"/>
          </a:xfrm>
          <a:prstGeom prst="rect">
            <a:avLst/>
          </a:prstGeom>
          <a:noFill/>
          <a:ln/>
        </p:spPr>
        <p:txBody>
          <a:bodyPr wrap="square" lIns="0" tIns="0" rIns="0" bIns="0" rtlCol="0" anchor="ctr"/>
          <a:lstStyle/>
          <a:p>
            <a:pPr indent="0" marL="0">
              <a:buNone/>
            </a:pPr>
            <a:r>
              <a:rPr lang="en-US" sz="1400" dirty="0">
                <a:solidFill>
                  <a:srgbClr val="17201B"/>
                </a:solidFill>
                <a:latin typeface="Segoe UI Semibold" pitchFamily="34" charset="0"/>
                <a:ea typeface="Segoe UI Semibold" pitchFamily="34" charset="-122"/>
                <a:cs typeface="Segoe UI Semibold" pitchFamily="34" charset="-120"/>
              </a:rPr>
              <a:t>Expert services</a:t>
            </a:r>
            <a:endParaRPr lang="en-US" sz="1400" dirty="0"/>
          </a:p>
        </p:txBody>
      </p:sp>
      <p:sp>
        <p:nvSpPr>
          <p:cNvPr id="19" name="Text 17"/>
          <p:cNvSpPr/>
          <p:nvPr/>
        </p:nvSpPr>
        <p:spPr>
          <a:xfrm>
            <a:off x="3520440" y="3429000"/>
            <a:ext cx="352044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Farmers or sponsoring institutions</a:t>
            </a:r>
            <a:endParaRPr lang="en-US" sz="1400" dirty="0"/>
          </a:p>
        </p:txBody>
      </p:sp>
      <p:sp>
        <p:nvSpPr>
          <p:cNvPr id="20" name="Text 18"/>
          <p:cNvSpPr/>
          <p:nvPr/>
        </p:nvSpPr>
        <p:spPr>
          <a:xfrm>
            <a:off x="7178040" y="3429000"/>
            <a:ext cx="448056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Commission or subscription</a:t>
            </a:r>
            <a:endParaRPr lang="en-US" sz="1400" dirty="0"/>
          </a:p>
        </p:txBody>
      </p:sp>
      <p:sp>
        <p:nvSpPr>
          <p:cNvPr id="21" name="Shape 19"/>
          <p:cNvSpPr/>
          <p:nvPr/>
        </p:nvSpPr>
        <p:spPr>
          <a:xfrm>
            <a:off x="548640" y="4023360"/>
            <a:ext cx="11109960" cy="0"/>
          </a:xfrm>
          <a:prstGeom prst="line">
            <a:avLst/>
          </a:prstGeom>
          <a:noFill/>
          <a:ln w="9525">
            <a:solidFill>
              <a:srgbClr val="E3E5DF"/>
            </a:solidFill>
            <a:prstDash val="solid"/>
          </a:ln>
        </p:spPr>
      </p:sp>
      <p:sp>
        <p:nvSpPr>
          <p:cNvPr id="22" name="Text 20"/>
          <p:cNvSpPr/>
          <p:nvPr/>
        </p:nvSpPr>
        <p:spPr>
          <a:xfrm>
            <a:off x="548640" y="4069080"/>
            <a:ext cx="2834640" cy="548640"/>
          </a:xfrm>
          <a:prstGeom prst="rect">
            <a:avLst/>
          </a:prstGeom>
          <a:noFill/>
          <a:ln/>
        </p:spPr>
        <p:txBody>
          <a:bodyPr wrap="square" lIns="0" tIns="0" rIns="0" bIns="0" rtlCol="0" anchor="ctr"/>
          <a:lstStyle/>
          <a:p>
            <a:pPr indent="0" marL="0">
              <a:buNone/>
            </a:pPr>
            <a:r>
              <a:rPr lang="en-US" sz="1400" dirty="0">
                <a:solidFill>
                  <a:srgbClr val="17201B"/>
                </a:solidFill>
                <a:latin typeface="Segoe UI Semibold" pitchFamily="34" charset="0"/>
                <a:ea typeface="Segoe UI Semibold" pitchFamily="34" charset="-122"/>
                <a:cs typeface="Segoe UI Semibold" pitchFamily="34" charset="-120"/>
              </a:rPr>
              <a:t>Market linkage</a:t>
            </a:r>
            <a:endParaRPr lang="en-US" sz="1400" dirty="0"/>
          </a:p>
        </p:txBody>
      </p:sp>
      <p:sp>
        <p:nvSpPr>
          <p:cNvPr id="23" name="Text 21"/>
          <p:cNvSpPr/>
          <p:nvPr/>
        </p:nvSpPr>
        <p:spPr>
          <a:xfrm>
            <a:off x="3520440" y="4069080"/>
            <a:ext cx="352044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Buyers</a:t>
            </a:r>
            <a:endParaRPr lang="en-US" sz="1400" dirty="0"/>
          </a:p>
        </p:txBody>
      </p:sp>
      <p:sp>
        <p:nvSpPr>
          <p:cNvPr id="24" name="Text 22"/>
          <p:cNvSpPr/>
          <p:nvPr/>
        </p:nvSpPr>
        <p:spPr>
          <a:xfrm>
            <a:off x="7178040" y="4069080"/>
            <a:ext cx="448056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Service fee on agreed deals</a:t>
            </a:r>
            <a:endParaRPr lang="en-US" sz="1400" dirty="0"/>
          </a:p>
        </p:txBody>
      </p:sp>
      <p:sp>
        <p:nvSpPr>
          <p:cNvPr id="25" name="Shape 23"/>
          <p:cNvSpPr/>
          <p:nvPr/>
        </p:nvSpPr>
        <p:spPr>
          <a:xfrm>
            <a:off x="548640" y="4663440"/>
            <a:ext cx="11109960" cy="0"/>
          </a:xfrm>
          <a:prstGeom prst="line">
            <a:avLst/>
          </a:prstGeom>
          <a:noFill/>
          <a:ln w="9525">
            <a:solidFill>
              <a:srgbClr val="E3E5DF"/>
            </a:solidFill>
            <a:prstDash val="solid"/>
          </a:ln>
        </p:spPr>
      </p:sp>
      <p:sp>
        <p:nvSpPr>
          <p:cNvPr id="26" name="Text 24"/>
          <p:cNvSpPr/>
          <p:nvPr/>
        </p:nvSpPr>
        <p:spPr>
          <a:xfrm>
            <a:off x="548640" y="4709160"/>
            <a:ext cx="2834640" cy="548640"/>
          </a:xfrm>
          <a:prstGeom prst="rect">
            <a:avLst/>
          </a:prstGeom>
          <a:noFill/>
          <a:ln/>
        </p:spPr>
        <p:txBody>
          <a:bodyPr wrap="square" lIns="0" tIns="0" rIns="0" bIns="0" rtlCol="0" anchor="ctr"/>
          <a:lstStyle/>
          <a:p>
            <a:pPr indent="0" marL="0">
              <a:buNone/>
            </a:pPr>
            <a:r>
              <a:rPr lang="en-US" sz="1400" dirty="0">
                <a:solidFill>
                  <a:srgbClr val="17201B"/>
                </a:solidFill>
                <a:latin typeface="Segoe UI Semibold" pitchFamily="34" charset="0"/>
                <a:ea typeface="Segoe UI Semibold" pitchFamily="34" charset="-122"/>
                <a:cs typeface="Segoe UI Semibold" pitchFamily="34" charset="-120"/>
              </a:rPr>
              <a:t>Technology &amp; analytics</a:t>
            </a:r>
            <a:endParaRPr lang="en-US" sz="1400" dirty="0"/>
          </a:p>
        </p:txBody>
      </p:sp>
      <p:sp>
        <p:nvSpPr>
          <p:cNvPr id="27" name="Text 25"/>
          <p:cNvSpPr/>
          <p:nvPr/>
        </p:nvSpPr>
        <p:spPr>
          <a:xfrm>
            <a:off x="3520440" y="4709160"/>
            <a:ext cx="352044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Institutions and agricultural organisations</a:t>
            </a:r>
            <a:endParaRPr lang="en-US" sz="1400" dirty="0"/>
          </a:p>
        </p:txBody>
      </p:sp>
      <p:sp>
        <p:nvSpPr>
          <p:cNvPr id="28" name="Text 26"/>
          <p:cNvSpPr/>
          <p:nvPr/>
        </p:nvSpPr>
        <p:spPr>
          <a:xfrm>
            <a:off x="7178040" y="4709160"/>
            <a:ext cx="4480560" cy="548640"/>
          </a:xfrm>
          <a:prstGeom prst="rect">
            <a:avLst/>
          </a:prstGeom>
          <a:noFill/>
          <a:ln/>
        </p:spPr>
        <p:txBody>
          <a:bodyPr wrap="square" lIns="0" tIns="0" rIns="0" bIns="0" rtlCol="0" anchor="ctr"/>
          <a:lstStyle/>
          <a:p>
            <a:pPr indent="0" marL="0">
              <a:buNone/>
            </a:pPr>
            <a:r>
              <a:rPr lang="en-US" sz="1400" dirty="0">
                <a:solidFill>
                  <a:srgbClr val="56615A"/>
                </a:solidFill>
                <a:latin typeface="Segoe UI" pitchFamily="34" charset="0"/>
                <a:ea typeface="Segoe UI" pitchFamily="34" charset="-122"/>
                <a:cs typeface="Segoe UI" pitchFamily="34" charset="-120"/>
              </a:rPr>
              <a:t>Implementation fees and cluster analytics</a:t>
            </a:r>
            <a:endParaRPr lang="en-US" sz="1400" dirty="0"/>
          </a:p>
        </p:txBody>
      </p:sp>
      <p:sp>
        <p:nvSpPr>
          <p:cNvPr id="29" name="Shape 27"/>
          <p:cNvSpPr/>
          <p:nvPr/>
        </p:nvSpPr>
        <p:spPr>
          <a:xfrm>
            <a:off x="548640" y="5440680"/>
            <a:ext cx="11109960" cy="594360"/>
          </a:xfrm>
          <a:prstGeom prst="roundRect">
            <a:avLst>
              <a:gd name="adj" fmla="val 12308"/>
            </a:avLst>
          </a:prstGeom>
          <a:solidFill>
            <a:srgbClr val="E8F3EC"/>
          </a:solidFill>
          <a:ln/>
        </p:spPr>
      </p:sp>
      <p:sp>
        <p:nvSpPr>
          <p:cNvPr id="30" name="Text 28"/>
          <p:cNvSpPr/>
          <p:nvPr/>
        </p:nvSpPr>
        <p:spPr>
          <a:xfrm>
            <a:off x="777240" y="5440680"/>
            <a:ext cx="10698480" cy="594360"/>
          </a:xfrm>
          <a:prstGeom prst="rect">
            <a:avLst/>
          </a:prstGeom>
          <a:noFill/>
          <a:ln/>
        </p:spPr>
        <p:txBody>
          <a:bodyPr wrap="square" lIns="0" tIns="0" rIns="0" bIns="0" rtlCol="0" anchor="ctr"/>
          <a:lstStyle/>
          <a:p>
            <a:pPr indent="0" marL="0">
              <a:buNone/>
            </a:pPr>
            <a:r>
              <a:rPr lang="en-US" sz="1400" dirty="0">
                <a:solidFill>
                  <a:srgbClr val="1B5538"/>
                </a:solidFill>
                <a:latin typeface="Segoe UI Semibold" pitchFamily="34" charset="0"/>
                <a:ea typeface="Segoe UI Semibold" pitchFamily="34" charset="-122"/>
                <a:cs typeface="Segoe UI Semibold" pitchFamily="34" charset="-120"/>
              </a:rPr>
              <a:t>Start simple.  </a:t>
            </a:r>
            <a:pPr indent="0" marL="0">
              <a:buNone/>
            </a:pPr>
            <a:r>
              <a:rPr lang="en-US" sz="1400" dirty="0">
                <a:solidFill>
                  <a:srgbClr val="17201B"/>
                </a:solidFill>
                <a:latin typeface="Segoe UI" pitchFamily="34" charset="0"/>
                <a:ea typeface="Segoe UI" pitchFamily="34" charset="-122"/>
                <a:cs typeface="Segoe UI" pitchFamily="34" charset="-120"/>
              </a:rPr>
              <a:t>The pilot runs on a cluster subscription and a marketplace commission. The rest follows as volume grows.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10   PILOT</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Pilot: one cluster, measured over a season</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10 / 12</a:t>
            </a:r>
            <a:endParaRPr lang="en-US" sz="1000" dirty="0"/>
          </a:p>
        </p:txBody>
      </p:sp>
      <p:sp>
        <p:nvSpPr>
          <p:cNvPr id="6" name="Text 4"/>
          <p:cNvSpPr/>
          <p:nvPr/>
        </p:nvSpPr>
        <p:spPr>
          <a:xfrm>
            <a:off x="548640" y="1737360"/>
            <a:ext cx="2377440" cy="777240"/>
          </a:xfrm>
          <a:prstGeom prst="rect">
            <a:avLst/>
          </a:prstGeom>
          <a:noFill/>
          <a:ln/>
        </p:spPr>
        <p:txBody>
          <a:bodyPr wrap="square" lIns="0" tIns="0" rIns="0" bIns="0" rtlCol="0" anchor="ctr"/>
          <a:lstStyle/>
          <a:p>
            <a:pPr indent="0" marL="0">
              <a:buNone/>
            </a:pPr>
            <a:r>
              <a:rPr lang="en-US" sz="4800" dirty="0">
                <a:solidFill>
                  <a:srgbClr val="1B5538"/>
                </a:solidFill>
                <a:latin typeface="Segoe UI Semibold" pitchFamily="34" charset="0"/>
                <a:ea typeface="Segoe UI Semibold" pitchFamily="34" charset="-122"/>
                <a:cs typeface="Segoe UI Semibold" pitchFamily="34" charset="-120"/>
              </a:rPr>
              <a:t>100+</a:t>
            </a:r>
            <a:endParaRPr lang="en-US" sz="4800" dirty="0"/>
          </a:p>
        </p:txBody>
      </p:sp>
      <p:sp>
        <p:nvSpPr>
          <p:cNvPr id="7" name="Text 5"/>
          <p:cNvSpPr/>
          <p:nvPr/>
        </p:nvSpPr>
        <p:spPr>
          <a:xfrm>
            <a:off x="548640" y="2514600"/>
            <a:ext cx="2377440" cy="320040"/>
          </a:xfrm>
          <a:prstGeom prst="rect">
            <a:avLst/>
          </a:prstGeom>
          <a:noFill/>
          <a:ln/>
        </p:spPr>
        <p:txBody>
          <a:bodyPr wrap="square" lIns="0" tIns="0" rIns="0" bIns="0" rtlCol="0" anchor="ctr"/>
          <a:lstStyle/>
          <a:p>
            <a:pPr indent="0" marL="0">
              <a:buNone/>
            </a:pPr>
            <a:r>
              <a:rPr lang="en-US" sz="1500" dirty="0">
                <a:solidFill>
                  <a:srgbClr val="17201B"/>
                </a:solidFill>
                <a:latin typeface="Segoe UI" pitchFamily="34" charset="0"/>
                <a:ea typeface="Segoe UI" pitchFamily="34" charset="-122"/>
                <a:cs typeface="Segoe UI" pitchFamily="34" charset="-120"/>
              </a:rPr>
              <a:t>farmers</a:t>
            </a:r>
            <a:endParaRPr lang="en-US" sz="1500" dirty="0"/>
          </a:p>
        </p:txBody>
      </p:sp>
      <p:sp>
        <p:nvSpPr>
          <p:cNvPr id="8" name="Text 6"/>
          <p:cNvSpPr/>
          <p:nvPr/>
        </p:nvSpPr>
        <p:spPr>
          <a:xfrm>
            <a:off x="548640" y="3108960"/>
            <a:ext cx="2377440" cy="777240"/>
          </a:xfrm>
          <a:prstGeom prst="rect">
            <a:avLst/>
          </a:prstGeom>
          <a:noFill/>
          <a:ln/>
        </p:spPr>
        <p:txBody>
          <a:bodyPr wrap="square" lIns="0" tIns="0" rIns="0" bIns="0" rtlCol="0" anchor="ctr"/>
          <a:lstStyle/>
          <a:p>
            <a:pPr indent="0" marL="0">
              <a:buNone/>
            </a:pPr>
            <a:r>
              <a:rPr lang="en-US" sz="4800" dirty="0">
                <a:solidFill>
                  <a:srgbClr val="1B5538"/>
                </a:solidFill>
                <a:latin typeface="Segoe UI Semibold" pitchFamily="34" charset="0"/>
                <a:ea typeface="Segoe UI Semibold" pitchFamily="34" charset="-122"/>
                <a:cs typeface="Segoe UI Semibold" pitchFamily="34" charset="-120"/>
              </a:rPr>
              <a:t>250+</a:t>
            </a:r>
            <a:endParaRPr lang="en-US" sz="4800" dirty="0"/>
          </a:p>
        </p:txBody>
      </p:sp>
      <p:sp>
        <p:nvSpPr>
          <p:cNvPr id="9" name="Text 7"/>
          <p:cNvSpPr/>
          <p:nvPr/>
        </p:nvSpPr>
        <p:spPr>
          <a:xfrm>
            <a:off x="548640" y="3886200"/>
            <a:ext cx="2377440" cy="320040"/>
          </a:xfrm>
          <a:prstGeom prst="rect">
            <a:avLst/>
          </a:prstGeom>
          <a:noFill/>
          <a:ln/>
        </p:spPr>
        <p:txBody>
          <a:bodyPr wrap="square" lIns="0" tIns="0" rIns="0" bIns="0" rtlCol="0" anchor="ctr"/>
          <a:lstStyle/>
          <a:p>
            <a:pPr indent="0" marL="0">
              <a:buNone/>
            </a:pPr>
            <a:r>
              <a:rPr lang="en-US" sz="1500" dirty="0">
                <a:solidFill>
                  <a:srgbClr val="17201B"/>
                </a:solidFill>
                <a:latin typeface="Segoe UI" pitchFamily="34" charset="0"/>
                <a:ea typeface="Segoe UI" pitchFamily="34" charset="-122"/>
                <a:cs typeface="Segoe UI" pitchFamily="34" charset="-120"/>
              </a:rPr>
              <a:t>acres</a:t>
            </a:r>
            <a:endParaRPr lang="en-US" sz="1500" dirty="0"/>
          </a:p>
        </p:txBody>
      </p:sp>
      <p:sp>
        <p:nvSpPr>
          <p:cNvPr id="10" name="Text 8"/>
          <p:cNvSpPr/>
          <p:nvPr/>
        </p:nvSpPr>
        <p:spPr>
          <a:xfrm>
            <a:off x="548640" y="4480560"/>
            <a:ext cx="2377440" cy="777240"/>
          </a:xfrm>
          <a:prstGeom prst="rect">
            <a:avLst/>
          </a:prstGeom>
          <a:noFill/>
          <a:ln/>
        </p:spPr>
        <p:txBody>
          <a:bodyPr wrap="square" lIns="0" tIns="0" rIns="0" bIns="0" rtlCol="0" anchor="ctr"/>
          <a:lstStyle/>
          <a:p>
            <a:pPr indent="0" marL="0">
              <a:buNone/>
            </a:pPr>
            <a:r>
              <a:rPr lang="en-US" sz="4800" dirty="0">
                <a:solidFill>
                  <a:srgbClr val="1B5538"/>
                </a:solidFill>
                <a:latin typeface="Segoe UI Semibold" pitchFamily="34" charset="0"/>
                <a:ea typeface="Segoe UI Semibold" pitchFamily="34" charset="-122"/>
                <a:cs typeface="Segoe UI Semibold" pitchFamily="34" charset="-120"/>
              </a:rPr>
              <a:t>1</a:t>
            </a:r>
            <a:endParaRPr lang="en-US" sz="4800" dirty="0"/>
          </a:p>
        </p:txBody>
      </p:sp>
      <p:sp>
        <p:nvSpPr>
          <p:cNvPr id="11" name="Text 9"/>
          <p:cNvSpPr/>
          <p:nvPr/>
        </p:nvSpPr>
        <p:spPr>
          <a:xfrm>
            <a:off x="548640" y="5257800"/>
            <a:ext cx="2377440" cy="320040"/>
          </a:xfrm>
          <a:prstGeom prst="rect">
            <a:avLst/>
          </a:prstGeom>
          <a:noFill/>
          <a:ln/>
        </p:spPr>
        <p:txBody>
          <a:bodyPr wrap="square" lIns="0" tIns="0" rIns="0" bIns="0" rtlCol="0" anchor="ctr"/>
          <a:lstStyle/>
          <a:p>
            <a:pPr indent="0" marL="0">
              <a:buNone/>
            </a:pPr>
            <a:r>
              <a:rPr lang="en-US" sz="1500" dirty="0">
                <a:solidFill>
                  <a:srgbClr val="17201B"/>
                </a:solidFill>
                <a:latin typeface="Segoe UI" pitchFamily="34" charset="0"/>
                <a:ea typeface="Segoe UI" pitchFamily="34" charset="-122"/>
                <a:cs typeface="Segoe UI" pitchFamily="34" charset="-120"/>
              </a:rPr>
              <a:t>cluster</a:t>
            </a:r>
            <a:endParaRPr lang="en-US" sz="1500" dirty="0"/>
          </a:p>
        </p:txBody>
      </p:sp>
      <p:sp>
        <p:nvSpPr>
          <p:cNvPr id="12" name="Shape 10"/>
          <p:cNvSpPr/>
          <p:nvPr/>
        </p:nvSpPr>
        <p:spPr>
          <a:xfrm>
            <a:off x="3383280" y="1783080"/>
            <a:ext cx="457200" cy="457200"/>
          </a:xfrm>
          <a:prstGeom prst="ellipse">
            <a:avLst/>
          </a:prstGeom>
          <a:solidFill>
            <a:srgbClr val="1B5538"/>
          </a:solidFill>
          <a:ln/>
        </p:spPr>
      </p:sp>
      <p:sp>
        <p:nvSpPr>
          <p:cNvPr id="13" name="Text 11"/>
          <p:cNvSpPr/>
          <p:nvPr/>
        </p:nvSpPr>
        <p:spPr>
          <a:xfrm>
            <a:off x="3383280" y="178308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12"/>
          <p:cNvSpPr/>
          <p:nvPr/>
        </p:nvSpPr>
        <p:spPr>
          <a:xfrm>
            <a:off x="3611880" y="2286000"/>
            <a:ext cx="0" cy="822960"/>
          </a:xfrm>
          <a:prstGeom prst="line">
            <a:avLst/>
          </a:prstGeom>
          <a:noFill/>
          <a:ln w="25400">
            <a:solidFill>
              <a:srgbClr val="D6E8DC"/>
            </a:solidFill>
            <a:prstDash val="solid"/>
          </a:ln>
        </p:spPr>
      </p:sp>
      <p:sp>
        <p:nvSpPr>
          <p:cNvPr id="15" name="Text 13"/>
          <p:cNvSpPr/>
          <p:nvPr/>
        </p:nvSpPr>
        <p:spPr>
          <a:xfrm>
            <a:off x="4069080" y="1810512"/>
            <a:ext cx="3840480" cy="365760"/>
          </a:xfrm>
          <a:prstGeom prst="rect">
            <a:avLst/>
          </a:prstGeom>
          <a:noFill/>
          <a:ln/>
        </p:spPr>
        <p:txBody>
          <a:bodyPr wrap="square" lIns="0" tIns="0" rIns="0" bIns="0" rtlCol="0" anchor="ctr"/>
          <a:lstStyle/>
          <a:p>
            <a:pPr indent="0" marL="0">
              <a:buNone/>
            </a:pPr>
            <a:r>
              <a:rPr lang="en-US" sz="1700" dirty="0">
                <a:solidFill>
                  <a:srgbClr val="17201B"/>
                </a:solidFill>
                <a:latin typeface="Segoe UI Semibold" pitchFamily="34" charset="0"/>
                <a:ea typeface="Segoe UI Semibold" pitchFamily="34" charset="-122"/>
                <a:cs typeface="Segoe UI Semibold" pitchFamily="34" charset="-120"/>
              </a:rPr>
              <a:t>Baseline season</a:t>
            </a:r>
            <a:endParaRPr lang="en-US" sz="1700" dirty="0"/>
          </a:p>
        </p:txBody>
      </p:sp>
      <p:sp>
        <p:nvSpPr>
          <p:cNvPr id="16" name="Text 14"/>
          <p:cNvSpPr/>
          <p:nvPr/>
        </p:nvSpPr>
        <p:spPr>
          <a:xfrm>
            <a:off x="4069080" y="2194560"/>
            <a:ext cx="3840480" cy="822960"/>
          </a:xfrm>
          <a:prstGeom prst="rect">
            <a:avLst/>
          </a:prstGeom>
          <a:noFill/>
          <a:ln/>
        </p:spPr>
        <p:txBody>
          <a:bodyPr wrap="square" lIns="0" tIns="0" rIns="0" bIns="0" rtlCol="0" anchor="t"/>
          <a:lstStyle/>
          <a:p>
            <a:pPr indent="0" marL="0">
              <a:buNone/>
            </a:pPr>
            <a:r>
              <a:rPr lang="en-US" sz="1300" dirty="0">
                <a:solidFill>
                  <a:srgbClr val="56615A"/>
                </a:solidFill>
                <a:latin typeface="Segoe UI" pitchFamily="34" charset="0"/>
                <a:ea typeface="Segoe UI" pitchFamily="34" charset="-122"/>
                <a:cs typeface="Segoe UI" pitchFamily="34" charset="-120"/>
              </a:rPr>
              <a:t>Record water, energy, input costs, crop loss, prices and machinery use before AgriCluster.</a:t>
            </a:r>
            <a:endParaRPr lang="en-US" sz="1300" dirty="0"/>
          </a:p>
        </p:txBody>
      </p:sp>
      <p:sp>
        <p:nvSpPr>
          <p:cNvPr id="17" name="Shape 15"/>
          <p:cNvSpPr/>
          <p:nvPr/>
        </p:nvSpPr>
        <p:spPr>
          <a:xfrm>
            <a:off x="3383280" y="3154680"/>
            <a:ext cx="457200" cy="457200"/>
          </a:xfrm>
          <a:prstGeom prst="ellipse">
            <a:avLst/>
          </a:prstGeom>
          <a:solidFill>
            <a:srgbClr val="1B5538"/>
          </a:solidFill>
          <a:ln/>
        </p:spPr>
      </p:sp>
      <p:sp>
        <p:nvSpPr>
          <p:cNvPr id="18" name="Text 16"/>
          <p:cNvSpPr/>
          <p:nvPr/>
        </p:nvSpPr>
        <p:spPr>
          <a:xfrm>
            <a:off x="3383280" y="315468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9" name="Shape 17"/>
          <p:cNvSpPr/>
          <p:nvPr/>
        </p:nvSpPr>
        <p:spPr>
          <a:xfrm>
            <a:off x="3611880" y="3657600"/>
            <a:ext cx="0" cy="822960"/>
          </a:xfrm>
          <a:prstGeom prst="line">
            <a:avLst/>
          </a:prstGeom>
          <a:noFill/>
          <a:ln w="25400">
            <a:solidFill>
              <a:srgbClr val="D6E8DC"/>
            </a:solidFill>
            <a:prstDash val="solid"/>
          </a:ln>
        </p:spPr>
      </p:sp>
      <p:sp>
        <p:nvSpPr>
          <p:cNvPr id="20" name="Text 18"/>
          <p:cNvSpPr/>
          <p:nvPr/>
        </p:nvSpPr>
        <p:spPr>
          <a:xfrm>
            <a:off x="4069080" y="3182112"/>
            <a:ext cx="3840480" cy="365760"/>
          </a:xfrm>
          <a:prstGeom prst="rect">
            <a:avLst/>
          </a:prstGeom>
          <a:noFill/>
          <a:ln/>
        </p:spPr>
        <p:txBody>
          <a:bodyPr wrap="square" lIns="0" tIns="0" rIns="0" bIns="0" rtlCol="0" anchor="ctr"/>
          <a:lstStyle/>
          <a:p>
            <a:pPr indent="0" marL="0">
              <a:buNone/>
            </a:pPr>
            <a:r>
              <a:rPr lang="en-US" sz="1700" dirty="0">
                <a:solidFill>
                  <a:srgbClr val="17201B"/>
                </a:solidFill>
                <a:latin typeface="Segoe UI Semibold" pitchFamily="34" charset="0"/>
                <a:ea typeface="Segoe UI Semibold" pitchFamily="34" charset="-122"/>
                <a:cs typeface="Segoe UI Semibold" pitchFamily="34" charset="-120"/>
              </a:rPr>
              <a:t>Pilot season</a:t>
            </a:r>
            <a:endParaRPr lang="en-US" sz="1700" dirty="0"/>
          </a:p>
        </p:txBody>
      </p:sp>
      <p:sp>
        <p:nvSpPr>
          <p:cNvPr id="21" name="Text 19"/>
          <p:cNvSpPr/>
          <p:nvPr/>
        </p:nvSpPr>
        <p:spPr>
          <a:xfrm>
            <a:off x="4069080" y="3566160"/>
            <a:ext cx="3840480" cy="822960"/>
          </a:xfrm>
          <a:prstGeom prst="rect">
            <a:avLst/>
          </a:prstGeom>
          <a:noFill/>
          <a:ln/>
        </p:spPr>
        <p:txBody>
          <a:bodyPr wrap="square" lIns="0" tIns="0" rIns="0" bIns="0" rtlCol="0" anchor="t"/>
          <a:lstStyle/>
          <a:p>
            <a:pPr indent="0" marL="0">
              <a:buNone/>
            </a:pPr>
            <a:r>
              <a:rPr lang="en-US" sz="1300" dirty="0">
                <a:solidFill>
                  <a:srgbClr val="56615A"/>
                </a:solidFill>
                <a:latin typeface="Segoe UI" pitchFamily="34" charset="0"/>
                <a:ea typeface="Segoe UI" pitchFamily="34" charset="-122"/>
                <a:cs typeface="Segoe UI" pitchFamily="34" charset="-120"/>
              </a:rPr>
              <a:t>Farmers use AgriCluster. The same measures are recorded the same way.</a:t>
            </a:r>
            <a:endParaRPr lang="en-US" sz="1300" dirty="0"/>
          </a:p>
        </p:txBody>
      </p:sp>
      <p:sp>
        <p:nvSpPr>
          <p:cNvPr id="22" name="Shape 20"/>
          <p:cNvSpPr/>
          <p:nvPr/>
        </p:nvSpPr>
        <p:spPr>
          <a:xfrm>
            <a:off x="3383280" y="4526280"/>
            <a:ext cx="457200" cy="457200"/>
          </a:xfrm>
          <a:prstGeom prst="ellipse">
            <a:avLst/>
          </a:prstGeom>
          <a:solidFill>
            <a:srgbClr val="1B5538"/>
          </a:solidFill>
          <a:ln/>
        </p:spPr>
      </p:sp>
      <p:sp>
        <p:nvSpPr>
          <p:cNvPr id="23" name="Text 21"/>
          <p:cNvSpPr/>
          <p:nvPr/>
        </p:nvSpPr>
        <p:spPr>
          <a:xfrm>
            <a:off x="3383280" y="452628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4" name="Text 22"/>
          <p:cNvSpPr/>
          <p:nvPr/>
        </p:nvSpPr>
        <p:spPr>
          <a:xfrm>
            <a:off x="4069080" y="4553712"/>
            <a:ext cx="3840480" cy="365760"/>
          </a:xfrm>
          <a:prstGeom prst="rect">
            <a:avLst/>
          </a:prstGeom>
          <a:noFill/>
          <a:ln/>
        </p:spPr>
        <p:txBody>
          <a:bodyPr wrap="square" lIns="0" tIns="0" rIns="0" bIns="0" rtlCol="0" anchor="ctr"/>
          <a:lstStyle/>
          <a:p>
            <a:pPr indent="0" marL="0">
              <a:buNone/>
            </a:pPr>
            <a:r>
              <a:rPr lang="en-US" sz="1700" dirty="0">
                <a:solidFill>
                  <a:srgbClr val="17201B"/>
                </a:solidFill>
                <a:latin typeface="Segoe UI Semibold" pitchFamily="34" charset="0"/>
                <a:ea typeface="Segoe UI Semibold" pitchFamily="34" charset="-122"/>
                <a:cs typeface="Segoe UI Semibold" pitchFamily="34" charset="-120"/>
              </a:rPr>
              <a:t>Compare and decide</a:t>
            </a:r>
            <a:endParaRPr lang="en-US" sz="1700" dirty="0"/>
          </a:p>
        </p:txBody>
      </p:sp>
      <p:sp>
        <p:nvSpPr>
          <p:cNvPr id="25" name="Text 23"/>
          <p:cNvSpPr/>
          <p:nvPr/>
        </p:nvSpPr>
        <p:spPr>
          <a:xfrm>
            <a:off x="4069080" y="4937760"/>
            <a:ext cx="3840480" cy="822960"/>
          </a:xfrm>
          <a:prstGeom prst="rect">
            <a:avLst/>
          </a:prstGeom>
          <a:noFill/>
          <a:ln/>
        </p:spPr>
        <p:txBody>
          <a:bodyPr wrap="square" lIns="0" tIns="0" rIns="0" bIns="0" rtlCol="0" anchor="t"/>
          <a:lstStyle/>
          <a:p>
            <a:pPr indent="0" marL="0">
              <a:buNone/>
            </a:pPr>
            <a:r>
              <a:rPr lang="en-US" sz="1300" dirty="0">
                <a:solidFill>
                  <a:srgbClr val="56615A"/>
                </a:solidFill>
                <a:latin typeface="Segoe UI" pitchFamily="34" charset="0"/>
                <a:ea typeface="Segoe UI" pitchFamily="34" charset="-122"/>
                <a:cs typeface="Segoe UI" pitchFamily="34" charset="-120"/>
              </a:rPr>
              <a:t>Report against the targets, and decide on expansion to more clusters in the district.</a:t>
            </a:r>
            <a:endParaRPr lang="en-US" sz="1300" dirty="0"/>
          </a:p>
        </p:txBody>
      </p:sp>
      <p:sp>
        <p:nvSpPr>
          <p:cNvPr id="26" name="Shape 24"/>
          <p:cNvSpPr/>
          <p:nvPr/>
        </p:nvSpPr>
        <p:spPr>
          <a:xfrm>
            <a:off x="8412480" y="1737360"/>
            <a:ext cx="3246120" cy="4206240"/>
          </a:xfrm>
          <a:prstGeom prst="roundRect">
            <a:avLst>
              <a:gd name="adj" fmla="val 2817"/>
            </a:avLst>
          </a:prstGeom>
          <a:solidFill>
            <a:srgbClr val="FFFFFF"/>
          </a:solidFill>
          <a:ln w="9525">
            <a:solidFill>
              <a:srgbClr val="E3E5DF"/>
            </a:solidFill>
            <a:prstDash val="solid"/>
          </a:ln>
        </p:spPr>
      </p:sp>
      <p:sp>
        <p:nvSpPr>
          <p:cNvPr id="27" name="Text 25"/>
          <p:cNvSpPr/>
          <p:nvPr/>
        </p:nvSpPr>
        <p:spPr>
          <a:xfrm>
            <a:off x="8686800" y="1965960"/>
            <a:ext cx="2743200" cy="274320"/>
          </a:xfrm>
          <a:prstGeom prst="rect">
            <a:avLst/>
          </a:prstGeom>
          <a:noFill/>
          <a:ln/>
        </p:spPr>
        <p:txBody>
          <a:bodyPr wrap="square" lIns="0" tIns="0" rIns="0" bIns="0" rtlCol="0" anchor="ctr"/>
          <a:lstStyle/>
          <a:p>
            <a:pPr indent="0" marL="0">
              <a:buNone/>
            </a:pPr>
            <a:r>
              <a:rPr lang="en-US" sz="1000" spc="200" kern="0" dirty="0">
                <a:solidFill>
                  <a:srgbClr val="226845"/>
                </a:solidFill>
                <a:latin typeface="Segoe UI Semibold" pitchFamily="34" charset="0"/>
                <a:ea typeface="Segoe UI Semibold" pitchFamily="34" charset="-122"/>
                <a:cs typeface="Segoe UI Semibold" pitchFamily="34" charset="-120"/>
              </a:rPr>
              <a:t>WHAT WE TRACK</a:t>
            </a:r>
            <a:endParaRPr lang="en-US" sz="1000" dirty="0"/>
          </a:p>
        </p:txBody>
      </p:sp>
      <p:sp>
        <p:nvSpPr>
          <p:cNvPr id="28" name="Text 26"/>
          <p:cNvSpPr/>
          <p:nvPr/>
        </p:nvSpPr>
        <p:spPr>
          <a:xfrm>
            <a:off x="8686800" y="2377440"/>
            <a:ext cx="274320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7201B"/>
                </a:solidFill>
                <a:latin typeface="Segoe UI" pitchFamily="34" charset="0"/>
                <a:ea typeface="Segoe UI" pitchFamily="34" charset="-122"/>
                <a:cs typeface="Segoe UI" pitchFamily="34" charset="-120"/>
              </a:rPr>
              <a:t>Water use</a:t>
            </a:r>
            <a:endParaRPr lang="en-US" sz="1500" dirty="0"/>
          </a:p>
          <a:p>
            <a:pPr marL="342900" indent="-342900">
              <a:spcAft>
                <a:spcPts val="1000"/>
              </a:spcAft>
              <a:buSzPct val="100000"/>
              <a:buChar char="●"/>
            </a:pPr>
            <a:r>
              <a:rPr lang="en-US" sz="1500" dirty="0">
                <a:solidFill>
                  <a:srgbClr val="17201B"/>
                </a:solidFill>
                <a:latin typeface="Segoe UI" pitchFamily="34" charset="0"/>
                <a:ea typeface="Segoe UI" pitchFamily="34" charset="-122"/>
                <a:cs typeface="Segoe UI" pitchFamily="34" charset="-120"/>
              </a:rPr>
              <a:t>Energy use</a:t>
            </a:r>
            <a:endParaRPr lang="en-US" sz="1500" dirty="0"/>
          </a:p>
          <a:p>
            <a:pPr marL="342900" indent="-342900">
              <a:spcAft>
                <a:spcPts val="1000"/>
              </a:spcAft>
              <a:buSzPct val="100000"/>
              <a:buChar char="●"/>
            </a:pPr>
            <a:r>
              <a:rPr lang="en-US" sz="1500" dirty="0">
                <a:solidFill>
                  <a:srgbClr val="17201B"/>
                </a:solidFill>
                <a:latin typeface="Segoe UI" pitchFamily="34" charset="0"/>
                <a:ea typeface="Segoe UI" pitchFamily="34" charset="-122"/>
                <a:cs typeface="Segoe UI" pitchFamily="34" charset="-120"/>
              </a:rPr>
              <a:t>Input costs</a:t>
            </a:r>
            <a:endParaRPr lang="en-US" sz="1500" dirty="0"/>
          </a:p>
          <a:p>
            <a:pPr marL="342900" indent="-342900">
              <a:spcAft>
                <a:spcPts val="1000"/>
              </a:spcAft>
              <a:buSzPct val="100000"/>
              <a:buChar char="●"/>
            </a:pPr>
            <a:r>
              <a:rPr lang="en-US" sz="1500" dirty="0">
                <a:solidFill>
                  <a:srgbClr val="17201B"/>
                </a:solidFill>
                <a:latin typeface="Segoe UI" pitchFamily="34" charset="0"/>
                <a:ea typeface="Segoe UI" pitchFamily="34" charset="-122"/>
                <a:cs typeface="Segoe UI" pitchFamily="34" charset="-120"/>
              </a:rPr>
              <a:t>Crop loss</a:t>
            </a:r>
            <a:endParaRPr lang="en-US" sz="1500" dirty="0"/>
          </a:p>
          <a:p>
            <a:pPr marL="342900" indent="-342900">
              <a:spcAft>
                <a:spcPts val="1000"/>
              </a:spcAft>
              <a:buSzPct val="100000"/>
              <a:buChar char="●"/>
            </a:pPr>
            <a:r>
              <a:rPr lang="en-US" sz="1500" dirty="0">
                <a:solidFill>
                  <a:srgbClr val="17201B"/>
                </a:solidFill>
                <a:latin typeface="Segoe UI" pitchFamily="34" charset="0"/>
                <a:ea typeface="Segoe UI" pitchFamily="34" charset="-122"/>
                <a:cs typeface="Segoe UI" pitchFamily="34" charset="-120"/>
              </a:rPr>
              <a:t>Machinery utilisation</a:t>
            </a:r>
            <a:endParaRPr lang="en-US" sz="1500" dirty="0"/>
          </a:p>
          <a:p>
            <a:pPr marL="342900" indent="-342900">
              <a:spcAft>
                <a:spcPts val="1000"/>
              </a:spcAft>
              <a:buSzPct val="100000"/>
              <a:buChar char="●"/>
            </a:pPr>
            <a:r>
              <a:rPr lang="en-US" sz="1500" dirty="0">
                <a:solidFill>
                  <a:srgbClr val="17201B"/>
                </a:solidFill>
                <a:latin typeface="Segoe UI" pitchFamily="34" charset="0"/>
                <a:ea typeface="Segoe UI" pitchFamily="34" charset="-122"/>
                <a:cs typeface="Segoe UI" pitchFamily="34" charset="-120"/>
              </a:rPr>
              <a:t>Market realisation</a:t>
            </a:r>
            <a:endParaRPr lang="en-US" sz="1500" dirty="0"/>
          </a:p>
          <a:p>
            <a:pPr marL="342900" indent="-342900">
              <a:spcAft>
                <a:spcPts val="1000"/>
              </a:spcAft>
              <a:buSzPct val="100000"/>
              <a:buChar char="●"/>
            </a:pPr>
            <a:r>
              <a:rPr lang="en-US" sz="1500" dirty="0">
                <a:solidFill>
                  <a:srgbClr val="17201B"/>
                </a:solidFill>
                <a:latin typeface="Segoe UI" pitchFamily="34" charset="0"/>
                <a:ea typeface="Segoe UI" pitchFamily="34" charset="-122"/>
                <a:cs typeface="Segoe UI" pitchFamily="34" charset="-120"/>
              </a:rPr>
              <a:t>Farmer adoption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6F3"/>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spc="200" kern="0" dirty="0">
                <a:solidFill>
                  <a:srgbClr val="226845"/>
                </a:solidFill>
                <a:latin typeface="Segoe UI Semibold" pitchFamily="34" charset="0"/>
                <a:ea typeface="Segoe UI Semibold" pitchFamily="34" charset="-122"/>
                <a:cs typeface="Segoe UI Semibold" pitchFamily="34" charset="-120"/>
              </a:rPr>
              <a:t>11   SCALABILITY</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7201B"/>
                </a:solidFill>
                <a:latin typeface="Segoe UI Semibold" pitchFamily="34" charset="0"/>
                <a:ea typeface="Segoe UI Semibold" pitchFamily="34" charset="-122"/>
                <a:cs typeface="Segoe UI Semibold" pitchFamily="34" charset="-120"/>
              </a:rPr>
              <a:t>The intelligence layer scales. The farms stay small.</a:t>
            </a:r>
            <a:endParaRPr lang="en-US" sz="3000" dirty="0"/>
          </a:p>
        </p:txBody>
      </p:sp>
      <p:sp>
        <p:nvSpPr>
          <p:cNvPr id="4" name="Text 2"/>
          <p:cNvSpPr/>
          <p:nvPr/>
        </p:nvSpPr>
        <p:spPr>
          <a:xfrm>
            <a:off x="548640" y="6400800"/>
            <a:ext cx="2743200" cy="228600"/>
          </a:xfrm>
          <a:prstGeom prst="rect">
            <a:avLst/>
          </a:prstGeom>
          <a:noFill/>
          <a:ln/>
        </p:spPr>
        <p:txBody>
          <a:bodyPr wrap="square" lIns="0" tIns="0" rIns="0" bIns="0" rtlCol="0" anchor="ctr"/>
          <a:lstStyle/>
          <a:p>
            <a:pPr indent="0" marL="0">
              <a:buNone/>
            </a:pPr>
            <a:r>
              <a:rPr lang="en-US" sz="1000" dirty="0">
                <a:solidFill>
                  <a:srgbClr val="636C65"/>
                </a:solidFill>
                <a:latin typeface="Segoe UI Semibold" pitchFamily="34" charset="0"/>
                <a:ea typeface="Segoe UI Semibold" pitchFamily="34" charset="-122"/>
                <a:cs typeface="Segoe UI Semibold" pitchFamily="34" charset="-120"/>
              </a:rPr>
              <a:t>AgriCluster</a:t>
            </a:r>
            <a:endParaRPr lang="en-US" sz="1000" dirty="0"/>
          </a:p>
        </p:txBody>
      </p:sp>
      <p:sp>
        <p:nvSpPr>
          <p:cNvPr id="5" name="Text 3"/>
          <p:cNvSpPr/>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636C65"/>
                </a:solidFill>
                <a:latin typeface="Segoe UI" pitchFamily="34" charset="0"/>
                <a:ea typeface="Segoe UI" pitchFamily="34" charset="-122"/>
                <a:cs typeface="Segoe UI" pitchFamily="34" charset="-120"/>
              </a:rPr>
              <a:t>11 / 12</a:t>
            </a:r>
            <a:endParaRPr lang="en-US" sz="1000" dirty="0"/>
          </a:p>
        </p:txBody>
      </p:sp>
      <p:sp>
        <p:nvSpPr>
          <p:cNvPr id="6" name="Shape 4"/>
          <p:cNvSpPr/>
          <p:nvPr/>
        </p:nvSpPr>
        <p:spPr>
          <a:xfrm>
            <a:off x="548640" y="4754880"/>
            <a:ext cx="1325880" cy="640080"/>
          </a:xfrm>
          <a:prstGeom prst="rect">
            <a:avLst/>
          </a:prstGeom>
          <a:solidFill>
            <a:srgbClr val="D6E8DC"/>
          </a:solidFill>
          <a:ln/>
        </p:spPr>
      </p:sp>
      <p:sp>
        <p:nvSpPr>
          <p:cNvPr id="7" name="Text 5"/>
          <p:cNvSpPr/>
          <p:nvPr/>
        </p:nvSpPr>
        <p:spPr>
          <a:xfrm>
            <a:off x="548640" y="5486400"/>
            <a:ext cx="1325880" cy="548640"/>
          </a:xfrm>
          <a:prstGeom prst="rect">
            <a:avLst/>
          </a:prstGeom>
          <a:noFill/>
          <a:ln/>
        </p:spPr>
        <p:txBody>
          <a:bodyPr wrap="square" lIns="0" tIns="0" rIns="0" bIns="0" rtlCol="0" anchor="t"/>
          <a:lstStyle/>
          <a:p>
            <a:pPr algn="ctr" indent="0" marL="0">
              <a:buNone/>
            </a:pPr>
            <a:r>
              <a:rPr lang="en-US" sz="1200" dirty="0">
                <a:solidFill>
                  <a:srgbClr val="17201B"/>
                </a:solidFill>
                <a:latin typeface="Segoe UI Semibold" pitchFamily="34" charset="0"/>
                <a:ea typeface="Segoe UI Semibold" pitchFamily="34" charset="-122"/>
                <a:cs typeface="Segoe UI Semibold" pitchFamily="34" charset="-120"/>
              </a:rPr>
              <a:t>One farm</a:t>
            </a:r>
            <a:endParaRPr lang="en-US" sz="1200" dirty="0"/>
          </a:p>
        </p:txBody>
      </p:sp>
      <p:sp>
        <p:nvSpPr>
          <p:cNvPr id="8" name="Shape 6"/>
          <p:cNvSpPr/>
          <p:nvPr/>
        </p:nvSpPr>
        <p:spPr>
          <a:xfrm>
            <a:off x="2029968" y="4187952"/>
            <a:ext cx="1325880" cy="1207008"/>
          </a:xfrm>
          <a:prstGeom prst="rect">
            <a:avLst/>
          </a:prstGeom>
          <a:solidFill>
            <a:srgbClr val="AFD1BB"/>
          </a:solidFill>
          <a:ln w="28575">
            <a:solidFill>
              <a:srgbClr val="0F3021"/>
            </a:solidFill>
            <a:prstDash val="solid"/>
          </a:ln>
        </p:spPr>
      </p:sp>
      <p:sp>
        <p:nvSpPr>
          <p:cNvPr id="9" name="Text 7"/>
          <p:cNvSpPr/>
          <p:nvPr/>
        </p:nvSpPr>
        <p:spPr>
          <a:xfrm>
            <a:off x="2029968" y="5486400"/>
            <a:ext cx="1325880" cy="548640"/>
          </a:xfrm>
          <a:prstGeom prst="rect">
            <a:avLst/>
          </a:prstGeom>
          <a:noFill/>
          <a:ln/>
        </p:spPr>
        <p:txBody>
          <a:bodyPr wrap="square" lIns="0" tIns="0" rIns="0" bIns="0" rtlCol="0" anchor="t"/>
          <a:lstStyle/>
          <a:p>
            <a:pPr algn="ctr" indent="0" marL="0">
              <a:buNone/>
            </a:pPr>
            <a:r>
              <a:rPr lang="en-US" sz="1200" dirty="0">
                <a:solidFill>
                  <a:srgbClr val="17201B"/>
                </a:solidFill>
                <a:latin typeface="Segoe UI Semibold" pitchFamily="34" charset="0"/>
                <a:ea typeface="Segoe UI Semibold" pitchFamily="34" charset="-122"/>
                <a:cs typeface="Segoe UI Semibold" pitchFamily="34" charset="-120"/>
              </a:rPr>
              <a:t>Local cluster</a:t>
            </a:r>
            <a:endParaRPr lang="en-US" sz="1200" dirty="0"/>
          </a:p>
        </p:txBody>
      </p:sp>
      <p:sp>
        <p:nvSpPr>
          <p:cNvPr id="10" name="Shape 8"/>
          <p:cNvSpPr/>
          <p:nvPr/>
        </p:nvSpPr>
        <p:spPr>
          <a:xfrm>
            <a:off x="3511296" y="3621024"/>
            <a:ext cx="1325880" cy="1773936"/>
          </a:xfrm>
          <a:prstGeom prst="rect">
            <a:avLst/>
          </a:prstGeom>
          <a:solidFill>
            <a:srgbClr val="7FB395"/>
          </a:solidFill>
          <a:ln/>
        </p:spPr>
      </p:sp>
      <p:sp>
        <p:nvSpPr>
          <p:cNvPr id="11" name="Text 9"/>
          <p:cNvSpPr/>
          <p:nvPr/>
        </p:nvSpPr>
        <p:spPr>
          <a:xfrm>
            <a:off x="3511296" y="5486400"/>
            <a:ext cx="1325880" cy="548640"/>
          </a:xfrm>
          <a:prstGeom prst="rect">
            <a:avLst/>
          </a:prstGeom>
          <a:noFill/>
          <a:ln/>
        </p:spPr>
        <p:txBody>
          <a:bodyPr wrap="square" lIns="0" tIns="0" rIns="0" bIns="0" rtlCol="0" anchor="t"/>
          <a:lstStyle/>
          <a:p>
            <a:pPr algn="ctr" indent="0" marL="0">
              <a:buNone/>
            </a:pPr>
            <a:r>
              <a:rPr lang="en-US" sz="1200" dirty="0">
                <a:solidFill>
                  <a:srgbClr val="17201B"/>
                </a:solidFill>
                <a:latin typeface="Segoe UI Semibold" pitchFamily="34" charset="0"/>
                <a:ea typeface="Segoe UI Semibold" pitchFamily="34" charset="-122"/>
                <a:cs typeface="Segoe UI Semibold" pitchFamily="34" charset="-120"/>
              </a:rPr>
              <a:t>District clusters</a:t>
            </a:r>
            <a:endParaRPr lang="en-US" sz="1200" dirty="0"/>
          </a:p>
        </p:txBody>
      </p:sp>
      <p:sp>
        <p:nvSpPr>
          <p:cNvPr id="12" name="Shape 10"/>
          <p:cNvSpPr/>
          <p:nvPr/>
        </p:nvSpPr>
        <p:spPr>
          <a:xfrm>
            <a:off x="4992624" y="3054096"/>
            <a:ext cx="1325880" cy="2340864"/>
          </a:xfrm>
          <a:prstGeom prst="rect">
            <a:avLst/>
          </a:prstGeom>
          <a:solidFill>
            <a:srgbClr val="4F8F6C"/>
          </a:solidFill>
          <a:ln/>
        </p:spPr>
      </p:sp>
      <p:sp>
        <p:nvSpPr>
          <p:cNvPr id="13" name="Text 11"/>
          <p:cNvSpPr/>
          <p:nvPr/>
        </p:nvSpPr>
        <p:spPr>
          <a:xfrm>
            <a:off x="4992624" y="5486400"/>
            <a:ext cx="1325880" cy="548640"/>
          </a:xfrm>
          <a:prstGeom prst="rect">
            <a:avLst/>
          </a:prstGeom>
          <a:noFill/>
          <a:ln/>
        </p:spPr>
        <p:txBody>
          <a:bodyPr wrap="square" lIns="0" tIns="0" rIns="0" bIns="0" rtlCol="0" anchor="t"/>
          <a:lstStyle/>
          <a:p>
            <a:pPr algn="ctr" indent="0" marL="0">
              <a:buNone/>
            </a:pPr>
            <a:r>
              <a:rPr lang="en-US" sz="1200" dirty="0">
                <a:solidFill>
                  <a:srgbClr val="17201B"/>
                </a:solidFill>
                <a:latin typeface="Segoe UI Semibold" pitchFamily="34" charset="0"/>
                <a:ea typeface="Segoe UI Semibold" pitchFamily="34" charset="-122"/>
                <a:cs typeface="Segoe UI Semibold" pitchFamily="34" charset="-120"/>
              </a:rPr>
              <a:t>Multiple regions</a:t>
            </a:r>
            <a:endParaRPr lang="en-US" sz="1200" dirty="0"/>
          </a:p>
        </p:txBody>
      </p:sp>
      <p:sp>
        <p:nvSpPr>
          <p:cNvPr id="14" name="Shape 12"/>
          <p:cNvSpPr/>
          <p:nvPr/>
        </p:nvSpPr>
        <p:spPr>
          <a:xfrm>
            <a:off x="6473952" y="2487168"/>
            <a:ext cx="1325880" cy="2907792"/>
          </a:xfrm>
          <a:prstGeom prst="rect">
            <a:avLst/>
          </a:prstGeom>
          <a:solidFill>
            <a:srgbClr val="226845"/>
          </a:solidFill>
          <a:ln/>
        </p:spPr>
      </p:sp>
      <p:sp>
        <p:nvSpPr>
          <p:cNvPr id="15" name="Text 13"/>
          <p:cNvSpPr/>
          <p:nvPr/>
        </p:nvSpPr>
        <p:spPr>
          <a:xfrm>
            <a:off x="6473952" y="5486400"/>
            <a:ext cx="1325880" cy="548640"/>
          </a:xfrm>
          <a:prstGeom prst="rect">
            <a:avLst/>
          </a:prstGeom>
          <a:noFill/>
          <a:ln/>
        </p:spPr>
        <p:txBody>
          <a:bodyPr wrap="square" lIns="0" tIns="0" rIns="0" bIns="0" rtlCol="0" anchor="t"/>
          <a:lstStyle/>
          <a:p>
            <a:pPr algn="ctr" indent="0" marL="0">
              <a:buNone/>
            </a:pPr>
            <a:r>
              <a:rPr lang="en-US" sz="1200" dirty="0">
                <a:solidFill>
                  <a:srgbClr val="17201B"/>
                </a:solidFill>
                <a:latin typeface="Segoe UI Semibold" pitchFamily="34" charset="0"/>
                <a:ea typeface="Segoe UI Semibold" pitchFamily="34" charset="-122"/>
                <a:cs typeface="Segoe UI Semibold" pitchFamily="34" charset="-120"/>
              </a:rPr>
              <a:t>Agricultural network</a:t>
            </a:r>
            <a:endParaRPr lang="en-US" sz="1200" dirty="0"/>
          </a:p>
        </p:txBody>
      </p:sp>
      <p:sp>
        <p:nvSpPr>
          <p:cNvPr id="16" name="Text 14"/>
          <p:cNvSpPr/>
          <p:nvPr/>
        </p:nvSpPr>
        <p:spPr>
          <a:xfrm>
            <a:off x="2029968" y="3886200"/>
            <a:ext cx="1325880" cy="457200"/>
          </a:xfrm>
          <a:prstGeom prst="rect">
            <a:avLst/>
          </a:prstGeom>
          <a:noFill/>
          <a:ln/>
        </p:spPr>
        <p:txBody>
          <a:bodyPr wrap="square" lIns="0" tIns="0" rIns="0" bIns="0" rtlCol="0" anchor="ctr"/>
          <a:lstStyle/>
          <a:p>
            <a:pPr algn="ctr" indent="0" marL="0">
              <a:buNone/>
            </a:pPr>
            <a:r>
              <a:rPr lang="en-US" sz="1100" dirty="0">
                <a:solidFill>
                  <a:srgbClr val="0F3021"/>
                </a:solidFill>
                <a:latin typeface="Segoe UI Semibold" pitchFamily="34" charset="0"/>
                <a:ea typeface="Segoe UI Semibold" pitchFamily="34" charset="-122"/>
                <a:cs typeface="Segoe UI Semibold" pitchFamily="34" charset="-120"/>
              </a:rPr>
              <a:t>Pilot starts here</a:t>
            </a:r>
            <a:endParaRPr lang="en-US" sz="1100" dirty="0"/>
          </a:p>
        </p:txBody>
      </p:sp>
      <p:sp>
        <p:nvSpPr>
          <p:cNvPr id="17" name="Text 15"/>
          <p:cNvSpPr/>
          <p:nvPr/>
        </p:nvSpPr>
        <p:spPr>
          <a:xfrm>
            <a:off x="8229600" y="1783080"/>
            <a:ext cx="342900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Simulation-first</a:t>
            </a:r>
            <a:endParaRPr lang="en-US" sz="1600" dirty="0"/>
          </a:p>
        </p:txBody>
      </p:sp>
      <p:sp>
        <p:nvSpPr>
          <p:cNvPr id="18" name="Text 16"/>
          <p:cNvSpPr/>
          <p:nvPr/>
        </p:nvSpPr>
        <p:spPr>
          <a:xfrm>
            <a:off x="8229600" y="2130552"/>
            <a:ext cx="3429000" cy="914400"/>
          </a:xfrm>
          <a:prstGeom prst="rect">
            <a:avLst/>
          </a:prstGeom>
          <a:noFill/>
          <a:ln/>
        </p:spPr>
        <p:txBody>
          <a:bodyPr wrap="square" lIns="0" tIns="0" rIns="0" bIns="0" rtlCol="0" anchor="t"/>
          <a:lstStyle/>
          <a:p>
            <a:pPr indent="0" marL="0">
              <a:buNone/>
            </a:pPr>
            <a:r>
              <a:rPr lang="en-US" sz="1300" dirty="0">
                <a:solidFill>
                  <a:srgbClr val="56615A"/>
                </a:solidFill>
                <a:latin typeface="Segoe UI" pitchFamily="34" charset="0"/>
                <a:ea typeface="Segoe UI" pitchFamily="34" charset="-122"/>
                <a:cs typeface="Segoe UI" pitchFamily="34" charset="-120"/>
              </a:rPr>
              <a:t>Works from farmer input and shared sensors today. Real sensors and data feeds plug into the same interfaces later.</a:t>
            </a:r>
            <a:endParaRPr lang="en-US" sz="1300" dirty="0"/>
          </a:p>
        </p:txBody>
      </p:sp>
      <p:sp>
        <p:nvSpPr>
          <p:cNvPr id="19" name="Text 17"/>
          <p:cNvSpPr/>
          <p:nvPr/>
        </p:nvSpPr>
        <p:spPr>
          <a:xfrm>
            <a:off x="8229600" y="3108960"/>
            <a:ext cx="342900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Same engine, every cluster</a:t>
            </a:r>
            <a:endParaRPr lang="en-US" sz="1600" dirty="0"/>
          </a:p>
        </p:txBody>
      </p:sp>
      <p:sp>
        <p:nvSpPr>
          <p:cNvPr id="20" name="Text 18"/>
          <p:cNvSpPr/>
          <p:nvPr/>
        </p:nvSpPr>
        <p:spPr>
          <a:xfrm>
            <a:off x="8229600" y="3456432"/>
            <a:ext cx="3429000" cy="914400"/>
          </a:xfrm>
          <a:prstGeom prst="rect">
            <a:avLst/>
          </a:prstGeom>
          <a:noFill/>
          <a:ln/>
        </p:spPr>
        <p:txBody>
          <a:bodyPr wrap="square" lIns="0" tIns="0" rIns="0" bIns="0" rtlCol="0" anchor="t"/>
          <a:lstStyle/>
          <a:p>
            <a:pPr indent="0" marL="0">
              <a:buNone/>
            </a:pPr>
            <a:r>
              <a:rPr lang="en-US" sz="1300" dirty="0">
                <a:solidFill>
                  <a:srgbClr val="56615A"/>
                </a:solidFill>
                <a:latin typeface="Segoe UI" pitchFamily="34" charset="0"/>
                <a:ea typeface="Segoe UI" pitchFamily="34" charset="-122"/>
                <a:cs typeface="Segoe UI" pitchFamily="34" charset="-120"/>
              </a:rPr>
              <a:t>A new cluster reuses the intelligence rules, roles and screens. Only local data changes.</a:t>
            </a:r>
            <a:endParaRPr lang="en-US" sz="1300" dirty="0"/>
          </a:p>
        </p:txBody>
      </p:sp>
      <p:sp>
        <p:nvSpPr>
          <p:cNvPr id="21" name="Text 19"/>
          <p:cNvSpPr/>
          <p:nvPr/>
        </p:nvSpPr>
        <p:spPr>
          <a:xfrm>
            <a:off x="8229600" y="4434840"/>
            <a:ext cx="3429000" cy="320040"/>
          </a:xfrm>
          <a:prstGeom prst="rect">
            <a:avLst/>
          </a:prstGeom>
          <a:noFill/>
          <a:ln/>
        </p:spPr>
        <p:txBody>
          <a:bodyPr wrap="square" lIns="0" tIns="0" rIns="0" bIns="0" rtlCol="0" anchor="ctr"/>
          <a:lstStyle/>
          <a:p>
            <a:pPr indent="0" marL="0">
              <a:buNone/>
            </a:pPr>
            <a:r>
              <a:rPr lang="en-US" sz="1600" dirty="0">
                <a:solidFill>
                  <a:srgbClr val="17201B"/>
                </a:solidFill>
                <a:latin typeface="Segoe UI Semibold" pitchFamily="34" charset="0"/>
                <a:ea typeface="Segoe UI Semibold" pitchFamily="34" charset="-122"/>
                <a:cs typeface="Segoe UI Semibold" pitchFamily="34" charset="-120"/>
              </a:rPr>
              <a:t>Network effects</a:t>
            </a:r>
            <a:endParaRPr lang="en-US" sz="1600" dirty="0"/>
          </a:p>
        </p:txBody>
      </p:sp>
      <p:sp>
        <p:nvSpPr>
          <p:cNvPr id="22" name="Text 20"/>
          <p:cNvSpPr/>
          <p:nvPr/>
        </p:nvSpPr>
        <p:spPr>
          <a:xfrm>
            <a:off x="8229600" y="4782312"/>
            <a:ext cx="3429000" cy="914400"/>
          </a:xfrm>
          <a:prstGeom prst="rect">
            <a:avLst/>
          </a:prstGeom>
          <a:noFill/>
          <a:ln/>
        </p:spPr>
        <p:txBody>
          <a:bodyPr wrap="square" lIns="0" tIns="0" rIns="0" bIns="0" rtlCol="0" anchor="t"/>
          <a:lstStyle/>
          <a:p>
            <a:pPr indent="0" marL="0">
              <a:buNone/>
            </a:pPr>
            <a:r>
              <a:rPr lang="en-US" sz="1300" dirty="0">
                <a:solidFill>
                  <a:srgbClr val="56615A"/>
                </a:solidFill>
                <a:latin typeface="Segoe UI" pitchFamily="34" charset="0"/>
                <a:ea typeface="Segoe UI" pitchFamily="34" charset="-122"/>
                <a:cs typeface="Segoe UI" pitchFamily="34" charset="-120"/>
              </a:rPr>
              <a:t>Each new cluster brings more buyers, equipment providers and experts to every member.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3021"/>
        </a:solidFill>
      </p:bgPr>
    </p:bg>
    <p:spTree>
      <p:nvGrpSpPr>
        <p:cNvPr id="1" name=""/>
        <p:cNvGrpSpPr/>
        <p:nvPr/>
      </p:nvGrpSpPr>
      <p:grpSpPr>
        <a:xfrm>
          <a:off x="0" y="0"/>
          <a:ext cx="0" cy="0"/>
          <a:chOff x="0" y="0"/>
          <a:chExt cx="0" cy="0"/>
        </a:xfrm>
      </p:grpSpPr>
      <p:sp>
        <p:nvSpPr>
          <p:cNvPr id="2" name="Text 0"/>
          <p:cNvSpPr/>
          <p:nvPr/>
        </p:nvSpPr>
        <p:spPr>
          <a:xfrm>
            <a:off x="548640" y="365760"/>
            <a:ext cx="5486400" cy="274320"/>
          </a:xfrm>
          <a:prstGeom prst="rect">
            <a:avLst/>
          </a:prstGeom>
          <a:noFill/>
          <a:ln/>
        </p:spPr>
        <p:txBody>
          <a:bodyPr wrap="square" lIns="0" tIns="0" rIns="0" bIns="0" rtlCol="0" anchor="ctr"/>
          <a:lstStyle/>
          <a:p>
            <a:pPr indent="0" marL="0">
              <a:buNone/>
            </a:pPr>
            <a:r>
              <a:rPr lang="en-US" sz="1100" spc="200" kern="0" dirty="0">
                <a:solidFill>
                  <a:srgbClr val="9DB8A7"/>
                </a:solidFill>
                <a:latin typeface="Segoe UI Semibold" pitchFamily="34" charset="0"/>
                <a:ea typeface="Segoe UI Semibold" pitchFamily="34" charset="-122"/>
                <a:cs typeface="Segoe UI Semibold" pitchFamily="34" charset="-120"/>
              </a:rPr>
              <a:t>12   VISION</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200" dirty="0">
                <a:solidFill>
                  <a:srgbClr val="FFFFFF"/>
                </a:solidFill>
                <a:latin typeface="Segoe UI Semibold" pitchFamily="34" charset="0"/>
                <a:ea typeface="Segoe UI Semibold" pitchFamily="34" charset="-122"/>
                <a:cs typeface="Segoe UI Semibold" pitchFamily="34" charset="-120"/>
              </a:rPr>
              <a:t>Connected agricultural clusters across India</a:t>
            </a:r>
            <a:endParaRPr lang="en-US" sz="3200" dirty="0"/>
          </a:p>
        </p:txBody>
      </p:sp>
      <p:sp>
        <p:nvSpPr>
          <p:cNvPr id="4" name="Shape 2"/>
          <p:cNvSpPr/>
          <p:nvPr/>
        </p:nvSpPr>
        <p:spPr>
          <a:xfrm>
            <a:off x="548640" y="1783080"/>
            <a:ext cx="3520440" cy="3429000"/>
          </a:xfrm>
          <a:prstGeom prst="roundRect">
            <a:avLst>
              <a:gd name="adj" fmla="val 2667"/>
            </a:avLst>
          </a:prstGeom>
          <a:solidFill>
            <a:srgbClr val="2A4A3A"/>
          </a:solidFill>
          <a:ln/>
        </p:spPr>
      </p:sp>
      <p:sp>
        <p:nvSpPr>
          <p:cNvPr id="5" name="Text 3"/>
          <p:cNvSpPr/>
          <p:nvPr/>
        </p:nvSpPr>
        <p:spPr>
          <a:xfrm>
            <a:off x="822960" y="2011680"/>
            <a:ext cx="3017520" cy="36576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Today</a:t>
            </a:r>
            <a:endParaRPr lang="en-US" sz="1800" dirty="0"/>
          </a:p>
        </p:txBody>
      </p:sp>
      <p:sp>
        <p:nvSpPr>
          <p:cNvPr id="6" name="Text 4"/>
          <p:cNvSpPr/>
          <p:nvPr/>
        </p:nvSpPr>
        <p:spPr>
          <a:xfrm>
            <a:off x="822960" y="2560320"/>
            <a:ext cx="3017520" cy="2468880"/>
          </a:xfrm>
          <a:prstGeom prst="rect">
            <a:avLst/>
          </a:prstGeom>
          <a:noFill/>
          <a:ln/>
        </p:spPr>
        <p:txBody>
          <a:bodyPr wrap="square" lIns="0" tIns="0" rIns="0" bIns="0" rtlCol="0" anchor="t"/>
          <a:lstStyle/>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Fragmented farms</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Fragmented information</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Fragmented resources</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Fragmented decisions</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Fragmented markets</a:t>
            </a:r>
            <a:endParaRPr lang="en-US" sz="1500" dirty="0"/>
          </a:p>
        </p:txBody>
      </p:sp>
      <p:sp>
        <p:nvSpPr>
          <p:cNvPr id="7" name="Text 5"/>
          <p:cNvSpPr/>
          <p:nvPr/>
        </p:nvSpPr>
        <p:spPr>
          <a:xfrm>
            <a:off x="4069080" y="3246120"/>
            <a:ext cx="228600" cy="457200"/>
          </a:xfrm>
          <a:prstGeom prst="rect">
            <a:avLst/>
          </a:prstGeom>
          <a:noFill/>
          <a:ln/>
        </p:spPr>
        <p:txBody>
          <a:bodyPr wrap="square" lIns="0" tIns="0" rIns="0" bIns="0" rtlCol="0" anchor="ctr"/>
          <a:lstStyle/>
          <a:p>
            <a:pPr algn="ctr" indent="0" marL="0">
              <a:buNone/>
            </a:pPr>
            <a:r>
              <a:rPr lang="en-US" sz="2000" dirty="0">
                <a:solidFill>
                  <a:srgbClr val="9DB8A7"/>
                </a:solidFill>
                <a:latin typeface="Segoe UI" pitchFamily="34" charset="0"/>
                <a:ea typeface="Segoe UI" pitchFamily="34" charset="-122"/>
                <a:cs typeface="Segoe UI" pitchFamily="34" charset="-120"/>
              </a:rPr>
              <a:t>→</a:t>
            </a:r>
            <a:endParaRPr lang="en-US" sz="2000" dirty="0"/>
          </a:p>
        </p:txBody>
      </p:sp>
      <p:sp>
        <p:nvSpPr>
          <p:cNvPr id="8" name="Shape 6"/>
          <p:cNvSpPr/>
          <p:nvPr/>
        </p:nvSpPr>
        <p:spPr>
          <a:xfrm>
            <a:off x="4297680" y="1783080"/>
            <a:ext cx="3520440" cy="3429000"/>
          </a:xfrm>
          <a:prstGeom prst="roundRect">
            <a:avLst>
              <a:gd name="adj" fmla="val 2667"/>
            </a:avLst>
          </a:prstGeom>
          <a:solidFill>
            <a:srgbClr val="1B5538"/>
          </a:solidFill>
          <a:ln/>
        </p:spPr>
      </p:sp>
      <p:sp>
        <p:nvSpPr>
          <p:cNvPr id="9" name="Text 7"/>
          <p:cNvSpPr/>
          <p:nvPr/>
        </p:nvSpPr>
        <p:spPr>
          <a:xfrm>
            <a:off x="4572000" y="2011680"/>
            <a:ext cx="3017520" cy="36576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With AgriCluster</a:t>
            </a:r>
            <a:endParaRPr lang="en-US" sz="1800" dirty="0"/>
          </a:p>
        </p:txBody>
      </p:sp>
      <p:sp>
        <p:nvSpPr>
          <p:cNvPr id="10" name="Text 8"/>
          <p:cNvSpPr/>
          <p:nvPr/>
        </p:nvSpPr>
        <p:spPr>
          <a:xfrm>
            <a:off x="4572000" y="2560320"/>
            <a:ext cx="3017520" cy="2468880"/>
          </a:xfrm>
          <a:prstGeom prst="rect">
            <a:avLst/>
          </a:prstGeom>
          <a:noFill/>
          <a:ln/>
        </p:spPr>
        <p:txBody>
          <a:bodyPr wrap="square" lIns="0" tIns="0" rIns="0" bIns="0" rtlCol="0" anchor="t"/>
          <a:lstStyle/>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Connected farms</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Shared resources</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Integrated data</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Cluster intelligence</a:t>
            </a:r>
            <a:endParaRPr lang="en-US" sz="1500" dirty="0"/>
          </a:p>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Coordinated decisions and markets</a:t>
            </a:r>
            <a:endParaRPr lang="en-US" sz="1500" dirty="0"/>
          </a:p>
        </p:txBody>
      </p:sp>
      <p:sp>
        <p:nvSpPr>
          <p:cNvPr id="11" name="Text 9"/>
          <p:cNvSpPr/>
          <p:nvPr/>
        </p:nvSpPr>
        <p:spPr>
          <a:xfrm>
            <a:off x="7818120" y="3246120"/>
            <a:ext cx="228600" cy="457200"/>
          </a:xfrm>
          <a:prstGeom prst="rect">
            <a:avLst/>
          </a:prstGeom>
          <a:noFill/>
          <a:ln/>
        </p:spPr>
        <p:txBody>
          <a:bodyPr wrap="square" lIns="0" tIns="0" rIns="0" bIns="0" rtlCol="0" anchor="ctr"/>
          <a:lstStyle/>
          <a:p>
            <a:pPr algn="ctr" indent="0" marL="0">
              <a:buNone/>
            </a:pPr>
            <a:r>
              <a:rPr lang="en-US" sz="2000" dirty="0">
                <a:solidFill>
                  <a:srgbClr val="9DB8A7"/>
                </a:solidFill>
                <a:latin typeface="Segoe UI" pitchFamily="34" charset="0"/>
                <a:ea typeface="Segoe UI" pitchFamily="34" charset="-122"/>
                <a:cs typeface="Segoe UI" pitchFamily="34" charset="-120"/>
              </a:rPr>
              <a:t>→</a:t>
            </a:r>
            <a:endParaRPr lang="en-US" sz="2000" dirty="0"/>
          </a:p>
        </p:txBody>
      </p:sp>
      <p:sp>
        <p:nvSpPr>
          <p:cNvPr id="12" name="Shape 10"/>
          <p:cNvSpPr/>
          <p:nvPr/>
        </p:nvSpPr>
        <p:spPr>
          <a:xfrm>
            <a:off x="8046720" y="1783080"/>
            <a:ext cx="3520440" cy="3429000"/>
          </a:xfrm>
          <a:prstGeom prst="roundRect">
            <a:avLst>
              <a:gd name="adj" fmla="val 2667"/>
            </a:avLst>
          </a:prstGeom>
          <a:solidFill>
            <a:srgbClr val="2E6B4E"/>
          </a:solidFill>
          <a:ln/>
        </p:spPr>
      </p:sp>
      <p:sp>
        <p:nvSpPr>
          <p:cNvPr id="13" name="Text 11"/>
          <p:cNvSpPr/>
          <p:nvPr/>
        </p:nvSpPr>
        <p:spPr>
          <a:xfrm>
            <a:off x="8321040" y="2011680"/>
            <a:ext cx="3017520" cy="36576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Future</a:t>
            </a:r>
            <a:endParaRPr lang="en-US" sz="1800" dirty="0"/>
          </a:p>
        </p:txBody>
      </p:sp>
      <p:sp>
        <p:nvSpPr>
          <p:cNvPr id="14" name="Text 12"/>
          <p:cNvSpPr/>
          <p:nvPr/>
        </p:nvSpPr>
        <p:spPr>
          <a:xfrm>
            <a:off x="8321040" y="2560320"/>
            <a:ext cx="3017520" cy="2468880"/>
          </a:xfrm>
          <a:prstGeom prst="rect">
            <a:avLst/>
          </a:prstGeom>
          <a:noFill/>
          <a:ln/>
        </p:spPr>
        <p:txBody>
          <a:bodyPr wrap="square" lIns="0" tIns="0" rIns="0" bIns="0" rtlCol="0" anchor="t"/>
          <a:lstStyle/>
          <a:p>
            <a:pPr indent="0" marL="0">
              <a:spcAft>
                <a:spcPts val="800"/>
              </a:spcAft>
              <a:buNone/>
            </a:pPr>
            <a:r>
              <a:rPr lang="en-US" sz="1500" dirty="0">
                <a:solidFill>
                  <a:srgbClr val="C9DCCF"/>
                </a:solidFill>
                <a:latin typeface="Segoe UI" pitchFamily="34" charset="0"/>
                <a:ea typeface="Segoe UI" pitchFamily="34" charset="-122"/>
                <a:cs typeface="Segoe UI" pitchFamily="34" charset="-120"/>
              </a:rPr>
              <a:t>More efficient, more resilient agricultural clusters, where farmers keep the decisions and technology does the coordination.</a:t>
            </a:r>
            <a:endParaRPr lang="en-US" sz="1500" dirty="0"/>
          </a:p>
        </p:txBody>
      </p:sp>
      <p:sp>
        <p:nvSpPr>
          <p:cNvPr id="15" name="Shape 13"/>
          <p:cNvSpPr/>
          <p:nvPr/>
        </p:nvSpPr>
        <p:spPr>
          <a:xfrm>
            <a:off x="548640" y="5623560"/>
            <a:ext cx="502920" cy="502920"/>
          </a:xfrm>
          <a:prstGeom prst="roundRect">
            <a:avLst>
              <a:gd name="adj" fmla="val 22000"/>
            </a:avLst>
          </a:prstGeom>
          <a:solidFill>
            <a:srgbClr val="1B5538"/>
          </a:solidFill>
          <a:ln/>
        </p:spPr>
      </p:sp>
      <p:sp>
        <p:nvSpPr>
          <p:cNvPr id="16" name="Shape 14"/>
          <p:cNvSpPr/>
          <p:nvPr/>
        </p:nvSpPr>
        <p:spPr>
          <a:xfrm>
            <a:off x="705803" y="5788581"/>
            <a:ext cx="188595" cy="172879"/>
          </a:xfrm>
          <a:prstGeom prst="triangle">
            <a:avLst/>
          </a:prstGeom>
          <a:ln w="19050">
            <a:solidFill>
              <a:srgbClr val="AFD1BB"/>
            </a:solidFill>
            <a:prstDash val="solid"/>
          </a:ln>
        </p:spPr>
      </p:sp>
      <p:sp>
        <p:nvSpPr>
          <p:cNvPr id="17" name="Shape 15"/>
          <p:cNvSpPr/>
          <p:nvPr/>
        </p:nvSpPr>
        <p:spPr>
          <a:xfrm>
            <a:off x="752951" y="5741432"/>
            <a:ext cx="94298" cy="94298"/>
          </a:xfrm>
          <a:prstGeom prst="ellipse">
            <a:avLst/>
          </a:prstGeom>
          <a:solidFill>
            <a:srgbClr val="FFFFFF"/>
          </a:solidFill>
          <a:ln/>
        </p:spPr>
      </p:sp>
      <p:sp>
        <p:nvSpPr>
          <p:cNvPr id="18" name="Shape 16"/>
          <p:cNvSpPr/>
          <p:nvPr/>
        </p:nvSpPr>
        <p:spPr>
          <a:xfrm>
            <a:off x="658654" y="5914311"/>
            <a:ext cx="94298" cy="94298"/>
          </a:xfrm>
          <a:prstGeom prst="ellipse">
            <a:avLst/>
          </a:prstGeom>
          <a:solidFill>
            <a:srgbClr val="FFFFFF"/>
          </a:solidFill>
          <a:ln/>
        </p:spPr>
      </p:sp>
      <p:sp>
        <p:nvSpPr>
          <p:cNvPr id="19" name="Shape 17"/>
          <p:cNvSpPr/>
          <p:nvPr/>
        </p:nvSpPr>
        <p:spPr>
          <a:xfrm>
            <a:off x="847249" y="5914311"/>
            <a:ext cx="94298" cy="94298"/>
          </a:xfrm>
          <a:prstGeom prst="ellipse">
            <a:avLst/>
          </a:prstGeom>
          <a:solidFill>
            <a:srgbClr val="AFD1BB"/>
          </a:solidFill>
          <a:ln/>
        </p:spPr>
      </p:sp>
      <p:sp>
        <p:nvSpPr>
          <p:cNvPr id="20" name="Text 18"/>
          <p:cNvSpPr/>
          <p:nvPr/>
        </p:nvSpPr>
        <p:spPr>
          <a:xfrm>
            <a:off x="1234440" y="5577840"/>
            <a:ext cx="7315200" cy="640080"/>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Small Farms. Shared Resources. Smarter Decisions.</a:t>
            </a:r>
            <a:endParaRPr lang="en-US" sz="1400" dirty="0"/>
          </a:p>
          <a:p>
            <a:pPr indent="0" marL="0">
              <a:buNone/>
            </a:pPr>
            <a:r>
              <a:rPr lang="en-US" sz="1400" dirty="0">
                <a:solidFill>
                  <a:srgbClr val="C9DCCF"/>
                </a:solidFill>
                <a:latin typeface="Segoe UI" pitchFamily="34" charset="0"/>
                <a:ea typeface="Segoe UI" pitchFamily="34" charset="-122"/>
                <a:cs typeface="Segoe UI" pitchFamily="34" charset="-120"/>
              </a:rPr>
              <a:t>The platform recommends. The farmer decides.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AgriCluster — Small Farms. Shared Resources. Smarter Decisions.</dc:title>
  <dc:subject>PptxGenJS Presentation</dc:subject>
  <dc:creator>AgriCluster team</dc:creator>
  <cp:lastModifiedBy>AgriCluster team</cp:lastModifiedBy>
  <cp:revision>1</cp:revision>
  <dcterms:created xsi:type="dcterms:W3CDTF">2026-09-27T17:51:57Z</dcterms:created>
  <dcterms:modified xsi:type="dcterms:W3CDTF">2026-09-27T17:51:57Z</dcterms:modified>
</cp:coreProperties>
</file>