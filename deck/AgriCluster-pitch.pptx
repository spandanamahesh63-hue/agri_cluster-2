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AgriCluster helps a small farmer make the season's big decisions: which crop, which method, how much to invest, and who to sell to. It connects nearby farms into one cluster that shares machinery, labour, expertise and market access. Right crop, right technology, right resource, right investment, right support. On the phone is the working prototype: Spandana's dashboard, a farmer with 1 acre near Chamarajanagara.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Indian agriculture is dominated by small holdings. On a small farm, every decision is taken alone: irrigation, spraying, when to harvest. Machinery and labour are hired farm by farm, so everyone competes for the same tractor in the same week. Information arrives late or in a form that doesn't say what to do. At harvest, small lots mean weak bargaining power. Our demonstration cluster has 128 farmers on 312 acres, about 2.4 acres each. [Optional: add a national figure on small and marginal holdings from the Agriculture Census, after verifying the latest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smart-farming tools each solve one piece of the problem, and almost all of them are designed around a single farm. A weather app tells you it may rain but not what to do about today's irrigation. A sensor kit per farm is hard to justify on two acres. Rental apps find a tractor but can't see that fourteen farms need one on the same day. Market platforms list a crop but don't pool small lots into what buyers need. Nothing coordinates the farms around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has three parts. First, guide the farmer through the decisions that shape a season: crop, method, investment and plan, with every suggestion explained. Second, connect the farmer to the people and resources around them: machinery and technology providers, labour, experts, community groups and buyers. Third, coordinate what is shared, so small lots and scarce tractors are planned across the cluster. The map shows our demonstration cluster: 128 farms in six villages. One principle runs through everything: the platform recommends, the farmer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heart of AgriCluster is the farmer's journey, from farm information to a buyer. Here is Spandana, from our demo. She has 1 acre near Chamarajanagara, red soil, drip irrigation and 1.5 lakh rupees to invest. After a few questions, AgriCluster ranks crops for her land and budget; tomato is the best match, and the card explains why. It then shows only the methods that suit tomato on her farm; precision farming fits her drip and solar. It splits her budget across the season and suggests renting the tractor and sprayer rather than buying them. It builds a calendar to her first harvest around 4 October, and matches the labour, experts and support she will need. At harvest, she lists 2,000 kilograms of Grade A tomato, choosing what buyers can see. A buyer requests, and she decides. Every figure is an indicative range, never a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season is running, the same approach continues day to day. AgriCluster combines farm and crop data, soil moisture, weather, water and energy, machinery, labour, experts and market demand. For one farmer, it produces a suggestion that explains itself, as on the right: rain is 82 percent likely tonight and Field 1 already has enough moisture, so delaying irrigation by a day could save about 15,000 litres of water. Across the cluster the same signals become patterns a coordinator can act on: 24 farms about to irrigate before rain, 6 tomato farms under stress, 14 tractor requests for 9 tractors, and 42 tonnes of tomato coming against 35 tonnes of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has seven connected roles: farmer, buyer, machinery and technology owner, labour, expert, community organiser and cluster manager. They all work on the same shared records, and every request and reply sends a notification to the other side. Privacy is built in: a buyer sees only what the farmer chose to share on a listing, as on this screen, never her phone number or finances. [If showing the live demo, switch now: open the prototype and use the Guided demo button. It walks through all 21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measure impact against a baseline, not promise it. The pilot targets are 15 to 20 percent less avoidable water use, 10 to 15 percent better input efficiency, 10 percent less crop loss, and 5 to 10 percent better market realisation. These are illustrative goals, not guaranteed outcomes. The prototype already shows the mechanism: on a single acre, one accepted suggestion avoids about 15,000 litres of water; the cluster sees 42 tonnes of tomato against 35 tonnes of demand a week ahead; and a tractor shortage is visible a day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follows coordination. Cluster organisations such as FPOs pay a subscription for the cluster layer. The equipment marketplace earns a commission on completed bookings. Expert services and market linkage earn a commission or fee when they create value, and institutions can pay for implementation and cluster analytics. We keep the start simple: the pilot needs only the cluster subscription and the marketplace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is one cluster of more than 100 farmers on more than 250 acres. We measure a baseline season first, recording water, energy, input costs, crop loss, prices and machinery use. Then farmers use AgriCluster for a season and we record the same measures the same way. We report against the targets and only then decide on expanding to more clusters. We also track farmer adoption, because a suggestion that isn't used has no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scales from one farm to a local cluster, then district clusters, multiple regions and a larger network. What scales is the intelligence and coordination layer; the farms stay small. We are simulation-first: the platform runs today on farmer input and shared sensors, and real sensors and data feeds plug into the same interfaces later. Every new cluster reuses the same engine, roles and screens, and brings more buyers, providers and experts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vision is a network of intelligent agricultural clusters across India. Today, farms, information, resources, decisions and markets are fragmented. With AgriCluster they are connected: shared resources, integrated data, cluster intelligence and coordinated decisions and markets. The result is more efficient, more resilient clusters, where farmers keep the decisions and technology does the coordinating. Small farms, shared resources, smarter decisions.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021"/>
        </a:solidFill>
      </p:bgPr>
    </p:bg>
    <p:spTree>
      <p:nvGrpSpPr>
        <p:cNvPr id="1" name=""/>
        <p:cNvGrpSpPr/>
        <p:nvPr/>
      </p:nvGrpSpPr>
      <p:grpSpPr>
        <a:xfrm>
          <a:off x="0" y="0"/>
          <a:ext cx="0" cy="0"/>
          <a:chOff x="0" y="0"/>
          <a:chExt cx="0" cy="0"/>
        </a:xfrm>
      </p:grpSpPr>
      <p:sp>
        <p:nvSpPr>
          <p:cNvPr id="2" name="Shape 0"/>
          <p:cNvSpPr/>
          <p:nvPr/>
        </p:nvSpPr>
        <p:spPr>
          <a:xfrm>
            <a:off x="731520" y="731520"/>
            <a:ext cx="731520" cy="731520"/>
          </a:xfrm>
          <a:prstGeom prst="roundRect">
            <a:avLst>
              <a:gd name="adj" fmla="val 22000"/>
            </a:avLst>
          </a:prstGeom>
          <a:solidFill>
            <a:srgbClr val="1B5538"/>
          </a:solidFill>
          <a:ln/>
        </p:spPr>
      </p:sp>
      <p:sp>
        <p:nvSpPr>
          <p:cNvPr id="3" name="Shape 1"/>
          <p:cNvSpPr/>
          <p:nvPr/>
        </p:nvSpPr>
        <p:spPr>
          <a:xfrm>
            <a:off x="960120" y="971550"/>
            <a:ext cx="274320" cy="251460"/>
          </a:xfrm>
          <a:prstGeom prst="triangle">
            <a:avLst/>
          </a:prstGeom>
          <a:ln w="19050">
            <a:solidFill>
              <a:srgbClr val="AFD1BB"/>
            </a:solidFill>
            <a:prstDash val="solid"/>
          </a:ln>
        </p:spPr>
      </p:sp>
      <p:sp>
        <p:nvSpPr>
          <p:cNvPr id="4" name="Shape 2"/>
          <p:cNvSpPr/>
          <p:nvPr/>
        </p:nvSpPr>
        <p:spPr>
          <a:xfrm>
            <a:off x="1028700" y="902970"/>
            <a:ext cx="137160" cy="137160"/>
          </a:xfrm>
          <a:prstGeom prst="ellipse">
            <a:avLst/>
          </a:prstGeom>
          <a:solidFill>
            <a:srgbClr val="FFFFFF"/>
          </a:solidFill>
          <a:ln/>
        </p:spPr>
      </p:sp>
      <p:sp>
        <p:nvSpPr>
          <p:cNvPr id="5" name="Shape 3"/>
          <p:cNvSpPr/>
          <p:nvPr/>
        </p:nvSpPr>
        <p:spPr>
          <a:xfrm>
            <a:off x="891540" y="1154430"/>
            <a:ext cx="137160" cy="137160"/>
          </a:xfrm>
          <a:prstGeom prst="ellipse">
            <a:avLst/>
          </a:prstGeom>
          <a:solidFill>
            <a:srgbClr val="FFFFFF"/>
          </a:solidFill>
          <a:ln/>
        </p:spPr>
      </p:sp>
      <p:sp>
        <p:nvSpPr>
          <p:cNvPr id="6" name="Shape 4"/>
          <p:cNvSpPr/>
          <p:nvPr/>
        </p:nvSpPr>
        <p:spPr>
          <a:xfrm>
            <a:off x="1165860" y="1154430"/>
            <a:ext cx="137160" cy="137160"/>
          </a:xfrm>
          <a:prstGeom prst="ellipse">
            <a:avLst/>
          </a:prstGeom>
          <a:solidFill>
            <a:srgbClr val="AFD1BB"/>
          </a:solidFill>
          <a:ln/>
        </p:spPr>
      </p:sp>
      <p:sp>
        <p:nvSpPr>
          <p:cNvPr id="7" name="Text 5"/>
          <p:cNvSpPr/>
          <p:nvPr/>
        </p:nvSpPr>
        <p:spPr>
          <a:xfrm>
            <a:off x="731520" y="1920240"/>
            <a:ext cx="6858000" cy="100584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AgriCluster</a:t>
            </a:r>
            <a:endParaRPr lang="en-US" sz="6000" dirty="0"/>
          </a:p>
        </p:txBody>
      </p:sp>
      <p:sp>
        <p:nvSpPr>
          <p:cNvPr id="8" name="Text 6"/>
          <p:cNvSpPr/>
          <p:nvPr/>
        </p:nvSpPr>
        <p:spPr>
          <a:xfrm>
            <a:off x="731520" y="2926080"/>
            <a:ext cx="7498080" cy="822960"/>
          </a:xfrm>
          <a:prstGeom prst="rect">
            <a:avLst/>
          </a:prstGeom>
          <a:noFill/>
          <a:ln/>
        </p:spPr>
        <p:txBody>
          <a:bodyPr wrap="square" lIns="0" tIns="0" rIns="0" bIns="0" rtlCol="0" anchor="t"/>
          <a:lstStyle/>
          <a:p>
            <a:pPr indent="0" marL="0">
              <a:buNone/>
            </a:pPr>
            <a:r>
              <a:rPr lang="en-US" sz="2200" dirty="0">
                <a:solidFill>
                  <a:srgbClr val="D6E8DC"/>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2200" dirty="0"/>
          </a:p>
        </p:txBody>
      </p:sp>
      <p:sp>
        <p:nvSpPr>
          <p:cNvPr id="9" name="Text 7"/>
          <p:cNvSpPr/>
          <p:nvPr/>
        </p:nvSpPr>
        <p:spPr>
          <a:xfrm>
            <a:off x="731520" y="3703320"/>
            <a:ext cx="6583680" cy="1280160"/>
          </a:xfrm>
          <a:prstGeom prst="rect">
            <a:avLst/>
          </a:prstGeom>
          <a:noFill/>
          <a:ln/>
        </p:spPr>
        <p:txBody>
          <a:bodyPr wrap="square" lIns="0" tIns="0" rIns="0" bIns="0" rtlCol="0" anchor="t"/>
          <a:lstStyle/>
          <a:p>
            <a:pPr indent="0" marL="0">
              <a:lnSpc>
                <a:spcPct val="110000"/>
              </a:lnSpc>
              <a:buNone/>
            </a:pPr>
            <a:r>
              <a:rPr lang="en-US" sz="1700" dirty="0">
                <a:solidFill>
                  <a:srgbClr val="C9DCCF"/>
                </a:solidFill>
                <a:latin typeface="Segoe UI" pitchFamily="34" charset="0"/>
                <a:ea typeface="Segoe UI" pitchFamily="34" charset="-122"/>
                <a:cs typeface="Segoe UI" pitchFamily="34" charset="-120"/>
              </a:rPr>
              <a:t>Guides a small farmer from farm information to a buyer: the right crop, method, investment and support, with machinery, labour, experts and buyers shared across a cluster of nearby farms.</a:t>
            </a:r>
            <a:endParaRPr lang="en-US" sz="1700" dirty="0"/>
          </a:p>
        </p:txBody>
      </p:sp>
      <p:sp>
        <p:nvSpPr>
          <p:cNvPr id="10" name="Text 8"/>
          <p:cNvSpPr/>
          <p:nvPr/>
        </p:nvSpPr>
        <p:spPr>
          <a:xfrm>
            <a:off x="731520" y="6035040"/>
            <a:ext cx="7315200" cy="274320"/>
          </a:xfrm>
          <a:prstGeom prst="rect">
            <a:avLst/>
          </a:prstGeom>
          <a:noFill/>
          <a:ln/>
        </p:spPr>
        <p:txBody>
          <a:bodyPr wrap="square" lIns="0" tIns="0" rIns="0" bIns="0" rtlCol="0" anchor="ctr"/>
          <a:lstStyle/>
          <a:p>
            <a:pPr indent="0" marL="0">
              <a:buNone/>
            </a:pPr>
            <a:r>
              <a:rPr lang="en-US" sz="1200" dirty="0">
                <a:solidFill>
                  <a:srgbClr val="9DB8A7"/>
                </a:solidFill>
                <a:latin typeface="Segoe UI" pitchFamily="34" charset="0"/>
                <a:ea typeface="Segoe UI" pitchFamily="34" charset="-122"/>
                <a:cs typeface="Segoe UI" pitchFamily="34" charset="-120"/>
              </a:rPr>
              <a:t>Competition prototype  ·  Demonstration cluster: Mysuru Vegetable Cluster, Karnataka</a:t>
            </a:r>
            <a:endParaRPr lang="en-US" sz="1200" dirty="0"/>
          </a:p>
        </p:txBody>
      </p:sp>
      <p:sp>
        <p:nvSpPr>
          <p:cNvPr id="11" name="Shape 9"/>
          <p:cNvSpPr/>
          <p:nvPr/>
        </p:nvSpPr>
        <p:spPr>
          <a:xfrm>
            <a:off x="8732520" y="658368"/>
            <a:ext cx="2681489" cy="5632704"/>
          </a:xfrm>
          <a:prstGeom prst="roundRect">
            <a:avLst>
              <a:gd name="adj" fmla="val 8525"/>
            </a:avLst>
          </a:prstGeom>
          <a:solidFill>
            <a:srgbClr val="0A2217"/>
          </a:solidFill>
          <a:ln w="12700">
            <a:solidFill>
              <a:srgbClr val="2E5A45"/>
            </a:solidFill>
            <a:prstDash val="solid"/>
          </a:ln>
        </p:spPr>
      </p:sp>
      <p:pic>
        <p:nvPicPr>
          <p:cNvPr id="12" name="Image 0" descr="assets/farmer-mobile.png">    </p:cNvPr>
          <p:cNvPicPr>
            <a:picLocks noChangeAspect="1"/>
          </p:cNvPicPr>
          <p:nvPr/>
        </p:nvPicPr>
        <p:blipFill>
          <a:blip r:embed="rId1"/>
          <a:stretch>
            <a:fillRect/>
          </a:stretch>
        </p:blipFill>
        <p:spPr>
          <a:xfrm>
            <a:off x="8805672" y="73152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02   PROBLEM</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Small farms face big decisions alone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2 / 12</a:t>
            </a:r>
            <a:endParaRPr lang="en-US" sz="1000" dirty="0"/>
          </a:p>
        </p:txBody>
      </p:sp>
      <p:sp>
        <p:nvSpPr>
          <p:cNvPr id="6" name="Shape 4"/>
          <p:cNvSpPr/>
          <p:nvPr/>
        </p:nvSpPr>
        <p:spPr>
          <a:xfrm>
            <a:off x="548640" y="1837944"/>
            <a:ext cx="54864" cy="749808"/>
          </a:xfrm>
          <a:prstGeom prst="rect">
            <a:avLst/>
          </a:prstGeom>
          <a:solidFill>
            <a:srgbClr val="1B5538"/>
          </a:solidFill>
          <a:ln/>
        </p:spPr>
      </p:sp>
      <p:sp>
        <p:nvSpPr>
          <p:cNvPr id="7" name="Text 5"/>
          <p:cNvSpPr/>
          <p:nvPr/>
        </p:nvSpPr>
        <p:spPr>
          <a:xfrm>
            <a:off x="777240" y="1783080"/>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decisions</a:t>
            </a:r>
            <a:endParaRPr lang="en-US" sz="1700" dirty="0"/>
          </a:p>
        </p:txBody>
      </p:sp>
      <p:sp>
        <p:nvSpPr>
          <p:cNvPr id="8" name="Text 6"/>
          <p:cNvSpPr/>
          <p:nvPr/>
        </p:nvSpPr>
        <p:spPr>
          <a:xfrm>
            <a:off x="777240" y="2130552"/>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Each farmer decides alone when to irrigate, spray and harvest, often without timely data.</a:t>
            </a:r>
            <a:endParaRPr lang="en-US" sz="1400" dirty="0"/>
          </a:p>
        </p:txBody>
      </p:sp>
      <p:sp>
        <p:nvSpPr>
          <p:cNvPr id="9" name="Shape 7"/>
          <p:cNvSpPr/>
          <p:nvPr/>
        </p:nvSpPr>
        <p:spPr>
          <a:xfrm>
            <a:off x="548640" y="2916936"/>
            <a:ext cx="54864" cy="749808"/>
          </a:xfrm>
          <a:prstGeom prst="rect">
            <a:avLst/>
          </a:prstGeom>
          <a:solidFill>
            <a:srgbClr val="1B5538"/>
          </a:solidFill>
          <a:ln/>
        </p:spPr>
      </p:sp>
      <p:sp>
        <p:nvSpPr>
          <p:cNvPr id="10" name="Text 8"/>
          <p:cNvSpPr/>
          <p:nvPr/>
        </p:nvSpPr>
        <p:spPr>
          <a:xfrm>
            <a:off x="777240" y="2862072"/>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resources</a:t>
            </a:r>
            <a:endParaRPr lang="en-US" sz="1700" dirty="0"/>
          </a:p>
        </p:txBody>
      </p:sp>
      <p:sp>
        <p:nvSpPr>
          <p:cNvPr id="11" name="Text 9"/>
          <p:cNvSpPr/>
          <p:nvPr/>
        </p:nvSpPr>
        <p:spPr>
          <a:xfrm>
            <a:off x="777240" y="3209544"/>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Tractors, labour and technology are hired or bought farm by farm, and everyone needs them in the same week.</a:t>
            </a:r>
            <a:endParaRPr lang="en-US" sz="1400" dirty="0"/>
          </a:p>
        </p:txBody>
      </p:sp>
      <p:sp>
        <p:nvSpPr>
          <p:cNvPr id="12" name="Shape 10"/>
          <p:cNvSpPr/>
          <p:nvPr/>
        </p:nvSpPr>
        <p:spPr>
          <a:xfrm>
            <a:off x="548640" y="3995928"/>
            <a:ext cx="54864" cy="749808"/>
          </a:xfrm>
          <a:prstGeom prst="rect">
            <a:avLst/>
          </a:prstGeom>
          <a:solidFill>
            <a:srgbClr val="1B5538"/>
          </a:solidFill>
          <a:ln/>
        </p:spPr>
      </p:sp>
      <p:sp>
        <p:nvSpPr>
          <p:cNvPr id="13" name="Text 11"/>
          <p:cNvSpPr/>
          <p:nvPr/>
        </p:nvSpPr>
        <p:spPr>
          <a:xfrm>
            <a:off x="777240" y="3941064"/>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information</a:t>
            </a:r>
            <a:endParaRPr lang="en-US" sz="1700" dirty="0"/>
          </a:p>
        </p:txBody>
      </p:sp>
      <p:sp>
        <p:nvSpPr>
          <p:cNvPr id="14" name="Text 12"/>
          <p:cNvSpPr/>
          <p:nvPr/>
        </p:nvSpPr>
        <p:spPr>
          <a:xfrm>
            <a:off x="777240" y="4288536"/>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Weather, soil and crop signals rarely reach the field in a form a farmer can act on today.</a:t>
            </a:r>
            <a:endParaRPr lang="en-US" sz="1400" dirty="0"/>
          </a:p>
        </p:txBody>
      </p:sp>
      <p:sp>
        <p:nvSpPr>
          <p:cNvPr id="15" name="Shape 13"/>
          <p:cNvSpPr/>
          <p:nvPr/>
        </p:nvSpPr>
        <p:spPr>
          <a:xfrm>
            <a:off x="548640" y="5074920"/>
            <a:ext cx="54864" cy="749808"/>
          </a:xfrm>
          <a:prstGeom prst="rect">
            <a:avLst/>
          </a:prstGeom>
          <a:solidFill>
            <a:srgbClr val="1B5538"/>
          </a:solidFill>
          <a:ln/>
        </p:spPr>
      </p:sp>
      <p:sp>
        <p:nvSpPr>
          <p:cNvPr id="16" name="Text 14"/>
          <p:cNvSpPr/>
          <p:nvPr/>
        </p:nvSpPr>
        <p:spPr>
          <a:xfrm>
            <a:off x="777240" y="5020056"/>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markets</a:t>
            </a:r>
            <a:endParaRPr lang="en-US" sz="1700" dirty="0"/>
          </a:p>
        </p:txBody>
      </p:sp>
      <p:sp>
        <p:nvSpPr>
          <p:cNvPr id="17" name="Text 15"/>
          <p:cNvSpPr/>
          <p:nvPr/>
        </p:nvSpPr>
        <p:spPr>
          <a:xfrm>
            <a:off x="777240" y="5367528"/>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Small lots mean weak bargaining power, uncertain buyers and avoidable post-harvest loss.</a:t>
            </a:r>
            <a:endParaRPr lang="en-US" sz="1400" dirty="0"/>
          </a:p>
        </p:txBody>
      </p:sp>
      <p:sp>
        <p:nvSpPr>
          <p:cNvPr id="18" name="Shape 16"/>
          <p:cNvSpPr/>
          <p:nvPr/>
        </p:nvSpPr>
        <p:spPr>
          <a:xfrm>
            <a:off x="7498080" y="1783080"/>
            <a:ext cx="4160520" cy="4160520"/>
          </a:xfrm>
          <a:prstGeom prst="roundRect">
            <a:avLst>
              <a:gd name="adj" fmla="val 2637"/>
            </a:avLst>
          </a:prstGeom>
          <a:solidFill>
            <a:srgbClr val="E8F3EC"/>
          </a:solidFill>
          <a:ln/>
        </p:spPr>
      </p:sp>
      <p:sp>
        <p:nvSpPr>
          <p:cNvPr id="19" name="Text 17"/>
          <p:cNvSpPr/>
          <p:nvPr/>
        </p:nvSpPr>
        <p:spPr>
          <a:xfrm>
            <a:off x="7818120" y="2057400"/>
            <a:ext cx="35661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OUR DEMONSTRATION CLUSTER</a:t>
            </a:r>
            <a:endParaRPr lang="en-US" sz="1000" dirty="0"/>
          </a:p>
        </p:txBody>
      </p:sp>
      <p:sp>
        <p:nvSpPr>
          <p:cNvPr id="20" name="Text 18"/>
          <p:cNvSpPr/>
          <p:nvPr/>
        </p:nvSpPr>
        <p:spPr>
          <a:xfrm>
            <a:off x="7818120" y="242316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128</a:t>
            </a:r>
            <a:endParaRPr lang="en-US" sz="4000" dirty="0"/>
          </a:p>
        </p:txBody>
      </p:sp>
      <p:sp>
        <p:nvSpPr>
          <p:cNvPr id="21" name="Text 19"/>
          <p:cNvSpPr/>
          <p:nvPr/>
        </p:nvSpPr>
        <p:spPr>
          <a:xfrm>
            <a:off x="7818120" y="308152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farmers</a:t>
            </a:r>
            <a:endParaRPr lang="en-US" sz="1400" dirty="0"/>
          </a:p>
        </p:txBody>
      </p:sp>
      <p:sp>
        <p:nvSpPr>
          <p:cNvPr id="22" name="Text 20"/>
          <p:cNvSpPr/>
          <p:nvPr/>
        </p:nvSpPr>
        <p:spPr>
          <a:xfrm>
            <a:off x="7818120" y="342900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312</a:t>
            </a:r>
            <a:endParaRPr lang="en-US" sz="4000" dirty="0"/>
          </a:p>
        </p:txBody>
      </p:sp>
      <p:sp>
        <p:nvSpPr>
          <p:cNvPr id="23" name="Text 21"/>
          <p:cNvSpPr/>
          <p:nvPr/>
        </p:nvSpPr>
        <p:spPr>
          <a:xfrm>
            <a:off x="7818120" y="408736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acres, about 2.4 acres per farm</a:t>
            </a:r>
            <a:endParaRPr lang="en-US" sz="1400" dirty="0"/>
          </a:p>
        </p:txBody>
      </p:sp>
      <p:sp>
        <p:nvSpPr>
          <p:cNvPr id="24" name="Text 22"/>
          <p:cNvSpPr/>
          <p:nvPr/>
        </p:nvSpPr>
        <p:spPr>
          <a:xfrm>
            <a:off x="7818120" y="4617720"/>
            <a:ext cx="3566160" cy="274320"/>
          </a:xfrm>
          <a:prstGeom prst="rect">
            <a:avLst/>
          </a:prstGeom>
          <a:noFill/>
          <a:ln/>
        </p:spPr>
        <p:txBody>
          <a:bodyPr wrap="square" lIns="0" tIns="0" rIns="0" bIns="0" rtlCol="0" anchor="ctr"/>
          <a:lstStyle/>
          <a:p>
            <a:pPr indent="0" marL="0">
              <a:buNone/>
            </a:pPr>
            <a:r>
              <a:rPr lang="en-US" sz="1300" dirty="0">
                <a:solidFill>
                  <a:srgbClr val="56615A"/>
                </a:solidFill>
                <a:latin typeface="Segoe UI" pitchFamily="34" charset="0"/>
                <a:ea typeface="Segoe UI" pitchFamily="34" charset="-122"/>
                <a:cs typeface="Segoe UI" pitchFamily="34" charset="-120"/>
              </a:rPr>
              <a:t>Tomato · Chilli · Onion · Leafy vegetables</a:t>
            </a:r>
            <a:endParaRPr lang="en-US" sz="1300" dirty="0"/>
          </a:p>
        </p:txBody>
      </p:sp>
      <p:sp>
        <p:nvSpPr>
          <p:cNvPr id="25" name="Text 23"/>
          <p:cNvSpPr/>
          <p:nvPr/>
        </p:nvSpPr>
        <p:spPr>
          <a:xfrm>
            <a:off x="7818120" y="5440680"/>
            <a:ext cx="35661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Fictional demonstration data, Mysuru district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03   WHY EXISTING SOLUTIONS FALL SHORT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Smart-farming tools are built for one farm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3 / 12</a:t>
            </a:r>
            <a:endParaRPr lang="en-US" sz="1000" dirty="0"/>
          </a:p>
        </p:txBody>
      </p:sp>
      <p:sp>
        <p:nvSpPr>
          <p:cNvPr id="6" name="Shape 4"/>
          <p:cNvSpPr/>
          <p:nvPr/>
        </p:nvSpPr>
        <p:spPr>
          <a:xfrm>
            <a:off x="548640" y="1783080"/>
            <a:ext cx="3520440" cy="1645920"/>
          </a:xfrm>
          <a:prstGeom prst="roundRect">
            <a:avLst>
              <a:gd name="adj" fmla="val 4444"/>
            </a:avLst>
          </a:prstGeom>
          <a:solidFill>
            <a:srgbClr val="FFFFFF"/>
          </a:solidFill>
          <a:ln w="9525">
            <a:solidFill>
              <a:srgbClr val="E3E5DF"/>
            </a:solidFill>
            <a:prstDash val="solid"/>
          </a:ln>
        </p:spPr>
      </p:sp>
      <p:sp>
        <p:nvSpPr>
          <p:cNvPr id="7" name="Text 5"/>
          <p:cNvSpPr/>
          <p:nvPr/>
        </p:nvSpPr>
        <p:spPr>
          <a:xfrm>
            <a:off x="77724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Weather apps</a:t>
            </a:r>
            <a:endParaRPr lang="en-US" sz="1600" dirty="0"/>
          </a:p>
        </p:txBody>
      </p:sp>
      <p:sp>
        <p:nvSpPr>
          <p:cNvPr id="8" name="Text 6"/>
          <p:cNvSpPr/>
          <p:nvPr/>
        </p:nvSpPr>
        <p:spPr>
          <a:xfrm>
            <a:off x="77724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Tell you it may rain.</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What that means for today's irrigation.</a:t>
            </a:r>
            <a:endParaRPr lang="en-US" sz="1300" dirty="0"/>
          </a:p>
        </p:txBody>
      </p:sp>
      <p:sp>
        <p:nvSpPr>
          <p:cNvPr id="9" name="Shape 7"/>
          <p:cNvSpPr/>
          <p:nvPr/>
        </p:nvSpPr>
        <p:spPr>
          <a:xfrm>
            <a:off x="4297680" y="1783080"/>
            <a:ext cx="3520440" cy="1645920"/>
          </a:xfrm>
          <a:prstGeom prst="roundRect">
            <a:avLst>
              <a:gd name="adj" fmla="val 4444"/>
            </a:avLst>
          </a:prstGeom>
          <a:solidFill>
            <a:srgbClr val="FFFFFF"/>
          </a:solidFill>
          <a:ln w="9525">
            <a:solidFill>
              <a:srgbClr val="E3E5DF"/>
            </a:solidFill>
            <a:prstDash val="solid"/>
          </a:ln>
        </p:spPr>
      </p:sp>
      <p:sp>
        <p:nvSpPr>
          <p:cNvPr id="10" name="Text 8"/>
          <p:cNvSpPr/>
          <p:nvPr/>
        </p:nvSpPr>
        <p:spPr>
          <a:xfrm>
            <a:off x="452628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Farm IoT dashboards</a:t>
            </a:r>
            <a:endParaRPr lang="en-US" sz="1600" dirty="0"/>
          </a:p>
        </p:txBody>
      </p:sp>
      <p:sp>
        <p:nvSpPr>
          <p:cNvPr id="11" name="Text 9"/>
          <p:cNvSpPr/>
          <p:nvPr/>
        </p:nvSpPr>
        <p:spPr>
          <a:xfrm>
            <a:off x="452628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Detailed field data.</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 sensor kit per 2-acre farm is hard to justify.</a:t>
            </a:r>
            <a:endParaRPr lang="en-US" sz="1300" dirty="0"/>
          </a:p>
        </p:txBody>
      </p:sp>
      <p:sp>
        <p:nvSpPr>
          <p:cNvPr id="12" name="Shape 10"/>
          <p:cNvSpPr/>
          <p:nvPr/>
        </p:nvSpPr>
        <p:spPr>
          <a:xfrm>
            <a:off x="8046720" y="1783080"/>
            <a:ext cx="3520440" cy="1645920"/>
          </a:xfrm>
          <a:prstGeom prst="roundRect">
            <a:avLst>
              <a:gd name="adj" fmla="val 4444"/>
            </a:avLst>
          </a:prstGeom>
          <a:solidFill>
            <a:srgbClr val="FFFFFF"/>
          </a:solidFill>
          <a:ln w="9525">
            <a:solidFill>
              <a:srgbClr val="E3E5DF"/>
            </a:solidFill>
            <a:prstDash val="solid"/>
          </a:ln>
        </p:spPr>
      </p:sp>
      <p:sp>
        <p:nvSpPr>
          <p:cNvPr id="13" name="Text 11"/>
          <p:cNvSpPr/>
          <p:nvPr/>
        </p:nvSpPr>
        <p:spPr>
          <a:xfrm>
            <a:off x="827532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Crop advisory apps</a:t>
            </a:r>
            <a:endParaRPr lang="en-US" sz="1600" dirty="0"/>
          </a:p>
        </p:txBody>
      </p:sp>
      <p:sp>
        <p:nvSpPr>
          <p:cNvPr id="14" name="Text 12"/>
          <p:cNvSpPr/>
          <p:nvPr/>
        </p:nvSpPr>
        <p:spPr>
          <a:xfrm>
            <a:off x="827532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General crop guidance.</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Your field's actual condition.</a:t>
            </a:r>
            <a:endParaRPr lang="en-US" sz="1300" dirty="0"/>
          </a:p>
        </p:txBody>
      </p:sp>
      <p:sp>
        <p:nvSpPr>
          <p:cNvPr id="15" name="Shape 13"/>
          <p:cNvSpPr/>
          <p:nvPr/>
        </p:nvSpPr>
        <p:spPr>
          <a:xfrm>
            <a:off x="548640" y="3657600"/>
            <a:ext cx="3520440" cy="1645920"/>
          </a:xfrm>
          <a:prstGeom prst="roundRect">
            <a:avLst>
              <a:gd name="adj" fmla="val 4444"/>
            </a:avLst>
          </a:prstGeom>
          <a:solidFill>
            <a:srgbClr val="FFFFFF"/>
          </a:solidFill>
          <a:ln w="9525">
            <a:solidFill>
              <a:srgbClr val="E3E5DF"/>
            </a:solidFill>
            <a:prstDash val="solid"/>
          </a:ln>
        </p:spPr>
      </p:sp>
      <p:sp>
        <p:nvSpPr>
          <p:cNvPr id="16" name="Text 14"/>
          <p:cNvSpPr/>
          <p:nvPr/>
        </p:nvSpPr>
        <p:spPr>
          <a:xfrm>
            <a:off x="77724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Equipment rental</a:t>
            </a:r>
            <a:endParaRPr lang="en-US" sz="1600" dirty="0"/>
          </a:p>
        </p:txBody>
      </p:sp>
      <p:sp>
        <p:nvSpPr>
          <p:cNvPr id="17" name="Text 15"/>
          <p:cNvSpPr/>
          <p:nvPr/>
        </p:nvSpPr>
        <p:spPr>
          <a:xfrm>
            <a:off x="77724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Finding a tractor.</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That 14 farms need one on the same day.</a:t>
            </a:r>
            <a:endParaRPr lang="en-US" sz="1300" dirty="0"/>
          </a:p>
        </p:txBody>
      </p:sp>
      <p:sp>
        <p:nvSpPr>
          <p:cNvPr id="18" name="Shape 16"/>
          <p:cNvSpPr/>
          <p:nvPr/>
        </p:nvSpPr>
        <p:spPr>
          <a:xfrm>
            <a:off x="4297680" y="3657600"/>
            <a:ext cx="3520440" cy="1645920"/>
          </a:xfrm>
          <a:prstGeom prst="roundRect">
            <a:avLst>
              <a:gd name="adj" fmla="val 4444"/>
            </a:avLst>
          </a:prstGeom>
          <a:solidFill>
            <a:srgbClr val="FFFFFF"/>
          </a:solidFill>
          <a:ln w="9525">
            <a:solidFill>
              <a:srgbClr val="E3E5DF"/>
            </a:solidFill>
            <a:prstDash val="solid"/>
          </a:ln>
        </p:spPr>
      </p:sp>
      <p:sp>
        <p:nvSpPr>
          <p:cNvPr id="19" name="Text 17"/>
          <p:cNvSpPr/>
          <p:nvPr/>
        </p:nvSpPr>
        <p:spPr>
          <a:xfrm>
            <a:off x="452628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Market platforms</a:t>
            </a:r>
            <a:endParaRPr lang="en-US" sz="1600" dirty="0"/>
          </a:p>
        </p:txBody>
      </p:sp>
      <p:sp>
        <p:nvSpPr>
          <p:cNvPr id="20" name="Text 18"/>
          <p:cNvSpPr/>
          <p:nvPr/>
        </p:nvSpPr>
        <p:spPr>
          <a:xfrm>
            <a:off x="452628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Listing a crop.</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Pooling small lots into buyer-sized supply.</a:t>
            </a:r>
            <a:endParaRPr lang="en-US" sz="1300" dirty="0"/>
          </a:p>
        </p:txBody>
      </p:sp>
      <p:sp>
        <p:nvSpPr>
          <p:cNvPr id="21" name="Shape 19"/>
          <p:cNvSpPr/>
          <p:nvPr/>
        </p:nvSpPr>
        <p:spPr>
          <a:xfrm>
            <a:off x="8046720" y="3657600"/>
            <a:ext cx="3520440" cy="1645920"/>
          </a:xfrm>
          <a:prstGeom prst="roundRect">
            <a:avLst>
              <a:gd name="adj" fmla="val 4444"/>
            </a:avLst>
          </a:prstGeom>
          <a:solidFill>
            <a:srgbClr val="FFFFFF"/>
          </a:solidFill>
          <a:ln w="9525">
            <a:solidFill>
              <a:srgbClr val="E3E5DF"/>
            </a:solidFill>
            <a:prstDash val="solid"/>
          </a:ln>
        </p:spPr>
      </p:sp>
      <p:sp>
        <p:nvSpPr>
          <p:cNvPr id="22" name="Text 20"/>
          <p:cNvSpPr/>
          <p:nvPr/>
        </p:nvSpPr>
        <p:spPr>
          <a:xfrm>
            <a:off x="827532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AI chatbots</a:t>
            </a:r>
            <a:endParaRPr lang="en-US" sz="1600" dirty="0"/>
          </a:p>
        </p:txBody>
      </p:sp>
      <p:sp>
        <p:nvSpPr>
          <p:cNvPr id="23" name="Text 21"/>
          <p:cNvSpPr/>
          <p:nvPr/>
        </p:nvSpPr>
        <p:spPr>
          <a:xfrm>
            <a:off x="827532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Answering questions.</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The farm data and follow-through behind a decision.</a:t>
            </a:r>
            <a:endParaRPr lang="en-US" sz="1300" dirty="0"/>
          </a:p>
        </p:txBody>
      </p:sp>
      <p:sp>
        <p:nvSpPr>
          <p:cNvPr id="24" name="Text 22"/>
          <p:cNvSpPr/>
          <p:nvPr/>
        </p:nvSpPr>
        <p:spPr>
          <a:xfrm>
            <a:off x="548640" y="5669280"/>
            <a:ext cx="11064240" cy="411480"/>
          </a:xfrm>
          <a:prstGeom prst="rect">
            <a:avLst/>
          </a:prstGeom>
          <a:noFill/>
          <a:ln/>
        </p:spPr>
        <p:txBody>
          <a:bodyPr wrap="square" lIns="0" tIns="0" rIns="0" bIns="0" rtlCol="0" anchor="ctr"/>
          <a:lstStyle/>
          <a:p>
            <a:pPr indent="0" marL="0">
              <a:buNone/>
            </a:pPr>
            <a:r>
              <a:rPr lang="en-US" sz="1800" dirty="0">
                <a:solidFill>
                  <a:srgbClr val="1B5538"/>
                </a:solidFill>
                <a:latin typeface="Segoe UI Semibold" pitchFamily="34" charset="0"/>
                <a:ea typeface="Segoe UI Semibold" pitchFamily="34" charset="-122"/>
                <a:cs typeface="Segoe UI Semibold" pitchFamily="34" charset="-120"/>
              </a:rPr>
              <a:t>Each tool solves one piece. None coordinates the farms around it.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04   SOLUTION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AgriCluster makes the cluster smart, not every farm</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4 / 12</a:t>
            </a:r>
            <a:endParaRPr lang="en-US" sz="1000" dirty="0"/>
          </a:p>
        </p:txBody>
      </p:sp>
      <p:sp>
        <p:nvSpPr>
          <p:cNvPr id="6" name="Text 4"/>
          <p:cNvSpPr/>
          <p:nvPr/>
        </p:nvSpPr>
        <p:spPr>
          <a:xfrm>
            <a:off x="548640" y="1737360"/>
            <a:ext cx="5486400" cy="640080"/>
          </a:xfrm>
          <a:prstGeom prst="rect">
            <a:avLst/>
          </a:prstGeom>
          <a:noFill/>
          <a:ln/>
        </p:spPr>
        <p:txBody>
          <a:bodyPr wrap="square" lIns="0" tIns="0" rIns="0" bIns="0" rtlCol="0" anchor="t"/>
          <a:lstStyle/>
          <a:p>
            <a:pPr indent="0" marL="0">
              <a:spcAft>
                <a:spcPts val="600"/>
              </a:spcAft>
              <a:buNone/>
            </a:pPr>
            <a:r>
              <a:rPr lang="en-US" sz="1700" dirty="0">
                <a:solidFill>
                  <a:srgbClr val="56615A"/>
                </a:solidFill>
                <a:latin typeface="Segoe UI" pitchFamily="34" charset="0"/>
                <a:ea typeface="Segoe UI" pitchFamily="34" charset="-122"/>
                <a:cs typeface="Segoe UI" pitchFamily="34" charset="-120"/>
              </a:rPr>
              <a:t>A shared intelligence and coordination layer for a group of neighbouring farms.</a:t>
            </a:r>
            <a:endParaRPr lang="en-US" sz="1700" dirty="0"/>
          </a:p>
        </p:txBody>
      </p:sp>
      <p:sp>
        <p:nvSpPr>
          <p:cNvPr id="7" name="Text 5"/>
          <p:cNvSpPr/>
          <p:nvPr/>
        </p:nvSpPr>
        <p:spPr>
          <a:xfrm>
            <a:off x="548640" y="251460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Guide</a:t>
            </a:r>
            <a:endParaRPr lang="en-US" sz="1700" dirty="0"/>
          </a:p>
        </p:txBody>
      </p:sp>
      <p:sp>
        <p:nvSpPr>
          <p:cNvPr id="8" name="Text 6"/>
          <p:cNvSpPr/>
          <p:nvPr/>
        </p:nvSpPr>
        <p:spPr>
          <a:xfrm>
            <a:off x="2148840" y="251460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From farm details to the right crop, method, investment and cropping plan, with every suggestion explained.</a:t>
            </a:r>
            <a:endParaRPr lang="en-US" sz="1400" dirty="0"/>
          </a:p>
        </p:txBody>
      </p:sp>
      <p:sp>
        <p:nvSpPr>
          <p:cNvPr id="9" name="Text 7"/>
          <p:cNvSpPr/>
          <p:nvPr/>
        </p:nvSpPr>
        <p:spPr>
          <a:xfrm>
            <a:off x="548640" y="338328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Connect</a:t>
            </a:r>
            <a:endParaRPr lang="en-US" sz="1700" dirty="0"/>
          </a:p>
        </p:txBody>
      </p:sp>
      <p:sp>
        <p:nvSpPr>
          <p:cNvPr id="10" name="Text 8"/>
          <p:cNvSpPr/>
          <p:nvPr/>
        </p:nvSpPr>
        <p:spPr>
          <a:xfrm>
            <a:off x="2148840" y="338328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Farmers, machinery and technology providers, labour, experts, community groups and buyers in one cluster.</a:t>
            </a:r>
            <a:endParaRPr lang="en-US" sz="1400" dirty="0"/>
          </a:p>
        </p:txBody>
      </p:sp>
      <p:sp>
        <p:nvSpPr>
          <p:cNvPr id="11" name="Text 9"/>
          <p:cNvSpPr/>
          <p:nvPr/>
        </p:nvSpPr>
        <p:spPr>
          <a:xfrm>
            <a:off x="548640" y="425196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Coordinate</a:t>
            </a:r>
            <a:endParaRPr lang="en-US" sz="1700" dirty="0"/>
          </a:p>
        </p:txBody>
      </p:sp>
      <p:sp>
        <p:nvSpPr>
          <p:cNvPr id="12" name="Text 10"/>
          <p:cNvSpPr/>
          <p:nvPr/>
        </p:nvSpPr>
        <p:spPr>
          <a:xfrm>
            <a:off x="2148840" y="425196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Shared resources, pooled harvests matched to buyer demand, and a notification for every request and reply.</a:t>
            </a:r>
            <a:endParaRPr lang="en-US" sz="1400" dirty="0"/>
          </a:p>
        </p:txBody>
      </p:sp>
      <p:sp>
        <p:nvSpPr>
          <p:cNvPr id="13" name="Shape 11"/>
          <p:cNvSpPr/>
          <p:nvPr/>
        </p:nvSpPr>
        <p:spPr>
          <a:xfrm>
            <a:off x="548640" y="5257800"/>
            <a:ext cx="5486400" cy="731520"/>
          </a:xfrm>
          <a:prstGeom prst="roundRect">
            <a:avLst>
              <a:gd name="adj" fmla="val 10000"/>
            </a:avLst>
          </a:prstGeom>
          <a:solidFill>
            <a:srgbClr val="0F3021"/>
          </a:solidFill>
          <a:ln/>
        </p:spPr>
      </p:sp>
      <p:sp>
        <p:nvSpPr>
          <p:cNvPr id="14" name="Text 12"/>
          <p:cNvSpPr/>
          <p:nvPr/>
        </p:nvSpPr>
        <p:spPr>
          <a:xfrm>
            <a:off x="777240" y="5257800"/>
            <a:ext cx="5120640" cy="73152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The platform recommends. The farmer decides.</a:t>
            </a:r>
            <a:endParaRPr lang="en-US" sz="1800" dirty="0"/>
          </a:p>
        </p:txBody>
      </p:sp>
      <p:sp>
        <p:nvSpPr>
          <p:cNvPr id="15" name="Shape 13"/>
          <p:cNvSpPr/>
          <p:nvPr/>
        </p:nvSpPr>
        <p:spPr>
          <a:xfrm>
            <a:off x="6508678" y="1737360"/>
            <a:ext cx="5087764" cy="3886200"/>
          </a:xfrm>
          <a:prstGeom prst="roundRect">
            <a:avLst>
              <a:gd name="adj" fmla="val 1882"/>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16" name="Image 0" descr="assets/crop-cluster-map.png">    </p:cNvPr>
          <p:cNvPicPr>
            <a:picLocks noChangeAspect="1"/>
          </p:cNvPicPr>
          <p:nvPr/>
        </p:nvPicPr>
        <p:blipFill>
          <a:blip r:embed="rId1"/>
          <a:stretch>
            <a:fillRect/>
          </a:stretch>
        </p:blipFill>
        <p:spPr>
          <a:xfrm>
            <a:off x="6563542" y="1792224"/>
            <a:ext cx="4978036" cy="3776472"/>
          </a:xfrm>
          <a:prstGeom prst="rect">
            <a:avLst/>
          </a:prstGeom>
        </p:spPr>
      </p:pic>
      <p:sp>
        <p:nvSpPr>
          <p:cNvPr id="17" name="Text 14"/>
          <p:cNvSpPr/>
          <p:nvPr/>
        </p:nvSpPr>
        <p:spPr>
          <a:xfrm>
            <a:off x="6446520" y="5760720"/>
            <a:ext cx="521208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128 farms in six villages, with shared water sources, machinery, cold storage and a collection centre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05   THE FARMER'S JOURNEY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From farm information to a buyer, one decision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5 / 12</a:t>
            </a:r>
            <a:endParaRPr lang="en-US" sz="1000" dirty="0"/>
          </a:p>
        </p:txBody>
      </p:sp>
      <p:sp>
        <p:nvSpPr>
          <p:cNvPr id="6" name="Shape 4"/>
          <p:cNvSpPr/>
          <p:nvPr/>
        </p:nvSpPr>
        <p:spPr>
          <a:xfrm>
            <a:off x="548640" y="1737360"/>
            <a:ext cx="1191463" cy="566928"/>
          </a:xfrm>
          <a:prstGeom prst="homePlate">
            <a:avLst/>
          </a:prstGeom>
          <a:solidFill>
            <a:srgbClr val="1B5538"/>
          </a:solidFill>
          <a:ln w="19050">
            <a:solidFill>
              <a:srgbClr val="F6F6F3"/>
            </a:solidFill>
            <a:prstDash val="solid"/>
          </a:ln>
        </p:spPr>
      </p:sp>
      <p:sp>
        <p:nvSpPr>
          <p:cNvPr id="7" name="Text 5"/>
          <p:cNvSpPr/>
          <p:nvPr/>
        </p:nvSpPr>
        <p:spPr>
          <a:xfrm>
            <a:off x="621792" y="1737360"/>
            <a:ext cx="917143"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Farm</a:t>
            </a:r>
            <a:endParaRPr lang="en-US" sz="1050" dirty="0"/>
          </a:p>
        </p:txBody>
      </p:sp>
      <p:sp>
        <p:nvSpPr>
          <p:cNvPr id="8" name="Shape 6"/>
          <p:cNvSpPr/>
          <p:nvPr/>
        </p:nvSpPr>
        <p:spPr>
          <a:xfrm>
            <a:off x="1648663" y="1737360"/>
            <a:ext cx="1191463" cy="566928"/>
          </a:xfrm>
          <a:prstGeom prst="chevron">
            <a:avLst/>
          </a:prstGeom>
          <a:solidFill>
            <a:srgbClr val="1B5538"/>
          </a:solidFill>
          <a:ln w="19050">
            <a:solidFill>
              <a:srgbClr val="F6F6F3"/>
            </a:solidFill>
            <a:prstDash val="solid"/>
          </a:ln>
        </p:spPr>
      </p:sp>
      <p:sp>
        <p:nvSpPr>
          <p:cNvPr id="9" name="Text 7"/>
          <p:cNvSpPr/>
          <p:nvPr/>
        </p:nvSpPr>
        <p:spPr>
          <a:xfrm>
            <a:off x="192298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Goal</a:t>
            </a:r>
            <a:endParaRPr lang="en-US" sz="1050" dirty="0"/>
          </a:p>
        </p:txBody>
      </p:sp>
      <p:sp>
        <p:nvSpPr>
          <p:cNvPr id="10" name="Shape 8"/>
          <p:cNvSpPr/>
          <p:nvPr/>
        </p:nvSpPr>
        <p:spPr>
          <a:xfrm>
            <a:off x="2748686" y="1737360"/>
            <a:ext cx="1191463" cy="566928"/>
          </a:xfrm>
          <a:prstGeom prst="chevron">
            <a:avLst/>
          </a:prstGeom>
          <a:solidFill>
            <a:srgbClr val="1B5538"/>
          </a:solidFill>
          <a:ln w="19050">
            <a:solidFill>
              <a:srgbClr val="F6F6F3"/>
            </a:solidFill>
            <a:prstDash val="solid"/>
          </a:ln>
        </p:spPr>
      </p:sp>
      <p:sp>
        <p:nvSpPr>
          <p:cNvPr id="11" name="Text 9"/>
          <p:cNvSpPr/>
          <p:nvPr/>
        </p:nvSpPr>
        <p:spPr>
          <a:xfrm>
            <a:off x="302300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Crop</a:t>
            </a:r>
            <a:endParaRPr lang="en-US" sz="1050" dirty="0"/>
          </a:p>
        </p:txBody>
      </p:sp>
      <p:sp>
        <p:nvSpPr>
          <p:cNvPr id="12" name="Shape 10"/>
          <p:cNvSpPr/>
          <p:nvPr/>
        </p:nvSpPr>
        <p:spPr>
          <a:xfrm>
            <a:off x="3848710" y="1737360"/>
            <a:ext cx="1191463" cy="566928"/>
          </a:xfrm>
          <a:prstGeom prst="chevron">
            <a:avLst/>
          </a:prstGeom>
          <a:solidFill>
            <a:srgbClr val="1B5538"/>
          </a:solidFill>
          <a:ln w="19050">
            <a:solidFill>
              <a:srgbClr val="F6F6F3"/>
            </a:solidFill>
            <a:prstDash val="solid"/>
          </a:ln>
        </p:spPr>
      </p:sp>
      <p:sp>
        <p:nvSpPr>
          <p:cNvPr id="13" name="Text 11"/>
          <p:cNvSpPr/>
          <p:nvPr/>
        </p:nvSpPr>
        <p:spPr>
          <a:xfrm>
            <a:off x="4123030"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Method</a:t>
            </a:r>
            <a:endParaRPr lang="en-US" sz="1050" dirty="0"/>
          </a:p>
        </p:txBody>
      </p:sp>
      <p:sp>
        <p:nvSpPr>
          <p:cNvPr id="14" name="Shape 12"/>
          <p:cNvSpPr/>
          <p:nvPr/>
        </p:nvSpPr>
        <p:spPr>
          <a:xfrm>
            <a:off x="4948733" y="1737360"/>
            <a:ext cx="1191463" cy="566928"/>
          </a:xfrm>
          <a:prstGeom prst="chevron">
            <a:avLst/>
          </a:prstGeom>
          <a:solidFill>
            <a:srgbClr val="1B5538"/>
          </a:solidFill>
          <a:ln w="19050">
            <a:solidFill>
              <a:srgbClr val="F6F6F3"/>
            </a:solidFill>
            <a:prstDash val="solid"/>
          </a:ln>
        </p:spPr>
      </p:sp>
      <p:sp>
        <p:nvSpPr>
          <p:cNvPr id="15" name="Text 13"/>
          <p:cNvSpPr/>
          <p:nvPr/>
        </p:nvSpPr>
        <p:spPr>
          <a:xfrm>
            <a:off x="522305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Investment</a:t>
            </a:r>
            <a:endParaRPr lang="en-US" sz="1050" dirty="0"/>
          </a:p>
        </p:txBody>
      </p:sp>
      <p:sp>
        <p:nvSpPr>
          <p:cNvPr id="16" name="Shape 14"/>
          <p:cNvSpPr/>
          <p:nvPr/>
        </p:nvSpPr>
        <p:spPr>
          <a:xfrm>
            <a:off x="6048756" y="1737360"/>
            <a:ext cx="1191463" cy="566928"/>
          </a:xfrm>
          <a:prstGeom prst="chevron">
            <a:avLst/>
          </a:prstGeom>
          <a:solidFill>
            <a:srgbClr val="1B5538"/>
          </a:solidFill>
          <a:ln w="19050">
            <a:solidFill>
              <a:srgbClr val="F6F6F3"/>
            </a:solidFill>
            <a:prstDash val="solid"/>
          </a:ln>
        </p:spPr>
      </p:sp>
      <p:sp>
        <p:nvSpPr>
          <p:cNvPr id="17" name="Text 15"/>
          <p:cNvSpPr/>
          <p:nvPr/>
        </p:nvSpPr>
        <p:spPr>
          <a:xfrm>
            <a:off x="632307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Market</a:t>
            </a:r>
            <a:endParaRPr lang="en-US" sz="1050" dirty="0"/>
          </a:p>
        </p:txBody>
      </p:sp>
      <p:sp>
        <p:nvSpPr>
          <p:cNvPr id="18" name="Shape 16"/>
          <p:cNvSpPr/>
          <p:nvPr/>
        </p:nvSpPr>
        <p:spPr>
          <a:xfrm>
            <a:off x="7148779" y="1737360"/>
            <a:ext cx="1191463" cy="566928"/>
          </a:xfrm>
          <a:prstGeom prst="chevron">
            <a:avLst/>
          </a:prstGeom>
          <a:solidFill>
            <a:srgbClr val="1B5538"/>
          </a:solidFill>
          <a:ln w="19050">
            <a:solidFill>
              <a:srgbClr val="F6F6F3"/>
            </a:solidFill>
            <a:prstDash val="solid"/>
          </a:ln>
        </p:spPr>
      </p:sp>
      <p:sp>
        <p:nvSpPr>
          <p:cNvPr id="19" name="Text 17"/>
          <p:cNvSpPr/>
          <p:nvPr/>
        </p:nvSpPr>
        <p:spPr>
          <a:xfrm>
            <a:off x="742309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Plan</a:t>
            </a:r>
            <a:endParaRPr lang="en-US" sz="1050" dirty="0"/>
          </a:p>
        </p:txBody>
      </p:sp>
      <p:sp>
        <p:nvSpPr>
          <p:cNvPr id="20" name="Shape 18"/>
          <p:cNvSpPr/>
          <p:nvPr/>
        </p:nvSpPr>
        <p:spPr>
          <a:xfrm>
            <a:off x="8248802" y="1737360"/>
            <a:ext cx="1191463" cy="566928"/>
          </a:xfrm>
          <a:prstGeom prst="chevron">
            <a:avLst/>
          </a:prstGeom>
          <a:solidFill>
            <a:srgbClr val="1B5538"/>
          </a:solidFill>
          <a:ln w="19050">
            <a:solidFill>
              <a:srgbClr val="F6F6F3"/>
            </a:solidFill>
            <a:prstDash val="solid"/>
          </a:ln>
        </p:spPr>
      </p:sp>
      <p:sp>
        <p:nvSpPr>
          <p:cNvPr id="21" name="Text 19"/>
          <p:cNvSpPr/>
          <p:nvPr/>
        </p:nvSpPr>
        <p:spPr>
          <a:xfrm>
            <a:off x="8523122"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Resources</a:t>
            </a:r>
            <a:endParaRPr lang="en-US" sz="1050" dirty="0"/>
          </a:p>
        </p:txBody>
      </p:sp>
      <p:sp>
        <p:nvSpPr>
          <p:cNvPr id="22" name="Shape 20"/>
          <p:cNvSpPr/>
          <p:nvPr/>
        </p:nvSpPr>
        <p:spPr>
          <a:xfrm>
            <a:off x="9348826" y="1737360"/>
            <a:ext cx="1191463" cy="566928"/>
          </a:xfrm>
          <a:prstGeom prst="chevron">
            <a:avLst/>
          </a:prstGeom>
          <a:solidFill>
            <a:srgbClr val="0F6A9C"/>
          </a:solidFill>
          <a:ln w="19050">
            <a:solidFill>
              <a:srgbClr val="F6F6F3"/>
            </a:solidFill>
            <a:prstDash val="solid"/>
          </a:ln>
        </p:spPr>
      </p:sp>
      <p:sp>
        <p:nvSpPr>
          <p:cNvPr id="23" name="Text 21"/>
          <p:cNvSpPr/>
          <p:nvPr/>
        </p:nvSpPr>
        <p:spPr>
          <a:xfrm>
            <a:off x="962314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Harvest</a:t>
            </a:r>
            <a:endParaRPr lang="en-US" sz="1050" dirty="0"/>
          </a:p>
        </p:txBody>
      </p:sp>
      <p:sp>
        <p:nvSpPr>
          <p:cNvPr id="24" name="Shape 22"/>
          <p:cNvSpPr/>
          <p:nvPr/>
        </p:nvSpPr>
        <p:spPr>
          <a:xfrm>
            <a:off x="10448849" y="1737360"/>
            <a:ext cx="1191463" cy="566928"/>
          </a:xfrm>
          <a:prstGeom prst="chevron">
            <a:avLst/>
          </a:prstGeom>
          <a:solidFill>
            <a:srgbClr val="0F6A9C"/>
          </a:solidFill>
          <a:ln w="19050">
            <a:solidFill>
              <a:srgbClr val="F6F6F3"/>
            </a:solidFill>
            <a:prstDash val="solid"/>
          </a:ln>
        </p:spPr>
      </p:sp>
      <p:sp>
        <p:nvSpPr>
          <p:cNvPr id="25" name="Text 23"/>
          <p:cNvSpPr/>
          <p:nvPr/>
        </p:nvSpPr>
        <p:spPr>
          <a:xfrm>
            <a:off x="1072316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Buyer</a:t>
            </a:r>
            <a:endParaRPr lang="en-US" sz="1050" dirty="0"/>
          </a:p>
        </p:txBody>
      </p:sp>
      <p:sp>
        <p:nvSpPr>
          <p:cNvPr id="26" name="Text 24"/>
          <p:cNvSpPr/>
          <p:nvPr/>
        </p:nvSpPr>
        <p:spPr>
          <a:xfrm>
            <a:off x="548640" y="260604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SPANDANA'S SEASON IN THE PROTOTYPE</a:t>
            </a:r>
            <a:endParaRPr lang="en-US" sz="1000" dirty="0"/>
          </a:p>
        </p:txBody>
      </p:sp>
      <p:sp>
        <p:nvSpPr>
          <p:cNvPr id="27" name="Shape 25"/>
          <p:cNvSpPr/>
          <p:nvPr/>
        </p:nvSpPr>
        <p:spPr>
          <a:xfrm>
            <a:off x="548640" y="3008376"/>
            <a:ext cx="45720" cy="603504"/>
          </a:xfrm>
          <a:prstGeom prst="rect">
            <a:avLst/>
          </a:prstGeom>
          <a:solidFill>
            <a:srgbClr val="1B5538"/>
          </a:solidFill>
          <a:ln/>
        </p:spPr>
      </p:sp>
      <p:sp>
        <p:nvSpPr>
          <p:cNvPr id="28" name="Text 26"/>
          <p:cNvSpPr/>
          <p:nvPr/>
        </p:nvSpPr>
        <p:spPr>
          <a:xfrm>
            <a:off x="731520" y="2971800"/>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Farm &amp; goal</a:t>
            </a:r>
            <a:endParaRPr lang="en-US" sz="1400" dirty="0"/>
          </a:p>
        </p:txBody>
      </p:sp>
      <p:sp>
        <p:nvSpPr>
          <p:cNvPr id="29" name="Text 27"/>
          <p:cNvSpPr/>
          <p:nvPr/>
        </p:nvSpPr>
        <p:spPr>
          <a:xfrm>
            <a:off x="731520" y="3246120"/>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 acre near Chamarajanagara, red soil, drip, ₹1,50,000 to invest.</a:t>
            </a:r>
            <a:endParaRPr lang="en-US" sz="1250" dirty="0"/>
          </a:p>
        </p:txBody>
      </p:sp>
      <p:sp>
        <p:nvSpPr>
          <p:cNvPr id="30" name="Shape 28"/>
          <p:cNvSpPr/>
          <p:nvPr/>
        </p:nvSpPr>
        <p:spPr>
          <a:xfrm>
            <a:off x="548640" y="3794760"/>
            <a:ext cx="45720" cy="603504"/>
          </a:xfrm>
          <a:prstGeom prst="rect">
            <a:avLst/>
          </a:prstGeom>
          <a:solidFill>
            <a:srgbClr val="1B5538"/>
          </a:solidFill>
          <a:ln/>
        </p:spPr>
      </p:sp>
      <p:sp>
        <p:nvSpPr>
          <p:cNvPr id="31" name="Text 29"/>
          <p:cNvSpPr/>
          <p:nvPr/>
        </p:nvSpPr>
        <p:spPr>
          <a:xfrm>
            <a:off x="731520" y="3758184"/>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Crop &amp; method</a:t>
            </a:r>
            <a:endParaRPr lang="en-US" sz="1400" dirty="0"/>
          </a:p>
        </p:txBody>
      </p:sp>
      <p:sp>
        <p:nvSpPr>
          <p:cNvPr id="32" name="Text 30"/>
          <p:cNvSpPr/>
          <p:nvPr/>
        </p:nvSpPr>
        <p:spPr>
          <a:xfrm>
            <a:off x="731520" y="4032504"/>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Tomato is the best match, with the reasons shown. Precision farming suits her drip and solar.</a:t>
            </a:r>
            <a:endParaRPr lang="en-US" sz="1250" dirty="0"/>
          </a:p>
        </p:txBody>
      </p:sp>
      <p:sp>
        <p:nvSpPr>
          <p:cNvPr id="33" name="Shape 31"/>
          <p:cNvSpPr/>
          <p:nvPr/>
        </p:nvSpPr>
        <p:spPr>
          <a:xfrm>
            <a:off x="548640" y="4581144"/>
            <a:ext cx="45720" cy="603504"/>
          </a:xfrm>
          <a:prstGeom prst="rect">
            <a:avLst/>
          </a:prstGeom>
          <a:solidFill>
            <a:srgbClr val="1B5538"/>
          </a:solidFill>
          <a:ln/>
        </p:spPr>
      </p:sp>
      <p:sp>
        <p:nvSpPr>
          <p:cNvPr id="34" name="Text 32"/>
          <p:cNvSpPr/>
          <p:nvPr/>
        </p:nvSpPr>
        <p:spPr>
          <a:xfrm>
            <a:off x="731520" y="4544568"/>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Investment &amp; plan</a:t>
            </a:r>
            <a:endParaRPr lang="en-US" sz="1400" dirty="0"/>
          </a:p>
        </p:txBody>
      </p:sp>
      <p:sp>
        <p:nvSpPr>
          <p:cNvPr id="35" name="Text 33"/>
          <p:cNvSpPr/>
          <p:nvPr/>
        </p:nvSpPr>
        <p:spPr>
          <a:xfrm>
            <a:off x="731520" y="4818888"/>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₹1,50,000 split across ten costs; tractor and sprayer rented, not bought. First harvest around 4 October.</a:t>
            </a:r>
            <a:endParaRPr lang="en-US" sz="1250" dirty="0"/>
          </a:p>
        </p:txBody>
      </p:sp>
      <p:sp>
        <p:nvSpPr>
          <p:cNvPr id="36" name="Shape 34"/>
          <p:cNvSpPr/>
          <p:nvPr/>
        </p:nvSpPr>
        <p:spPr>
          <a:xfrm>
            <a:off x="548640" y="5367528"/>
            <a:ext cx="45720" cy="603504"/>
          </a:xfrm>
          <a:prstGeom prst="rect">
            <a:avLst/>
          </a:prstGeom>
          <a:solidFill>
            <a:srgbClr val="0F6A9C"/>
          </a:solidFill>
          <a:ln/>
        </p:spPr>
      </p:sp>
      <p:sp>
        <p:nvSpPr>
          <p:cNvPr id="37" name="Text 35"/>
          <p:cNvSpPr/>
          <p:nvPr/>
        </p:nvSpPr>
        <p:spPr>
          <a:xfrm>
            <a:off x="731520" y="5330952"/>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Harvest &amp; buyer</a:t>
            </a:r>
            <a:endParaRPr lang="en-US" sz="1400" dirty="0"/>
          </a:p>
        </p:txBody>
      </p:sp>
      <p:sp>
        <p:nvSpPr>
          <p:cNvPr id="38" name="Text 36"/>
          <p:cNvSpPr/>
          <p:nvPr/>
        </p:nvSpPr>
        <p:spPr>
          <a:xfrm>
            <a:off x="731520" y="5605272"/>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2,000 kg of Grade A tomato listed. She chooses what buyers see; a buyer requests, she decides.</a:t>
            </a:r>
            <a:endParaRPr lang="en-US" sz="1250" dirty="0"/>
          </a:p>
        </p:txBody>
      </p:sp>
      <p:sp>
        <p:nvSpPr>
          <p:cNvPr id="39" name="Shape 37"/>
          <p:cNvSpPr/>
          <p:nvPr/>
        </p:nvSpPr>
        <p:spPr>
          <a:xfrm>
            <a:off x="5852160" y="2697480"/>
            <a:ext cx="5806440" cy="2704798"/>
          </a:xfrm>
          <a:prstGeom prst="roundRect">
            <a:avLst>
              <a:gd name="adj" fmla="val 270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40" name="Image 0" descr="assets/plan-crop.png">    </p:cNvPr>
          <p:cNvPicPr>
            <a:picLocks noChangeAspect="1"/>
          </p:cNvPicPr>
          <p:nvPr/>
        </p:nvPicPr>
        <p:blipFill>
          <a:blip r:embed="rId1"/>
          <a:stretch>
            <a:fillRect/>
          </a:stretch>
        </p:blipFill>
        <p:spPr>
          <a:xfrm>
            <a:off x="5907024" y="2752344"/>
            <a:ext cx="5696712" cy="2595070"/>
          </a:xfrm>
          <a:prstGeom prst="rect">
            <a:avLst/>
          </a:prstGeom>
        </p:spPr>
      </p:pic>
      <p:sp>
        <p:nvSpPr>
          <p:cNvPr id="41" name="Text 38"/>
          <p:cNvSpPr/>
          <p:nvPr/>
        </p:nvSpPr>
        <p:spPr>
          <a:xfrm>
            <a:off x="5852160" y="5512006"/>
            <a:ext cx="580644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Crop step: indicative ranges and the reasons behind the suggestion, never a guaranteed income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06   CLUSTER INTELLIGENCE</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One signal on one farm becomes a pattern across the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6 / 12</a:t>
            </a:r>
            <a:endParaRPr lang="en-US" sz="1000" dirty="0"/>
          </a:p>
        </p:txBody>
      </p:sp>
      <p:sp>
        <p:nvSpPr>
          <p:cNvPr id="6" name="Text 4"/>
          <p:cNvSpPr/>
          <p:nvPr/>
        </p:nvSpPr>
        <p:spPr>
          <a:xfrm>
            <a:off x="548640" y="1737360"/>
            <a:ext cx="36576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DATA COMBINED</a:t>
            </a:r>
            <a:endParaRPr lang="en-US" sz="1000" dirty="0"/>
          </a:p>
        </p:txBody>
      </p:sp>
      <p:sp>
        <p:nvSpPr>
          <p:cNvPr id="7" name="Shape 5"/>
          <p:cNvSpPr/>
          <p:nvPr/>
        </p:nvSpPr>
        <p:spPr>
          <a:xfrm>
            <a:off x="548640" y="2103120"/>
            <a:ext cx="2011680" cy="347472"/>
          </a:xfrm>
          <a:prstGeom prst="roundRect">
            <a:avLst>
              <a:gd name="adj" fmla="val 50000"/>
            </a:avLst>
          </a:prstGeom>
          <a:solidFill>
            <a:srgbClr val="E8F3EC"/>
          </a:solidFill>
          <a:ln/>
        </p:spPr>
      </p:sp>
      <p:sp>
        <p:nvSpPr>
          <p:cNvPr id="8" name="Text 6"/>
          <p:cNvSpPr/>
          <p:nvPr/>
        </p:nvSpPr>
        <p:spPr>
          <a:xfrm>
            <a:off x="54864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Farm &amp; crop stage</a:t>
            </a:r>
            <a:endParaRPr lang="en-US" sz="1200" dirty="0"/>
          </a:p>
        </p:txBody>
      </p:sp>
      <p:sp>
        <p:nvSpPr>
          <p:cNvPr id="9" name="Shape 7"/>
          <p:cNvSpPr/>
          <p:nvPr/>
        </p:nvSpPr>
        <p:spPr>
          <a:xfrm>
            <a:off x="2697480" y="2103120"/>
            <a:ext cx="2011680" cy="347472"/>
          </a:xfrm>
          <a:prstGeom prst="roundRect">
            <a:avLst>
              <a:gd name="adj" fmla="val 50000"/>
            </a:avLst>
          </a:prstGeom>
          <a:solidFill>
            <a:srgbClr val="E8F3EC"/>
          </a:solidFill>
          <a:ln/>
        </p:spPr>
      </p:sp>
      <p:sp>
        <p:nvSpPr>
          <p:cNvPr id="10" name="Text 8"/>
          <p:cNvSpPr/>
          <p:nvPr/>
        </p:nvSpPr>
        <p:spPr>
          <a:xfrm>
            <a:off x="269748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Soil moisture</a:t>
            </a:r>
            <a:endParaRPr lang="en-US" sz="1200" dirty="0"/>
          </a:p>
        </p:txBody>
      </p:sp>
      <p:sp>
        <p:nvSpPr>
          <p:cNvPr id="11" name="Shape 9"/>
          <p:cNvSpPr/>
          <p:nvPr/>
        </p:nvSpPr>
        <p:spPr>
          <a:xfrm>
            <a:off x="548640" y="2560320"/>
            <a:ext cx="2011680" cy="347472"/>
          </a:xfrm>
          <a:prstGeom prst="roundRect">
            <a:avLst>
              <a:gd name="adj" fmla="val 50000"/>
            </a:avLst>
          </a:prstGeom>
          <a:solidFill>
            <a:srgbClr val="E8F3EC"/>
          </a:solidFill>
          <a:ln/>
        </p:spPr>
      </p:sp>
      <p:sp>
        <p:nvSpPr>
          <p:cNvPr id="12" name="Text 10"/>
          <p:cNvSpPr/>
          <p:nvPr/>
        </p:nvSpPr>
        <p:spPr>
          <a:xfrm>
            <a:off x="54864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Weather</a:t>
            </a:r>
            <a:endParaRPr lang="en-US" sz="1200" dirty="0"/>
          </a:p>
        </p:txBody>
      </p:sp>
      <p:sp>
        <p:nvSpPr>
          <p:cNvPr id="13" name="Shape 11"/>
          <p:cNvSpPr/>
          <p:nvPr/>
        </p:nvSpPr>
        <p:spPr>
          <a:xfrm>
            <a:off x="2697480" y="2560320"/>
            <a:ext cx="2011680" cy="347472"/>
          </a:xfrm>
          <a:prstGeom prst="roundRect">
            <a:avLst>
              <a:gd name="adj" fmla="val 50000"/>
            </a:avLst>
          </a:prstGeom>
          <a:solidFill>
            <a:srgbClr val="E8F3EC"/>
          </a:solidFill>
          <a:ln/>
        </p:spPr>
      </p:sp>
      <p:sp>
        <p:nvSpPr>
          <p:cNvPr id="14" name="Text 12"/>
          <p:cNvSpPr/>
          <p:nvPr/>
        </p:nvSpPr>
        <p:spPr>
          <a:xfrm>
            <a:off x="269748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Water &amp; energy</a:t>
            </a:r>
            <a:endParaRPr lang="en-US" sz="1200" dirty="0"/>
          </a:p>
        </p:txBody>
      </p:sp>
      <p:sp>
        <p:nvSpPr>
          <p:cNvPr id="15" name="Shape 13"/>
          <p:cNvSpPr/>
          <p:nvPr/>
        </p:nvSpPr>
        <p:spPr>
          <a:xfrm>
            <a:off x="548640" y="3017520"/>
            <a:ext cx="2011680" cy="347472"/>
          </a:xfrm>
          <a:prstGeom prst="roundRect">
            <a:avLst>
              <a:gd name="adj" fmla="val 50000"/>
            </a:avLst>
          </a:prstGeom>
          <a:solidFill>
            <a:srgbClr val="E8F3EC"/>
          </a:solidFill>
          <a:ln/>
        </p:spPr>
      </p:sp>
      <p:sp>
        <p:nvSpPr>
          <p:cNvPr id="16" name="Text 14"/>
          <p:cNvSpPr/>
          <p:nvPr/>
        </p:nvSpPr>
        <p:spPr>
          <a:xfrm>
            <a:off x="54864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Machinery</a:t>
            </a:r>
            <a:endParaRPr lang="en-US" sz="1200" dirty="0"/>
          </a:p>
        </p:txBody>
      </p:sp>
      <p:sp>
        <p:nvSpPr>
          <p:cNvPr id="17" name="Shape 15"/>
          <p:cNvSpPr/>
          <p:nvPr/>
        </p:nvSpPr>
        <p:spPr>
          <a:xfrm>
            <a:off x="2697480" y="3017520"/>
            <a:ext cx="2011680" cy="347472"/>
          </a:xfrm>
          <a:prstGeom prst="roundRect">
            <a:avLst>
              <a:gd name="adj" fmla="val 50000"/>
            </a:avLst>
          </a:prstGeom>
          <a:solidFill>
            <a:srgbClr val="E8F3EC"/>
          </a:solidFill>
          <a:ln/>
        </p:spPr>
      </p:sp>
      <p:sp>
        <p:nvSpPr>
          <p:cNvPr id="18" name="Text 16"/>
          <p:cNvSpPr/>
          <p:nvPr/>
        </p:nvSpPr>
        <p:spPr>
          <a:xfrm>
            <a:off x="269748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Labour</a:t>
            </a:r>
            <a:endParaRPr lang="en-US" sz="1200" dirty="0"/>
          </a:p>
        </p:txBody>
      </p:sp>
      <p:sp>
        <p:nvSpPr>
          <p:cNvPr id="19" name="Shape 17"/>
          <p:cNvSpPr/>
          <p:nvPr/>
        </p:nvSpPr>
        <p:spPr>
          <a:xfrm>
            <a:off x="548640" y="3474720"/>
            <a:ext cx="2011680" cy="347472"/>
          </a:xfrm>
          <a:prstGeom prst="roundRect">
            <a:avLst>
              <a:gd name="adj" fmla="val 50000"/>
            </a:avLst>
          </a:prstGeom>
          <a:solidFill>
            <a:srgbClr val="E8F3EC"/>
          </a:solidFill>
          <a:ln/>
        </p:spPr>
      </p:sp>
      <p:sp>
        <p:nvSpPr>
          <p:cNvPr id="20" name="Text 18"/>
          <p:cNvSpPr/>
          <p:nvPr/>
        </p:nvSpPr>
        <p:spPr>
          <a:xfrm>
            <a:off x="54864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Experts</a:t>
            </a:r>
            <a:endParaRPr lang="en-US" sz="1200" dirty="0"/>
          </a:p>
        </p:txBody>
      </p:sp>
      <p:sp>
        <p:nvSpPr>
          <p:cNvPr id="21" name="Shape 19"/>
          <p:cNvSpPr/>
          <p:nvPr/>
        </p:nvSpPr>
        <p:spPr>
          <a:xfrm>
            <a:off x="2697480" y="3474720"/>
            <a:ext cx="2011680" cy="347472"/>
          </a:xfrm>
          <a:prstGeom prst="roundRect">
            <a:avLst>
              <a:gd name="adj" fmla="val 50000"/>
            </a:avLst>
          </a:prstGeom>
          <a:solidFill>
            <a:srgbClr val="E8F3EC"/>
          </a:solidFill>
          <a:ln/>
        </p:spPr>
      </p:sp>
      <p:sp>
        <p:nvSpPr>
          <p:cNvPr id="22" name="Text 20"/>
          <p:cNvSpPr/>
          <p:nvPr/>
        </p:nvSpPr>
        <p:spPr>
          <a:xfrm>
            <a:off x="269748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Market demand</a:t>
            </a:r>
            <a:endParaRPr lang="en-US" sz="1200" dirty="0"/>
          </a:p>
        </p:txBody>
      </p:sp>
      <p:sp>
        <p:nvSpPr>
          <p:cNvPr id="23" name="Text 21"/>
          <p:cNvSpPr/>
          <p:nvPr/>
        </p:nvSpPr>
        <p:spPr>
          <a:xfrm>
            <a:off x="548640" y="4069080"/>
            <a:ext cx="42062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ACROSS THE CLUSTER TODAY</a:t>
            </a:r>
            <a:endParaRPr lang="en-US" sz="1000" dirty="0"/>
          </a:p>
        </p:txBody>
      </p:sp>
      <p:sp>
        <p:nvSpPr>
          <p:cNvPr id="24" name="Text 22"/>
          <p:cNvSpPr/>
          <p:nvPr/>
        </p:nvSpPr>
        <p:spPr>
          <a:xfrm>
            <a:off x="548640" y="4389120"/>
            <a:ext cx="4297680" cy="1645920"/>
          </a:xfrm>
          <a:prstGeom prst="rect">
            <a:avLst/>
          </a:prstGeom>
          <a:noFill/>
          <a:ln/>
        </p:spPr>
        <p:txBody>
          <a:bodyPr wrap="square" lIns="0" tIns="0" rIns="0" bIns="0" rtlCol="0" anchor="t"/>
          <a:lstStyle/>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24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plan to irrigate before tonight's rain</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6 tomato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show possible crop stress</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14 tractor requests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for 9 tractors tomorrow</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42 t of tomato</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expected against 35 t of buyer demand</a:t>
            </a:r>
            <a:endParaRPr lang="en-US" sz="1400" dirty="0"/>
          </a:p>
        </p:txBody>
      </p:sp>
      <p:sp>
        <p:nvSpPr>
          <p:cNvPr id="25" name="Shape 23"/>
          <p:cNvSpPr/>
          <p:nvPr/>
        </p:nvSpPr>
        <p:spPr>
          <a:xfrm>
            <a:off x="5120640" y="1737360"/>
            <a:ext cx="6537960" cy="3268980"/>
          </a:xfrm>
          <a:prstGeom prst="roundRect">
            <a:avLst>
              <a:gd name="adj" fmla="val 2238"/>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6" name="Image 0" descr="assets/crop-reasoning.png">    </p:cNvPr>
          <p:cNvPicPr>
            <a:picLocks noChangeAspect="1"/>
          </p:cNvPicPr>
          <p:nvPr/>
        </p:nvPicPr>
        <p:blipFill>
          <a:blip r:embed="rId1"/>
          <a:stretch>
            <a:fillRect/>
          </a:stretch>
        </p:blipFill>
        <p:spPr>
          <a:xfrm>
            <a:off x="5175504" y="1792224"/>
            <a:ext cx="6428232" cy="3159252"/>
          </a:xfrm>
          <a:prstGeom prst="rect">
            <a:avLst/>
          </a:prstGeom>
        </p:spPr>
      </p:pic>
      <p:sp>
        <p:nvSpPr>
          <p:cNvPr id="27" name="Text 24"/>
          <p:cNvSpPr/>
          <p:nvPr/>
        </p:nvSpPr>
        <p:spPr>
          <a:xfrm>
            <a:off x="5120640" y="5120640"/>
            <a:ext cx="65379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Every suggestion shows what is happening, why it matters, and the data behind it, with each value's source labelled.</a:t>
            </a:r>
            <a:endParaRPr lang="en-US" sz="1100" dirty="0"/>
          </a:p>
        </p:txBody>
      </p:sp>
      <p:sp>
        <p:nvSpPr>
          <p:cNvPr id="28" name="Text 25"/>
          <p:cNvSpPr/>
          <p:nvPr/>
        </p:nvSpPr>
        <p:spPr>
          <a:xfrm>
            <a:off x="5120640" y="5440680"/>
            <a:ext cx="274320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Demonstration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07   PRODUCT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Seven roles, one connected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7 / 12</a:t>
            </a:r>
            <a:endParaRPr lang="en-US" sz="1000" dirty="0"/>
          </a:p>
        </p:txBody>
      </p:sp>
      <p:sp>
        <p:nvSpPr>
          <p:cNvPr id="6" name="Text 4"/>
          <p:cNvSpPr/>
          <p:nvPr/>
        </p:nvSpPr>
        <p:spPr>
          <a:xfrm>
            <a:off x="548640" y="169164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Farmer</a:t>
            </a:r>
            <a:endParaRPr lang="en-US" sz="1400" dirty="0"/>
          </a:p>
        </p:txBody>
      </p:sp>
      <p:sp>
        <p:nvSpPr>
          <p:cNvPr id="7" name="Text 5"/>
          <p:cNvSpPr/>
          <p:nvPr/>
        </p:nvSpPr>
        <p:spPr>
          <a:xfrm>
            <a:off x="548640" y="194767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Plans the season, requests resources, lists harvests.</a:t>
            </a:r>
            <a:endParaRPr lang="en-US" sz="1200" dirty="0"/>
          </a:p>
        </p:txBody>
      </p:sp>
      <p:sp>
        <p:nvSpPr>
          <p:cNvPr id="8" name="Text 6"/>
          <p:cNvSpPr/>
          <p:nvPr/>
        </p:nvSpPr>
        <p:spPr>
          <a:xfrm>
            <a:off x="548640" y="232257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Buyer</a:t>
            </a:r>
            <a:endParaRPr lang="en-US" sz="1400" dirty="0"/>
          </a:p>
        </p:txBody>
      </p:sp>
      <p:sp>
        <p:nvSpPr>
          <p:cNvPr id="9" name="Text 7"/>
          <p:cNvSpPr/>
          <p:nvPr/>
        </p:nvSpPr>
        <p:spPr>
          <a:xfrm>
            <a:off x="548640" y="257860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Searches crops, sees farmer-approved details, requests farmers.</a:t>
            </a:r>
            <a:endParaRPr lang="en-US" sz="1200" dirty="0"/>
          </a:p>
        </p:txBody>
      </p:sp>
      <p:sp>
        <p:nvSpPr>
          <p:cNvPr id="10" name="Text 8"/>
          <p:cNvSpPr/>
          <p:nvPr/>
        </p:nvSpPr>
        <p:spPr>
          <a:xfrm>
            <a:off x="548640" y="2953512"/>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Machinery &amp; tech owner</a:t>
            </a:r>
            <a:endParaRPr lang="en-US" sz="1400" dirty="0"/>
          </a:p>
        </p:txBody>
      </p:sp>
      <p:sp>
        <p:nvSpPr>
          <p:cNvPr id="11" name="Text 9"/>
          <p:cNvSpPr/>
          <p:nvPr/>
        </p:nvSpPr>
        <p:spPr>
          <a:xfrm>
            <a:off x="548640" y="3209544"/>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equipment and services; accepts bookings.</a:t>
            </a:r>
            <a:endParaRPr lang="en-US" sz="1200" dirty="0"/>
          </a:p>
        </p:txBody>
      </p:sp>
      <p:sp>
        <p:nvSpPr>
          <p:cNvPr id="12" name="Text 10"/>
          <p:cNvSpPr/>
          <p:nvPr/>
        </p:nvSpPr>
        <p:spPr>
          <a:xfrm>
            <a:off x="548640" y="3584448"/>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Labour</a:t>
            </a:r>
            <a:endParaRPr lang="en-US" sz="1400" dirty="0"/>
          </a:p>
        </p:txBody>
      </p:sp>
      <p:sp>
        <p:nvSpPr>
          <p:cNvPr id="13" name="Text 11"/>
          <p:cNvSpPr/>
          <p:nvPr/>
        </p:nvSpPr>
        <p:spPr>
          <a:xfrm>
            <a:off x="548640" y="3840480"/>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skills, crops, rates and transport; accepts work.</a:t>
            </a:r>
            <a:endParaRPr lang="en-US" sz="1200" dirty="0"/>
          </a:p>
        </p:txBody>
      </p:sp>
      <p:sp>
        <p:nvSpPr>
          <p:cNvPr id="14" name="Text 12"/>
          <p:cNvSpPr/>
          <p:nvPr/>
        </p:nvSpPr>
        <p:spPr>
          <a:xfrm>
            <a:off x="548640" y="4215384"/>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Expert</a:t>
            </a:r>
            <a:endParaRPr lang="en-US" sz="1400" dirty="0"/>
          </a:p>
        </p:txBody>
      </p:sp>
      <p:sp>
        <p:nvSpPr>
          <p:cNvPr id="15" name="Text 13"/>
          <p:cNvSpPr/>
          <p:nvPr/>
        </p:nvSpPr>
        <p:spPr>
          <a:xfrm>
            <a:off x="548640" y="4471416"/>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Answers questions and books consultations, across 11 fields.</a:t>
            </a:r>
            <a:endParaRPr lang="en-US" sz="1200" dirty="0"/>
          </a:p>
        </p:txBody>
      </p:sp>
      <p:sp>
        <p:nvSpPr>
          <p:cNvPr id="16" name="Text 14"/>
          <p:cNvSpPr/>
          <p:nvPr/>
        </p:nvSpPr>
        <p:spPr>
          <a:xfrm>
            <a:off x="548640" y="484632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Community</a:t>
            </a:r>
            <a:endParaRPr lang="en-US" sz="1400" dirty="0"/>
          </a:p>
        </p:txBody>
      </p:sp>
      <p:sp>
        <p:nvSpPr>
          <p:cNvPr id="17" name="Text 15"/>
          <p:cNvSpPr/>
          <p:nvPr/>
        </p:nvSpPr>
        <p:spPr>
          <a:xfrm>
            <a:off x="548640" y="510235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Runs farmer groups, events and success stories.</a:t>
            </a:r>
            <a:endParaRPr lang="en-US" sz="1200" dirty="0"/>
          </a:p>
        </p:txBody>
      </p:sp>
      <p:sp>
        <p:nvSpPr>
          <p:cNvPr id="18" name="Text 16"/>
          <p:cNvSpPr/>
          <p:nvPr/>
        </p:nvSpPr>
        <p:spPr>
          <a:xfrm>
            <a:off x="548640" y="547725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Cluster manager</a:t>
            </a:r>
            <a:endParaRPr lang="en-US" sz="1400" dirty="0"/>
          </a:p>
        </p:txBody>
      </p:sp>
      <p:sp>
        <p:nvSpPr>
          <p:cNvPr id="19" name="Text 17"/>
          <p:cNvSpPr/>
          <p:nvPr/>
        </p:nvSpPr>
        <p:spPr>
          <a:xfrm>
            <a:off x="548640" y="573328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Sees all 128 farms; coordinates water, resources, supply.</a:t>
            </a:r>
            <a:endParaRPr lang="en-US" sz="1200" dirty="0"/>
          </a:p>
        </p:txBody>
      </p:sp>
      <p:sp>
        <p:nvSpPr>
          <p:cNvPr id="20" name="Shape 18"/>
          <p:cNvSpPr/>
          <p:nvPr/>
        </p:nvSpPr>
        <p:spPr>
          <a:xfrm>
            <a:off x="5257800" y="1691640"/>
            <a:ext cx="3108960" cy="2829639"/>
          </a:xfrm>
          <a:prstGeom prst="roundRect">
            <a:avLst>
              <a:gd name="adj" fmla="val 258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1" name="Image 0" descr="assets/buyer-view-crop.png">    </p:cNvPr>
          <p:cNvPicPr>
            <a:picLocks noChangeAspect="1"/>
          </p:cNvPicPr>
          <p:nvPr/>
        </p:nvPicPr>
        <p:blipFill>
          <a:blip r:embed="rId1"/>
          <a:stretch>
            <a:fillRect/>
          </a:stretch>
        </p:blipFill>
        <p:spPr>
          <a:xfrm>
            <a:off x="5312664" y="1746504"/>
            <a:ext cx="2999232" cy="2719911"/>
          </a:xfrm>
          <a:prstGeom prst="rect">
            <a:avLst/>
          </a:prstGeom>
        </p:spPr>
      </p:pic>
      <p:sp>
        <p:nvSpPr>
          <p:cNvPr id="22" name="Text 19"/>
          <p:cNvSpPr/>
          <p:nvPr/>
        </p:nvSpPr>
        <p:spPr>
          <a:xfrm>
            <a:off x="8595360" y="1691640"/>
            <a:ext cx="3063240" cy="4023360"/>
          </a:xfrm>
          <a:prstGeom prst="rect">
            <a:avLst/>
          </a:prstGeom>
          <a:noFill/>
          <a:ln/>
        </p:spPr>
        <p:txBody>
          <a:bodyPr wrap="square" lIns="0" tIns="0" rIns="0" bIns="0" rtlCol="0" anchor="t"/>
          <a:lstStyle/>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Privacy by role</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Buyers see only what the farmer approved on each listing: never her phone number, finances or exact location. Labour sees the job's crop and village. Experts see the question and the field it is about.</a:t>
            </a:r>
            <a:endParaRPr lang="en-US" sz="1250" dirty="0"/>
          </a:p>
          <a:p>
            <a:pPr indent="0" marL="0">
              <a:spcAft>
                <a:spcPts val="400"/>
              </a:spcAft>
              <a:buNone/>
            </a:pPr>
            <a:r>
              <a:rPr lang="en-US" sz="1250" dirty="0">
                <a:solidFill>
                  <a:srgbClr val="000000"/>
                </a:solidFill>
                <a:latin typeface="Segoe UI" pitchFamily="34" charset="0"/>
                <a:ea typeface="Segoe UI" pitchFamily="34" charset="-122"/>
                <a:cs typeface="Segoe UI" pitchFamily="34" charset="-120"/>
              </a:rPr>
              <a:t> </a:t>
            </a:r>
            <a:endParaRPr lang="en-US" sz="1250" dirty="0"/>
          </a:p>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Connected by notifications</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Every request, offer and reply notifies the other side, from “Buyer requested your tomato crop” to “Expert consultation confirmed”.</a:t>
            </a:r>
            <a:endParaRPr lang="en-US" sz="1250" dirty="0"/>
          </a:p>
        </p:txBody>
      </p:sp>
      <p:sp>
        <p:nvSpPr>
          <p:cNvPr id="23" name="Text 20"/>
          <p:cNvSpPr/>
          <p:nvPr/>
        </p:nvSpPr>
        <p:spPr>
          <a:xfrm>
            <a:off x="5257800" y="4631007"/>
            <a:ext cx="640080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What a buyer sees on “View crop”: farmer-approved details only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08   IMPACT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Impact we will measure against a baseline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8 / 12</a:t>
            </a:r>
            <a:endParaRPr lang="en-US" sz="1000" dirty="0"/>
          </a:p>
        </p:txBody>
      </p:sp>
      <p:sp>
        <p:nvSpPr>
          <p:cNvPr id="6" name="Shape 4"/>
          <p:cNvSpPr/>
          <p:nvPr/>
        </p:nvSpPr>
        <p:spPr>
          <a:xfrm>
            <a:off x="548640" y="1737360"/>
            <a:ext cx="2606040" cy="1691640"/>
          </a:xfrm>
          <a:prstGeom prst="roundRect">
            <a:avLst>
              <a:gd name="adj" fmla="val 4324"/>
            </a:avLst>
          </a:prstGeom>
          <a:solidFill>
            <a:srgbClr val="FFFFFF"/>
          </a:solidFill>
          <a:ln w="9525">
            <a:solidFill>
              <a:srgbClr val="E3E5DF"/>
            </a:solidFill>
            <a:prstDash val="solid"/>
          </a:ln>
        </p:spPr>
      </p:sp>
      <p:sp>
        <p:nvSpPr>
          <p:cNvPr id="7" name="Text 5"/>
          <p:cNvSpPr/>
          <p:nvPr/>
        </p:nvSpPr>
        <p:spPr>
          <a:xfrm>
            <a:off x="77724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15–20%</a:t>
            </a:r>
            <a:endParaRPr lang="en-US" sz="3600" dirty="0"/>
          </a:p>
        </p:txBody>
      </p:sp>
      <p:sp>
        <p:nvSpPr>
          <p:cNvPr id="8" name="Text 6"/>
          <p:cNvSpPr/>
          <p:nvPr/>
        </p:nvSpPr>
        <p:spPr>
          <a:xfrm>
            <a:off x="77724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avoidable water use</a:t>
            </a:r>
            <a:endParaRPr lang="en-US" sz="1400" dirty="0"/>
          </a:p>
        </p:txBody>
      </p:sp>
      <p:sp>
        <p:nvSpPr>
          <p:cNvPr id="9" name="Text 7"/>
          <p:cNvSpPr/>
          <p:nvPr/>
        </p:nvSpPr>
        <p:spPr>
          <a:xfrm>
            <a:off x="77724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0" name="Shape 8"/>
          <p:cNvSpPr/>
          <p:nvPr/>
        </p:nvSpPr>
        <p:spPr>
          <a:xfrm>
            <a:off x="3383280" y="1737360"/>
            <a:ext cx="2606040" cy="1691640"/>
          </a:xfrm>
          <a:prstGeom prst="roundRect">
            <a:avLst>
              <a:gd name="adj" fmla="val 4324"/>
            </a:avLst>
          </a:prstGeom>
          <a:solidFill>
            <a:srgbClr val="FFFFFF"/>
          </a:solidFill>
          <a:ln w="9525">
            <a:solidFill>
              <a:srgbClr val="E3E5DF"/>
            </a:solidFill>
            <a:prstDash val="solid"/>
          </a:ln>
        </p:spPr>
      </p:sp>
      <p:sp>
        <p:nvSpPr>
          <p:cNvPr id="11" name="Text 9"/>
          <p:cNvSpPr/>
          <p:nvPr/>
        </p:nvSpPr>
        <p:spPr>
          <a:xfrm>
            <a:off x="361188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10–15%</a:t>
            </a:r>
            <a:endParaRPr lang="en-US" sz="3600" dirty="0"/>
          </a:p>
        </p:txBody>
      </p:sp>
      <p:sp>
        <p:nvSpPr>
          <p:cNvPr id="12" name="Text 10"/>
          <p:cNvSpPr/>
          <p:nvPr/>
        </p:nvSpPr>
        <p:spPr>
          <a:xfrm>
            <a:off x="361188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input efficiency</a:t>
            </a:r>
            <a:endParaRPr lang="en-US" sz="1400" dirty="0"/>
          </a:p>
        </p:txBody>
      </p:sp>
      <p:sp>
        <p:nvSpPr>
          <p:cNvPr id="13" name="Text 11"/>
          <p:cNvSpPr/>
          <p:nvPr/>
        </p:nvSpPr>
        <p:spPr>
          <a:xfrm>
            <a:off x="361188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4" name="Shape 12"/>
          <p:cNvSpPr/>
          <p:nvPr/>
        </p:nvSpPr>
        <p:spPr>
          <a:xfrm>
            <a:off x="6217920" y="1737360"/>
            <a:ext cx="2606040" cy="1691640"/>
          </a:xfrm>
          <a:prstGeom prst="roundRect">
            <a:avLst>
              <a:gd name="adj" fmla="val 4324"/>
            </a:avLst>
          </a:prstGeom>
          <a:solidFill>
            <a:srgbClr val="FFFFFF"/>
          </a:solidFill>
          <a:ln w="9525">
            <a:solidFill>
              <a:srgbClr val="E3E5DF"/>
            </a:solidFill>
            <a:prstDash val="solid"/>
          </a:ln>
        </p:spPr>
      </p:sp>
      <p:sp>
        <p:nvSpPr>
          <p:cNvPr id="15" name="Text 13"/>
          <p:cNvSpPr/>
          <p:nvPr/>
        </p:nvSpPr>
        <p:spPr>
          <a:xfrm>
            <a:off x="644652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a:t>
            </a:r>
            <a:endParaRPr lang="en-US" sz="3600" dirty="0"/>
          </a:p>
        </p:txBody>
      </p:sp>
      <p:sp>
        <p:nvSpPr>
          <p:cNvPr id="16" name="Text 14"/>
          <p:cNvSpPr/>
          <p:nvPr/>
        </p:nvSpPr>
        <p:spPr>
          <a:xfrm>
            <a:off x="644652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crop loss</a:t>
            </a:r>
            <a:endParaRPr lang="en-US" sz="1400" dirty="0"/>
          </a:p>
        </p:txBody>
      </p:sp>
      <p:sp>
        <p:nvSpPr>
          <p:cNvPr id="17" name="Text 15"/>
          <p:cNvSpPr/>
          <p:nvPr/>
        </p:nvSpPr>
        <p:spPr>
          <a:xfrm>
            <a:off x="644652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8" name="Shape 16"/>
          <p:cNvSpPr/>
          <p:nvPr/>
        </p:nvSpPr>
        <p:spPr>
          <a:xfrm>
            <a:off x="9052560" y="1737360"/>
            <a:ext cx="2606040" cy="1691640"/>
          </a:xfrm>
          <a:prstGeom prst="roundRect">
            <a:avLst>
              <a:gd name="adj" fmla="val 4324"/>
            </a:avLst>
          </a:prstGeom>
          <a:solidFill>
            <a:srgbClr val="FFFFFF"/>
          </a:solidFill>
          <a:ln w="9525">
            <a:solidFill>
              <a:srgbClr val="E3E5DF"/>
            </a:solidFill>
            <a:prstDash val="solid"/>
          </a:ln>
        </p:spPr>
      </p:sp>
      <p:sp>
        <p:nvSpPr>
          <p:cNvPr id="19" name="Text 17"/>
          <p:cNvSpPr/>
          <p:nvPr/>
        </p:nvSpPr>
        <p:spPr>
          <a:xfrm>
            <a:off x="928116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5–10%</a:t>
            </a:r>
            <a:endParaRPr lang="en-US" sz="3600" dirty="0"/>
          </a:p>
        </p:txBody>
      </p:sp>
      <p:sp>
        <p:nvSpPr>
          <p:cNvPr id="20" name="Text 18"/>
          <p:cNvSpPr/>
          <p:nvPr/>
        </p:nvSpPr>
        <p:spPr>
          <a:xfrm>
            <a:off x="928116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market realisation</a:t>
            </a:r>
            <a:endParaRPr lang="en-US" sz="1400" dirty="0"/>
          </a:p>
        </p:txBody>
      </p:sp>
      <p:sp>
        <p:nvSpPr>
          <p:cNvPr id="21" name="Text 19"/>
          <p:cNvSpPr/>
          <p:nvPr/>
        </p:nvSpPr>
        <p:spPr>
          <a:xfrm>
            <a:off x="928116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22" name="Text 20"/>
          <p:cNvSpPr/>
          <p:nvPr/>
        </p:nvSpPr>
        <p:spPr>
          <a:xfrm>
            <a:off x="548640" y="3611880"/>
            <a:ext cx="11064240" cy="274320"/>
          </a:xfrm>
          <a:prstGeom prst="rect">
            <a:avLst/>
          </a:prstGeom>
          <a:noFill/>
          <a:ln/>
        </p:spPr>
        <p:txBody>
          <a:bodyPr wrap="square" lIns="0" tIns="0" rIns="0" bIns="0" rtlCol="0" anchor="ctr"/>
          <a:lstStyle/>
          <a:p>
            <a:pPr indent="0" marL="0">
              <a:buNone/>
            </a:pPr>
            <a:r>
              <a:rPr lang="en-US" sz="1200" i="1" dirty="0">
                <a:solidFill>
                  <a:srgbClr val="636C65"/>
                </a:solidFill>
                <a:latin typeface="Segoe UI" pitchFamily="34" charset="0"/>
                <a:ea typeface="Segoe UI" pitchFamily="34" charset="-122"/>
                <a:cs typeface="Segoe UI" pitchFamily="34" charset="-120"/>
              </a:rPr>
              <a:t>Pilot targets are illustrative goals, not guaranteed outcomes. Improvements are claimed only against a measured baseline season.</a:t>
            </a:r>
            <a:endParaRPr lang="en-US" sz="1200" dirty="0"/>
          </a:p>
        </p:txBody>
      </p:sp>
      <p:sp>
        <p:nvSpPr>
          <p:cNvPr id="23" name="Text 21"/>
          <p:cNvSpPr/>
          <p:nvPr/>
        </p:nvSpPr>
        <p:spPr>
          <a:xfrm>
            <a:off x="548640" y="416052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THE PROTOTYPE ALREADY SHOWS</a:t>
            </a:r>
            <a:endParaRPr lang="en-US" sz="1000" dirty="0"/>
          </a:p>
        </p:txBody>
      </p:sp>
      <p:sp>
        <p:nvSpPr>
          <p:cNvPr id="24" name="Text 22"/>
          <p:cNvSpPr/>
          <p:nvPr/>
        </p:nvSpPr>
        <p:spPr>
          <a:xfrm>
            <a:off x="54864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≈15,000 L</a:t>
            </a:r>
            <a:endParaRPr lang="en-US" sz="2400" dirty="0"/>
          </a:p>
        </p:txBody>
      </p:sp>
      <p:sp>
        <p:nvSpPr>
          <p:cNvPr id="25" name="Text 23"/>
          <p:cNvSpPr/>
          <p:nvPr/>
        </p:nvSpPr>
        <p:spPr>
          <a:xfrm>
            <a:off x="54864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water and ≈4 kWh pumping avoided on 1 acre by one accepted irrigation suggestion (indicative)</a:t>
            </a:r>
            <a:endParaRPr lang="en-US" sz="1300" dirty="0"/>
          </a:p>
        </p:txBody>
      </p:sp>
      <p:sp>
        <p:nvSpPr>
          <p:cNvPr id="26" name="Text 24"/>
          <p:cNvSpPr/>
          <p:nvPr/>
        </p:nvSpPr>
        <p:spPr>
          <a:xfrm>
            <a:off x="429768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42 t vs 35 t</a:t>
            </a:r>
            <a:endParaRPr lang="en-US" sz="2400" dirty="0"/>
          </a:p>
        </p:txBody>
      </p:sp>
      <p:sp>
        <p:nvSpPr>
          <p:cNvPr id="27" name="Text 25"/>
          <p:cNvSpPr/>
          <p:nvPr/>
        </p:nvSpPr>
        <p:spPr>
          <a:xfrm>
            <a:off x="429768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pooled tomato supply against buyer demand, visible a week before harvest</a:t>
            </a:r>
            <a:endParaRPr lang="en-US" sz="1300" dirty="0"/>
          </a:p>
        </p:txBody>
      </p:sp>
      <p:sp>
        <p:nvSpPr>
          <p:cNvPr id="28" name="Text 26"/>
          <p:cNvSpPr/>
          <p:nvPr/>
        </p:nvSpPr>
        <p:spPr>
          <a:xfrm>
            <a:off x="804672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14 vs 9</a:t>
            </a:r>
            <a:endParaRPr lang="en-US" sz="2400" dirty="0"/>
          </a:p>
        </p:txBody>
      </p:sp>
      <p:sp>
        <p:nvSpPr>
          <p:cNvPr id="29" name="Text 27"/>
          <p:cNvSpPr/>
          <p:nvPr/>
        </p:nvSpPr>
        <p:spPr>
          <a:xfrm>
            <a:off x="804672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tractor requests against available tractors, flagged a day ahead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09   BUSINESS MODEL</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Revenue follows coordination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9 / 12</a:t>
            </a:r>
            <a:endParaRPr lang="en-US" sz="1000" dirty="0"/>
          </a:p>
        </p:txBody>
      </p:sp>
      <p:sp>
        <p:nvSpPr>
          <p:cNvPr id="6" name="Text 4"/>
          <p:cNvSpPr/>
          <p:nvPr/>
        </p:nvSpPr>
        <p:spPr>
          <a:xfrm>
            <a:off x="548640" y="1783080"/>
            <a:ext cx="28346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REVENUE STREAM</a:t>
            </a:r>
            <a:endParaRPr lang="en-US" sz="1000" dirty="0"/>
          </a:p>
        </p:txBody>
      </p:sp>
      <p:sp>
        <p:nvSpPr>
          <p:cNvPr id="7" name="Text 5"/>
          <p:cNvSpPr/>
          <p:nvPr/>
        </p:nvSpPr>
        <p:spPr>
          <a:xfrm>
            <a:off x="3520440" y="1783080"/>
            <a:ext cx="35204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WHO PAYS</a:t>
            </a:r>
            <a:endParaRPr lang="en-US" sz="1000" dirty="0"/>
          </a:p>
        </p:txBody>
      </p:sp>
      <p:sp>
        <p:nvSpPr>
          <p:cNvPr id="8" name="Text 6"/>
          <p:cNvSpPr/>
          <p:nvPr/>
        </p:nvSpPr>
        <p:spPr>
          <a:xfrm>
            <a:off x="7178040" y="1783080"/>
            <a:ext cx="44805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MODEL</a:t>
            </a:r>
            <a:endParaRPr lang="en-US" sz="1000" dirty="0"/>
          </a:p>
        </p:txBody>
      </p:sp>
      <p:sp>
        <p:nvSpPr>
          <p:cNvPr id="9" name="Shape 7"/>
          <p:cNvSpPr/>
          <p:nvPr/>
        </p:nvSpPr>
        <p:spPr>
          <a:xfrm>
            <a:off x="548640" y="2103120"/>
            <a:ext cx="11109960" cy="0"/>
          </a:xfrm>
          <a:prstGeom prst="line">
            <a:avLst/>
          </a:prstGeom>
          <a:noFill/>
          <a:ln w="9525">
            <a:solidFill>
              <a:srgbClr val="E3E5DF"/>
            </a:solidFill>
            <a:prstDash val="solid"/>
          </a:ln>
        </p:spPr>
      </p:sp>
      <p:sp>
        <p:nvSpPr>
          <p:cNvPr id="10" name="Text 8"/>
          <p:cNvSpPr/>
          <p:nvPr/>
        </p:nvSpPr>
        <p:spPr>
          <a:xfrm>
            <a:off x="548640" y="214884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Cluster services</a:t>
            </a:r>
            <a:endParaRPr lang="en-US" sz="1400" dirty="0"/>
          </a:p>
        </p:txBody>
      </p:sp>
      <p:sp>
        <p:nvSpPr>
          <p:cNvPr id="11" name="Text 9"/>
          <p:cNvSpPr/>
          <p:nvPr/>
        </p:nvSpPr>
        <p:spPr>
          <a:xfrm>
            <a:off x="3520440" y="214884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FPOs, cluster organisations, agriculture programmes</a:t>
            </a:r>
            <a:endParaRPr lang="en-US" sz="1400" dirty="0"/>
          </a:p>
        </p:txBody>
      </p:sp>
      <p:sp>
        <p:nvSpPr>
          <p:cNvPr id="12" name="Text 10"/>
          <p:cNvSpPr/>
          <p:nvPr/>
        </p:nvSpPr>
        <p:spPr>
          <a:xfrm>
            <a:off x="7178040" y="214884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Subscription per cluster</a:t>
            </a:r>
            <a:endParaRPr lang="en-US" sz="1400" dirty="0"/>
          </a:p>
        </p:txBody>
      </p:sp>
      <p:sp>
        <p:nvSpPr>
          <p:cNvPr id="13" name="Shape 11"/>
          <p:cNvSpPr/>
          <p:nvPr/>
        </p:nvSpPr>
        <p:spPr>
          <a:xfrm>
            <a:off x="548640" y="2743200"/>
            <a:ext cx="11109960" cy="0"/>
          </a:xfrm>
          <a:prstGeom prst="line">
            <a:avLst/>
          </a:prstGeom>
          <a:noFill/>
          <a:ln w="9525">
            <a:solidFill>
              <a:srgbClr val="E3E5DF"/>
            </a:solidFill>
            <a:prstDash val="solid"/>
          </a:ln>
        </p:spPr>
      </p:sp>
      <p:sp>
        <p:nvSpPr>
          <p:cNvPr id="14" name="Text 12"/>
          <p:cNvSpPr/>
          <p:nvPr/>
        </p:nvSpPr>
        <p:spPr>
          <a:xfrm>
            <a:off x="548640" y="278892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Equipment marketplace</a:t>
            </a:r>
            <a:endParaRPr lang="en-US" sz="1400" dirty="0"/>
          </a:p>
        </p:txBody>
      </p:sp>
      <p:sp>
        <p:nvSpPr>
          <p:cNvPr id="15" name="Text 13"/>
          <p:cNvSpPr/>
          <p:nvPr/>
        </p:nvSpPr>
        <p:spPr>
          <a:xfrm>
            <a:off x="3520440" y="278892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Equipment owners and renters</a:t>
            </a:r>
            <a:endParaRPr lang="en-US" sz="1400" dirty="0"/>
          </a:p>
        </p:txBody>
      </p:sp>
      <p:sp>
        <p:nvSpPr>
          <p:cNvPr id="16" name="Text 14"/>
          <p:cNvSpPr/>
          <p:nvPr/>
        </p:nvSpPr>
        <p:spPr>
          <a:xfrm>
            <a:off x="7178040" y="278892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on completed bookings</a:t>
            </a:r>
            <a:endParaRPr lang="en-US" sz="1400" dirty="0"/>
          </a:p>
        </p:txBody>
      </p:sp>
      <p:sp>
        <p:nvSpPr>
          <p:cNvPr id="17" name="Shape 15"/>
          <p:cNvSpPr/>
          <p:nvPr/>
        </p:nvSpPr>
        <p:spPr>
          <a:xfrm>
            <a:off x="548640" y="3383280"/>
            <a:ext cx="11109960" cy="0"/>
          </a:xfrm>
          <a:prstGeom prst="line">
            <a:avLst/>
          </a:prstGeom>
          <a:noFill/>
          <a:ln w="9525">
            <a:solidFill>
              <a:srgbClr val="E3E5DF"/>
            </a:solidFill>
            <a:prstDash val="solid"/>
          </a:ln>
        </p:spPr>
      </p:sp>
      <p:sp>
        <p:nvSpPr>
          <p:cNvPr id="18" name="Text 16"/>
          <p:cNvSpPr/>
          <p:nvPr/>
        </p:nvSpPr>
        <p:spPr>
          <a:xfrm>
            <a:off x="548640" y="342900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Expert services</a:t>
            </a:r>
            <a:endParaRPr lang="en-US" sz="1400" dirty="0"/>
          </a:p>
        </p:txBody>
      </p:sp>
      <p:sp>
        <p:nvSpPr>
          <p:cNvPr id="19" name="Text 17"/>
          <p:cNvSpPr/>
          <p:nvPr/>
        </p:nvSpPr>
        <p:spPr>
          <a:xfrm>
            <a:off x="3520440" y="342900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Farmers or sponsoring institutions</a:t>
            </a:r>
            <a:endParaRPr lang="en-US" sz="1400" dirty="0"/>
          </a:p>
        </p:txBody>
      </p:sp>
      <p:sp>
        <p:nvSpPr>
          <p:cNvPr id="20" name="Text 18"/>
          <p:cNvSpPr/>
          <p:nvPr/>
        </p:nvSpPr>
        <p:spPr>
          <a:xfrm>
            <a:off x="7178040" y="342900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or subscription</a:t>
            </a:r>
            <a:endParaRPr lang="en-US" sz="1400" dirty="0"/>
          </a:p>
        </p:txBody>
      </p:sp>
      <p:sp>
        <p:nvSpPr>
          <p:cNvPr id="21" name="Shape 19"/>
          <p:cNvSpPr/>
          <p:nvPr/>
        </p:nvSpPr>
        <p:spPr>
          <a:xfrm>
            <a:off x="548640" y="4023360"/>
            <a:ext cx="11109960" cy="0"/>
          </a:xfrm>
          <a:prstGeom prst="line">
            <a:avLst/>
          </a:prstGeom>
          <a:noFill/>
          <a:ln w="9525">
            <a:solidFill>
              <a:srgbClr val="E3E5DF"/>
            </a:solidFill>
            <a:prstDash val="solid"/>
          </a:ln>
        </p:spPr>
      </p:sp>
      <p:sp>
        <p:nvSpPr>
          <p:cNvPr id="22" name="Text 20"/>
          <p:cNvSpPr/>
          <p:nvPr/>
        </p:nvSpPr>
        <p:spPr>
          <a:xfrm>
            <a:off x="548640" y="406908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Market linkage</a:t>
            </a:r>
            <a:endParaRPr lang="en-US" sz="1400" dirty="0"/>
          </a:p>
        </p:txBody>
      </p:sp>
      <p:sp>
        <p:nvSpPr>
          <p:cNvPr id="23" name="Text 21"/>
          <p:cNvSpPr/>
          <p:nvPr/>
        </p:nvSpPr>
        <p:spPr>
          <a:xfrm>
            <a:off x="3520440" y="406908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Buyers</a:t>
            </a:r>
            <a:endParaRPr lang="en-US" sz="1400" dirty="0"/>
          </a:p>
        </p:txBody>
      </p:sp>
      <p:sp>
        <p:nvSpPr>
          <p:cNvPr id="24" name="Text 22"/>
          <p:cNvSpPr/>
          <p:nvPr/>
        </p:nvSpPr>
        <p:spPr>
          <a:xfrm>
            <a:off x="7178040" y="406908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Service fee on agreed deals</a:t>
            </a:r>
            <a:endParaRPr lang="en-US" sz="1400" dirty="0"/>
          </a:p>
        </p:txBody>
      </p:sp>
      <p:sp>
        <p:nvSpPr>
          <p:cNvPr id="25" name="Shape 23"/>
          <p:cNvSpPr/>
          <p:nvPr/>
        </p:nvSpPr>
        <p:spPr>
          <a:xfrm>
            <a:off x="548640" y="4663440"/>
            <a:ext cx="11109960" cy="0"/>
          </a:xfrm>
          <a:prstGeom prst="line">
            <a:avLst/>
          </a:prstGeom>
          <a:noFill/>
          <a:ln w="9525">
            <a:solidFill>
              <a:srgbClr val="E3E5DF"/>
            </a:solidFill>
            <a:prstDash val="solid"/>
          </a:ln>
        </p:spPr>
      </p:sp>
      <p:sp>
        <p:nvSpPr>
          <p:cNvPr id="26" name="Text 24"/>
          <p:cNvSpPr/>
          <p:nvPr/>
        </p:nvSpPr>
        <p:spPr>
          <a:xfrm>
            <a:off x="548640" y="470916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Technology &amp; analytics</a:t>
            </a:r>
            <a:endParaRPr lang="en-US" sz="1400" dirty="0"/>
          </a:p>
        </p:txBody>
      </p:sp>
      <p:sp>
        <p:nvSpPr>
          <p:cNvPr id="27" name="Text 25"/>
          <p:cNvSpPr/>
          <p:nvPr/>
        </p:nvSpPr>
        <p:spPr>
          <a:xfrm>
            <a:off x="3520440" y="470916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Institutions and agricultural organisations</a:t>
            </a:r>
            <a:endParaRPr lang="en-US" sz="1400" dirty="0"/>
          </a:p>
        </p:txBody>
      </p:sp>
      <p:sp>
        <p:nvSpPr>
          <p:cNvPr id="28" name="Text 26"/>
          <p:cNvSpPr/>
          <p:nvPr/>
        </p:nvSpPr>
        <p:spPr>
          <a:xfrm>
            <a:off x="7178040" y="470916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Implementation fees and cluster analytics</a:t>
            </a:r>
            <a:endParaRPr lang="en-US" sz="1400" dirty="0"/>
          </a:p>
        </p:txBody>
      </p:sp>
      <p:sp>
        <p:nvSpPr>
          <p:cNvPr id="29" name="Shape 27"/>
          <p:cNvSpPr/>
          <p:nvPr/>
        </p:nvSpPr>
        <p:spPr>
          <a:xfrm>
            <a:off x="548640" y="5440680"/>
            <a:ext cx="11109960" cy="594360"/>
          </a:xfrm>
          <a:prstGeom prst="roundRect">
            <a:avLst>
              <a:gd name="adj" fmla="val 12308"/>
            </a:avLst>
          </a:prstGeom>
          <a:solidFill>
            <a:srgbClr val="E8F3EC"/>
          </a:solidFill>
          <a:ln/>
        </p:spPr>
      </p:sp>
      <p:sp>
        <p:nvSpPr>
          <p:cNvPr id="30" name="Text 28"/>
          <p:cNvSpPr/>
          <p:nvPr/>
        </p:nvSpPr>
        <p:spPr>
          <a:xfrm>
            <a:off x="777240" y="5440680"/>
            <a:ext cx="10698480" cy="594360"/>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Start simple.  </a:t>
            </a:r>
            <a:pPr indent="0" marL="0">
              <a:buNone/>
            </a:pPr>
            <a:r>
              <a:rPr lang="en-US" sz="1400" dirty="0">
                <a:solidFill>
                  <a:srgbClr val="17201B"/>
                </a:solidFill>
                <a:latin typeface="Segoe UI" pitchFamily="34" charset="0"/>
                <a:ea typeface="Segoe UI" pitchFamily="34" charset="-122"/>
                <a:cs typeface="Segoe UI" pitchFamily="34" charset="-120"/>
              </a:rPr>
              <a:t>The pilot runs on a cluster subscription and a marketplace commission. The rest follows as volume grows.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10   PILOT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Pilot: one cluster, measured over a season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10 / 12</a:t>
            </a:r>
            <a:endParaRPr lang="en-US" sz="1000" dirty="0"/>
          </a:p>
        </p:txBody>
      </p:sp>
      <p:sp>
        <p:nvSpPr>
          <p:cNvPr id="6" name="Text 4"/>
          <p:cNvSpPr/>
          <p:nvPr/>
        </p:nvSpPr>
        <p:spPr>
          <a:xfrm>
            <a:off x="548640" y="17373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100+</a:t>
            </a:r>
            <a:endParaRPr lang="en-US" sz="4800" dirty="0"/>
          </a:p>
        </p:txBody>
      </p:sp>
      <p:sp>
        <p:nvSpPr>
          <p:cNvPr id="7" name="Text 5"/>
          <p:cNvSpPr/>
          <p:nvPr/>
        </p:nvSpPr>
        <p:spPr>
          <a:xfrm>
            <a:off x="548640" y="25146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farmers</a:t>
            </a:r>
            <a:endParaRPr lang="en-US" sz="1500" dirty="0"/>
          </a:p>
        </p:txBody>
      </p:sp>
      <p:sp>
        <p:nvSpPr>
          <p:cNvPr id="8" name="Text 6"/>
          <p:cNvSpPr/>
          <p:nvPr/>
        </p:nvSpPr>
        <p:spPr>
          <a:xfrm>
            <a:off x="548640" y="31089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250+</a:t>
            </a:r>
            <a:endParaRPr lang="en-US" sz="4800" dirty="0"/>
          </a:p>
        </p:txBody>
      </p:sp>
      <p:sp>
        <p:nvSpPr>
          <p:cNvPr id="9" name="Text 7"/>
          <p:cNvSpPr/>
          <p:nvPr/>
        </p:nvSpPr>
        <p:spPr>
          <a:xfrm>
            <a:off x="548640" y="38862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acres</a:t>
            </a:r>
            <a:endParaRPr lang="en-US" sz="1500" dirty="0"/>
          </a:p>
        </p:txBody>
      </p:sp>
      <p:sp>
        <p:nvSpPr>
          <p:cNvPr id="10" name="Text 8"/>
          <p:cNvSpPr/>
          <p:nvPr/>
        </p:nvSpPr>
        <p:spPr>
          <a:xfrm>
            <a:off x="548640" y="44805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a:t>
            </a:r>
            <a:endParaRPr lang="en-US" sz="4800" dirty="0"/>
          </a:p>
        </p:txBody>
      </p:sp>
      <p:sp>
        <p:nvSpPr>
          <p:cNvPr id="11" name="Text 9"/>
          <p:cNvSpPr/>
          <p:nvPr/>
        </p:nvSpPr>
        <p:spPr>
          <a:xfrm>
            <a:off x="548640" y="52578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cluster</a:t>
            </a:r>
            <a:endParaRPr lang="en-US" sz="1500" dirty="0"/>
          </a:p>
        </p:txBody>
      </p:sp>
      <p:sp>
        <p:nvSpPr>
          <p:cNvPr id="12" name="Shape 10"/>
          <p:cNvSpPr/>
          <p:nvPr/>
        </p:nvSpPr>
        <p:spPr>
          <a:xfrm>
            <a:off x="3383280" y="1783080"/>
            <a:ext cx="457200" cy="457200"/>
          </a:xfrm>
          <a:prstGeom prst="ellipse">
            <a:avLst/>
          </a:prstGeom>
          <a:solidFill>
            <a:srgbClr val="1B5538"/>
          </a:solidFill>
          <a:ln/>
        </p:spPr>
      </p:sp>
      <p:sp>
        <p:nvSpPr>
          <p:cNvPr id="13" name="Text 11"/>
          <p:cNvSpPr/>
          <p:nvPr/>
        </p:nvSpPr>
        <p:spPr>
          <a:xfrm>
            <a:off x="3383280" y="17830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12"/>
          <p:cNvSpPr/>
          <p:nvPr/>
        </p:nvSpPr>
        <p:spPr>
          <a:xfrm>
            <a:off x="3611880" y="2286000"/>
            <a:ext cx="0" cy="822960"/>
          </a:xfrm>
          <a:prstGeom prst="line">
            <a:avLst/>
          </a:prstGeom>
          <a:noFill/>
          <a:ln w="25400">
            <a:solidFill>
              <a:srgbClr val="D6E8DC"/>
            </a:solidFill>
            <a:prstDash val="solid"/>
          </a:ln>
        </p:spPr>
      </p:sp>
      <p:sp>
        <p:nvSpPr>
          <p:cNvPr id="15" name="Text 13"/>
          <p:cNvSpPr/>
          <p:nvPr/>
        </p:nvSpPr>
        <p:spPr>
          <a:xfrm>
            <a:off x="4069080" y="18105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Baseline season</a:t>
            </a:r>
            <a:endParaRPr lang="en-US" sz="1700" dirty="0"/>
          </a:p>
        </p:txBody>
      </p:sp>
      <p:sp>
        <p:nvSpPr>
          <p:cNvPr id="16" name="Text 14"/>
          <p:cNvSpPr/>
          <p:nvPr/>
        </p:nvSpPr>
        <p:spPr>
          <a:xfrm>
            <a:off x="4069080" y="21945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Record water, energy, input costs, crop loss, prices and machinery use before AgriCluster.</a:t>
            </a:r>
            <a:endParaRPr lang="en-US" sz="1300" dirty="0"/>
          </a:p>
        </p:txBody>
      </p:sp>
      <p:sp>
        <p:nvSpPr>
          <p:cNvPr id="17" name="Shape 15"/>
          <p:cNvSpPr/>
          <p:nvPr/>
        </p:nvSpPr>
        <p:spPr>
          <a:xfrm>
            <a:off x="3383280" y="3154680"/>
            <a:ext cx="457200" cy="457200"/>
          </a:xfrm>
          <a:prstGeom prst="ellipse">
            <a:avLst/>
          </a:prstGeom>
          <a:solidFill>
            <a:srgbClr val="1B5538"/>
          </a:solidFill>
          <a:ln/>
        </p:spPr>
      </p:sp>
      <p:sp>
        <p:nvSpPr>
          <p:cNvPr id="18" name="Text 16"/>
          <p:cNvSpPr/>
          <p:nvPr/>
        </p:nvSpPr>
        <p:spPr>
          <a:xfrm>
            <a:off x="3383280" y="31546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9" name="Shape 17"/>
          <p:cNvSpPr/>
          <p:nvPr/>
        </p:nvSpPr>
        <p:spPr>
          <a:xfrm>
            <a:off x="3611880" y="3657600"/>
            <a:ext cx="0" cy="822960"/>
          </a:xfrm>
          <a:prstGeom prst="line">
            <a:avLst/>
          </a:prstGeom>
          <a:noFill/>
          <a:ln w="25400">
            <a:solidFill>
              <a:srgbClr val="D6E8DC"/>
            </a:solidFill>
            <a:prstDash val="solid"/>
          </a:ln>
        </p:spPr>
      </p:sp>
      <p:sp>
        <p:nvSpPr>
          <p:cNvPr id="20" name="Text 18"/>
          <p:cNvSpPr/>
          <p:nvPr/>
        </p:nvSpPr>
        <p:spPr>
          <a:xfrm>
            <a:off x="4069080" y="31821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Pilot season</a:t>
            </a:r>
            <a:endParaRPr lang="en-US" sz="1700" dirty="0"/>
          </a:p>
        </p:txBody>
      </p:sp>
      <p:sp>
        <p:nvSpPr>
          <p:cNvPr id="21" name="Text 19"/>
          <p:cNvSpPr/>
          <p:nvPr/>
        </p:nvSpPr>
        <p:spPr>
          <a:xfrm>
            <a:off x="4069080" y="35661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Farmers use AgriCluster. The same measures are recorded the same way.</a:t>
            </a:r>
            <a:endParaRPr lang="en-US" sz="1300" dirty="0"/>
          </a:p>
        </p:txBody>
      </p:sp>
      <p:sp>
        <p:nvSpPr>
          <p:cNvPr id="22" name="Shape 20"/>
          <p:cNvSpPr/>
          <p:nvPr/>
        </p:nvSpPr>
        <p:spPr>
          <a:xfrm>
            <a:off x="3383280" y="4526280"/>
            <a:ext cx="457200" cy="457200"/>
          </a:xfrm>
          <a:prstGeom prst="ellipse">
            <a:avLst/>
          </a:prstGeom>
          <a:solidFill>
            <a:srgbClr val="1B5538"/>
          </a:solidFill>
          <a:ln/>
        </p:spPr>
      </p:sp>
      <p:sp>
        <p:nvSpPr>
          <p:cNvPr id="23" name="Text 21"/>
          <p:cNvSpPr/>
          <p:nvPr/>
        </p:nvSpPr>
        <p:spPr>
          <a:xfrm>
            <a:off x="3383280" y="45262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4" name="Text 22"/>
          <p:cNvSpPr/>
          <p:nvPr/>
        </p:nvSpPr>
        <p:spPr>
          <a:xfrm>
            <a:off x="4069080" y="45537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Compare and decide</a:t>
            </a:r>
            <a:endParaRPr lang="en-US" sz="1700" dirty="0"/>
          </a:p>
        </p:txBody>
      </p:sp>
      <p:sp>
        <p:nvSpPr>
          <p:cNvPr id="25" name="Text 23"/>
          <p:cNvSpPr/>
          <p:nvPr/>
        </p:nvSpPr>
        <p:spPr>
          <a:xfrm>
            <a:off x="4069080" y="49377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Report against the targets, and decide on expansion to more clusters in the district.</a:t>
            </a:r>
            <a:endParaRPr lang="en-US" sz="1300" dirty="0"/>
          </a:p>
        </p:txBody>
      </p:sp>
      <p:sp>
        <p:nvSpPr>
          <p:cNvPr id="26" name="Shape 24"/>
          <p:cNvSpPr/>
          <p:nvPr/>
        </p:nvSpPr>
        <p:spPr>
          <a:xfrm>
            <a:off x="8412480" y="1737360"/>
            <a:ext cx="3246120" cy="4206240"/>
          </a:xfrm>
          <a:prstGeom prst="roundRect">
            <a:avLst>
              <a:gd name="adj" fmla="val 2817"/>
            </a:avLst>
          </a:prstGeom>
          <a:solidFill>
            <a:srgbClr val="FFFFFF"/>
          </a:solidFill>
          <a:ln w="9525">
            <a:solidFill>
              <a:srgbClr val="E3E5DF"/>
            </a:solidFill>
            <a:prstDash val="solid"/>
          </a:ln>
        </p:spPr>
      </p:sp>
      <p:sp>
        <p:nvSpPr>
          <p:cNvPr id="27" name="Text 25"/>
          <p:cNvSpPr/>
          <p:nvPr/>
        </p:nvSpPr>
        <p:spPr>
          <a:xfrm>
            <a:off x="8686800" y="1965960"/>
            <a:ext cx="27432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WE TRACK</a:t>
            </a:r>
            <a:endParaRPr lang="en-US" sz="1000" dirty="0"/>
          </a:p>
        </p:txBody>
      </p:sp>
      <p:sp>
        <p:nvSpPr>
          <p:cNvPr id="28" name="Text 26"/>
          <p:cNvSpPr/>
          <p:nvPr/>
        </p:nvSpPr>
        <p:spPr>
          <a:xfrm>
            <a:off x="8686800" y="2377440"/>
            <a:ext cx="274320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Water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Energy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Input costs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Crop loss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Machinery utilisation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Market realisation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Farmer adoption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11   SCALABILITY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The intelligence layer scales. The farms stay small.</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11 / 12</a:t>
            </a:r>
            <a:endParaRPr lang="en-US" sz="1000" dirty="0"/>
          </a:p>
        </p:txBody>
      </p:sp>
      <p:sp>
        <p:nvSpPr>
          <p:cNvPr id="6" name="Shape 4"/>
          <p:cNvSpPr/>
          <p:nvPr/>
        </p:nvSpPr>
        <p:spPr>
          <a:xfrm>
            <a:off x="548640" y="4754880"/>
            <a:ext cx="1325880" cy="640080"/>
          </a:xfrm>
          <a:prstGeom prst="rect">
            <a:avLst/>
          </a:prstGeom>
          <a:solidFill>
            <a:srgbClr val="D6E8DC"/>
          </a:solidFill>
          <a:ln/>
        </p:spPr>
      </p:sp>
      <p:sp>
        <p:nvSpPr>
          <p:cNvPr id="7" name="Text 5"/>
          <p:cNvSpPr/>
          <p:nvPr/>
        </p:nvSpPr>
        <p:spPr>
          <a:xfrm>
            <a:off x="548640"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One farm</a:t>
            </a:r>
            <a:endParaRPr lang="en-US" sz="1200" dirty="0"/>
          </a:p>
        </p:txBody>
      </p:sp>
      <p:sp>
        <p:nvSpPr>
          <p:cNvPr id="8" name="Shape 6"/>
          <p:cNvSpPr/>
          <p:nvPr/>
        </p:nvSpPr>
        <p:spPr>
          <a:xfrm>
            <a:off x="2029968" y="4187952"/>
            <a:ext cx="1325880" cy="1207008"/>
          </a:xfrm>
          <a:prstGeom prst="rect">
            <a:avLst/>
          </a:prstGeom>
          <a:solidFill>
            <a:srgbClr val="AFD1BB"/>
          </a:solidFill>
          <a:ln w="28575">
            <a:solidFill>
              <a:srgbClr val="0F3021"/>
            </a:solidFill>
            <a:prstDash val="solid"/>
          </a:ln>
        </p:spPr>
      </p:sp>
      <p:sp>
        <p:nvSpPr>
          <p:cNvPr id="9" name="Text 7"/>
          <p:cNvSpPr/>
          <p:nvPr/>
        </p:nvSpPr>
        <p:spPr>
          <a:xfrm>
            <a:off x="2029968"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Local cluster</a:t>
            </a:r>
            <a:endParaRPr lang="en-US" sz="1200" dirty="0"/>
          </a:p>
        </p:txBody>
      </p:sp>
      <p:sp>
        <p:nvSpPr>
          <p:cNvPr id="10" name="Shape 8"/>
          <p:cNvSpPr/>
          <p:nvPr/>
        </p:nvSpPr>
        <p:spPr>
          <a:xfrm>
            <a:off x="3511296" y="3621024"/>
            <a:ext cx="1325880" cy="1773936"/>
          </a:xfrm>
          <a:prstGeom prst="rect">
            <a:avLst/>
          </a:prstGeom>
          <a:solidFill>
            <a:srgbClr val="7FB395"/>
          </a:solidFill>
          <a:ln/>
        </p:spPr>
      </p:sp>
      <p:sp>
        <p:nvSpPr>
          <p:cNvPr id="11" name="Text 9"/>
          <p:cNvSpPr/>
          <p:nvPr/>
        </p:nvSpPr>
        <p:spPr>
          <a:xfrm>
            <a:off x="3511296"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District clusters</a:t>
            </a:r>
            <a:endParaRPr lang="en-US" sz="1200" dirty="0"/>
          </a:p>
        </p:txBody>
      </p:sp>
      <p:sp>
        <p:nvSpPr>
          <p:cNvPr id="12" name="Shape 10"/>
          <p:cNvSpPr/>
          <p:nvPr/>
        </p:nvSpPr>
        <p:spPr>
          <a:xfrm>
            <a:off x="4992624" y="3054096"/>
            <a:ext cx="1325880" cy="2340864"/>
          </a:xfrm>
          <a:prstGeom prst="rect">
            <a:avLst/>
          </a:prstGeom>
          <a:solidFill>
            <a:srgbClr val="4F8F6C"/>
          </a:solidFill>
          <a:ln/>
        </p:spPr>
      </p:sp>
      <p:sp>
        <p:nvSpPr>
          <p:cNvPr id="13" name="Text 11"/>
          <p:cNvSpPr/>
          <p:nvPr/>
        </p:nvSpPr>
        <p:spPr>
          <a:xfrm>
            <a:off x="4992624"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Multiple regions</a:t>
            </a:r>
            <a:endParaRPr lang="en-US" sz="1200" dirty="0"/>
          </a:p>
        </p:txBody>
      </p:sp>
      <p:sp>
        <p:nvSpPr>
          <p:cNvPr id="14" name="Shape 12"/>
          <p:cNvSpPr/>
          <p:nvPr/>
        </p:nvSpPr>
        <p:spPr>
          <a:xfrm>
            <a:off x="6473952" y="2487168"/>
            <a:ext cx="1325880" cy="2907792"/>
          </a:xfrm>
          <a:prstGeom prst="rect">
            <a:avLst/>
          </a:prstGeom>
          <a:solidFill>
            <a:srgbClr val="226845"/>
          </a:solidFill>
          <a:ln/>
        </p:spPr>
      </p:sp>
      <p:sp>
        <p:nvSpPr>
          <p:cNvPr id="15" name="Text 13"/>
          <p:cNvSpPr/>
          <p:nvPr/>
        </p:nvSpPr>
        <p:spPr>
          <a:xfrm>
            <a:off x="6473952"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Agricultural network</a:t>
            </a:r>
            <a:endParaRPr lang="en-US" sz="1200" dirty="0"/>
          </a:p>
        </p:txBody>
      </p:sp>
      <p:sp>
        <p:nvSpPr>
          <p:cNvPr id="16" name="Text 14"/>
          <p:cNvSpPr/>
          <p:nvPr/>
        </p:nvSpPr>
        <p:spPr>
          <a:xfrm>
            <a:off x="2029968" y="3886200"/>
            <a:ext cx="1325880" cy="457200"/>
          </a:xfrm>
          <a:prstGeom prst="rect">
            <a:avLst/>
          </a:prstGeom>
          <a:noFill/>
          <a:ln/>
        </p:spPr>
        <p:txBody>
          <a:bodyPr wrap="square" lIns="0" tIns="0" rIns="0" bIns="0" rtlCol="0" anchor="ctr"/>
          <a:lstStyle/>
          <a:p>
            <a:pPr algn="ctr" indent="0" marL="0">
              <a:buNone/>
            </a:pPr>
            <a:r>
              <a:rPr lang="en-US" sz="1100" dirty="0">
                <a:solidFill>
                  <a:srgbClr val="0F3021"/>
                </a:solidFill>
                <a:latin typeface="Segoe UI Semibold" pitchFamily="34" charset="0"/>
                <a:ea typeface="Segoe UI Semibold" pitchFamily="34" charset="-122"/>
                <a:cs typeface="Segoe UI Semibold" pitchFamily="34" charset="-120"/>
              </a:rPr>
              <a:t>Pilot starts here</a:t>
            </a:r>
            <a:endParaRPr lang="en-US" sz="1100" dirty="0"/>
          </a:p>
        </p:txBody>
      </p:sp>
      <p:sp>
        <p:nvSpPr>
          <p:cNvPr id="17" name="Text 15"/>
          <p:cNvSpPr/>
          <p:nvPr/>
        </p:nvSpPr>
        <p:spPr>
          <a:xfrm>
            <a:off x="8229600" y="178308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Simulation-first</a:t>
            </a:r>
            <a:endParaRPr lang="en-US" sz="1600" dirty="0"/>
          </a:p>
        </p:txBody>
      </p:sp>
      <p:sp>
        <p:nvSpPr>
          <p:cNvPr id="18" name="Text 16"/>
          <p:cNvSpPr/>
          <p:nvPr/>
        </p:nvSpPr>
        <p:spPr>
          <a:xfrm>
            <a:off x="8229600" y="213055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Works from farmer input and shared sensors today. Real sensors and data feeds plug into the same interfaces later.</a:t>
            </a:r>
            <a:endParaRPr lang="en-US" sz="1300" dirty="0"/>
          </a:p>
        </p:txBody>
      </p:sp>
      <p:sp>
        <p:nvSpPr>
          <p:cNvPr id="19" name="Text 17"/>
          <p:cNvSpPr/>
          <p:nvPr/>
        </p:nvSpPr>
        <p:spPr>
          <a:xfrm>
            <a:off x="8229600" y="310896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Same engine, every cluster</a:t>
            </a:r>
            <a:endParaRPr lang="en-US" sz="1600" dirty="0"/>
          </a:p>
        </p:txBody>
      </p:sp>
      <p:sp>
        <p:nvSpPr>
          <p:cNvPr id="20" name="Text 18"/>
          <p:cNvSpPr/>
          <p:nvPr/>
        </p:nvSpPr>
        <p:spPr>
          <a:xfrm>
            <a:off x="8229600" y="345643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A new cluster reuses the intelligence rules, roles and screens. Only local data changes.</a:t>
            </a:r>
            <a:endParaRPr lang="en-US" sz="1300" dirty="0"/>
          </a:p>
        </p:txBody>
      </p:sp>
      <p:sp>
        <p:nvSpPr>
          <p:cNvPr id="21" name="Text 19"/>
          <p:cNvSpPr/>
          <p:nvPr/>
        </p:nvSpPr>
        <p:spPr>
          <a:xfrm>
            <a:off x="8229600" y="443484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Network effects</a:t>
            </a:r>
            <a:endParaRPr lang="en-US" sz="1600" dirty="0"/>
          </a:p>
        </p:txBody>
      </p:sp>
      <p:sp>
        <p:nvSpPr>
          <p:cNvPr id="22" name="Text 20"/>
          <p:cNvSpPr/>
          <p:nvPr/>
        </p:nvSpPr>
        <p:spPr>
          <a:xfrm>
            <a:off x="8229600" y="478231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Each new cluster brings more buyers, equipment providers and experts to every member.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3021"/>
        </a:solidFill>
      </p:bgPr>
    </p:bg>
    <p:spTree>
      <p:nvGrpSpPr>
        <p:cNvPr id="1" name=""/>
        <p:cNvGrpSpPr/>
        <p:nvPr/>
      </p:nvGrpSpPr>
      <p:grpSpPr>
        <a:xfrm>
          <a:off x="0" y="0"/>
          <a:ext cx="0" cy="0"/>
          <a:chOff x="0" y="0"/>
          <a:chExt cx="0" cy="0"/>
        </a:xfrm>
      </p:grpSpPr>
      <p:sp>
        <p:nvSpPr>
          <p:cNvPr id="2" name="Text 0"/>
          <p:cNvSpPr/>
          <p:nvPr/>
        </p:nvSpPr>
        <p:spPr>
          <a:xfrm>
            <a:off x="548640" y="365760"/>
            <a:ext cx="5486400" cy="274320"/>
          </a:xfrm>
          <a:prstGeom prst="rect">
            <a:avLst/>
          </a:prstGeom>
          <a:noFill/>
          <a:ln/>
        </p:spPr>
        <p:txBody>
          <a:bodyPr wrap="square" lIns="0" tIns="0" rIns="0" bIns="0" rtlCol="0" anchor="ctr"/>
          <a:lstStyle/>
          <a:p>
            <a:pPr indent="0" marL="0">
              <a:buNone/>
            </a:pPr>
            <a:r>
              <a:rPr lang="en-US" sz="1100" spc="200" kern="0" dirty="0">
                <a:solidFill>
                  <a:srgbClr val="9DB8A7"/>
                </a:solidFill>
                <a:latin typeface="Segoe UI Semibold" pitchFamily="34" charset="0"/>
                <a:ea typeface="Segoe UI Semibold" pitchFamily="34" charset="-122"/>
                <a:cs typeface="Segoe UI Semibold" pitchFamily="34" charset="-120"/>
              </a:rPr>
              <a:t>12   VISION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200" dirty="0">
                <a:solidFill>
                  <a:srgbClr val="FFFFFF"/>
                </a:solidFill>
                <a:latin typeface="Segoe UI Semibold" pitchFamily="34" charset="0"/>
                <a:ea typeface="Segoe UI Semibold" pitchFamily="34" charset="-122"/>
                <a:cs typeface="Segoe UI Semibold" pitchFamily="34" charset="-120"/>
              </a:rPr>
              <a:t>Connected agricultural clusters across India</a:t>
            </a:r>
            <a:endParaRPr lang="en-US" sz="3200" dirty="0"/>
          </a:p>
        </p:txBody>
      </p:sp>
      <p:sp>
        <p:nvSpPr>
          <p:cNvPr id="4" name="Shape 2"/>
          <p:cNvSpPr/>
          <p:nvPr/>
        </p:nvSpPr>
        <p:spPr>
          <a:xfrm>
            <a:off x="548640" y="1783080"/>
            <a:ext cx="3520440" cy="3429000"/>
          </a:xfrm>
          <a:prstGeom prst="roundRect">
            <a:avLst>
              <a:gd name="adj" fmla="val 2667"/>
            </a:avLst>
          </a:prstGeom>
          <a:solidFill>
            <a:srgbClr val="2A4A3A"/>
          </a:solidFill>
          <a:ln/>
        </p:spPr>
      </p:sp>
      <p:sp>
        <p:nvSpPr>
          <p:cNvPr id="5" name="Text 3"/>
          <p:cNvSpPr/>
          <p:nvPr/>
        </p:nvSpPr>
        <p:spPr>
          <a:xfrm>
            <a:off x="82296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Today</a:t>
            </a:r>
            <a:endParaRPr lang="en-US" sz="1800" dirty="0"/>
          </a:p>
        </p:txBody>
      </p:sp>
      <p:sp>
        <p:nvSpPr>
          <p:cNvPr id="6" name="Text 4"/>
          <p:cNvSpPr/>
          <p:nvPr/>
        </p:nvSpPr>
        <p:spPr>
          <a:xfrm>
            <a:off x="82296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information</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decisions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markets</a:t>
            </a:r>
            <a:endParaRPr lang="en-US" sz="1500" dirty="0"/>
          </a:p>
        </p:txBody>
      </p:sp>
      <p:sp>
        <p:nvSpPr>
          <p:cNvPr id="7" name="Text 5"/>
          <p:cNvSpPr/>
          <p:nvPr/>
        </p:nvSpPr>
        <p:spPr>
          <a:xfrm>
            <a:off x="406908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8" name="Shape 6"/>
          <p:cNvSpPr/>
          <p:nvPr/>
        </p:nvSpPr>
        <p:spPr>
          <a:xfrm>
            <a:off x="4297680" y="1783080"/>
            <a:ext cx="3520440" cy="3429000"/>
          </a:xfrm>
          <a:prstGeom prst="roundRect">
            <a:avLst>
              <a:gd name="adj" fmla="val 2667"/>
            </a:avLst>
          </a:prstGeom>
          <a:solidFill>
            <a:srgbClr val="1B5538"/>
          </a:solidFill>
          <a:ln/>
        </p:spPr>
      </p:sp>
      <p:sp>
        <p:nvSpPr>
          <p:cNvPr id="9" name="Text 7"/>
          <p:cNvSpPr/>
          <p:nvPr/>
        </p:nvSpPr>
        <p:spPr>
          <a:xfrm>
            <a:off x="457200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With AgriCluster</a:t>
            </a:r>
            <a:endParaRPr lang="en-US" sz="1800" dirty="0"/>
          </a:p>
        </p:txBody>
      </p:sp>
      <p:sp>
        <p:nvSpPr>
          <p:cNvPr id="10" name="Text 8"/>
          <p:cNvSpPr/>
          <p:nvPr/>
        </p:nvSpPr>
        <p:spPr>
          <a:xfrm>
            <a:off x="457200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Connected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Shared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Integrated data</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Cluster intelligence</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Coordinated decisions and markets</a:t>
            </a:r>
            <a:endParaRPr lang="en-US" sz="1500" dirty="0"/>
          </a:p>
        </p:txBody>
      </p:sp>
      <p:sp>
        <p:nvSpPr>
          <p:cNvPr id="11" name="Text 9"/>
          <p:cNvSpPr/>
          <p:nvPr/>
        </p:nvSpPr>
        <p:spPr>
          <a:xfrm>
            <a:off x="781812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12" name="Shape 10"/>
          <p:cNvSpPr/>
          <p:nvPr/>
        </p:nvSpPr>
        <p:spPr>
          <a:xfrm>
            <a:off x="8046720" y="1783080"/>
            <a:ext cx="3520440" cy="3429000"/>
          </a:xfrm>
          <a:prstGeom prst="roundRect">
            <a:avLst>
              <a:gd name="adj" fmla="val 2667"/>
            </a:avLst>
          </a:prstGeom>
          <a:solidFill>
            <a:srgbClr val="2E6B4E"/>
          </a:solidFill>
          <a:ln/>
        </p:spPr>
      </p:sp>
      <p:sp>
        <p:nvSpPr>
          <p:cNvPr id="13" name="Text 11"/>
          <p:cNvSpPr/>
          <p:nvPr/>
        </p:nvSpPr>
        <p:spPr>
          <a:xfrm>
            <a:off x="832104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Future</a:t>
            </a:r>
            <a:endParaRPr lang="en-US" sz="1800" dirty="0"/>
          </a:p>
        </p:txBody>
      </p:sp>
      <p:sp>
        <p:nvSpPr>
          <p:cNvPr id="14" name="Text 12"/>
          <p:cNvSpPr/>
          <p:nvPr/>
        </p:nvSpPr>
        <p:spPr>
          <a:xfrm>
            <a:off x="832104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More efficient, more resilient agricultural clusters, where farmers keep the decisions and technology does the coordination.</a:t>
            </a:r>
            <a:endParaRPr lang="en-US" sz="1500" dirty="0"/>
          </a:p>
        </p:txBody>
      </p:sp>
      <p:sp>
        <p:nvSpPr>
          <p:cNvPr id="15" name="Shape 13"/>
          <p:cNvSpPr/>
          <p:nvPr/>
        </p:nvSpPr>
        <p:spPr>
          <a:xfrm>
            <a:off x="548640" y="5623560"/>
            <a:ext cx="502920" cy="502920"/>
          </a:xfrm>
          <a:prstGeom prst="roundRect">
            <a:avLst>
              <a:gd name="adj" fmla="val 22000"/>
            </a:avLst>
          </a:prstGeom>
          <a:solidFill>
            <a:srgbClr val="1B5538"/>
          </a:solidFill>
          <a:ln/>
        </p:spPr>
      </p:sp>
      <p:sp>
        <p:nvSpPr>
          <p:cNvPr id="16" name="Shape 14"/>
          <p:cNvSpPr/>
          <p:nvPr/>
        </p:nvSpPr>
        <p:spPr>
          <a:xfrm>
            <a:off x="705803" y="5788581"/>
            <a:ext cx="188595" cy="172879"/>
          </a:xfrm>
          <a:prstGeom prst="triangle">
            <a:avLst/>
          </a:prstGeom>
          <a:ln w="19050">
            <a:solidFill>
              <a:srgbClr val="AFD1BB"/>
            </a:solidFill>
            <a:prstDash val="solid"/>
          </a:ln>
        </p:spPr>
      </p:sp>
      <p:sp>
        <p:nvSpPr>
          <p:cNvPr id="17" name="Shape 15"/>
          <p:cNvSpPr/>
          <p:nvPr/>
        </p:nvSpPr>
        <p:spPr>
          <a:xfrm>
            <a:off x="752951" y="5741432"/>
            <a:ext cx="94298" cy="94298"/>
          </a:xfrm>
          <a:prstGeom prst="ellipse">
            <a:avLst/>
          </a:prstGeom>
          <a:solidFill>
            <a:srgbClr val="FFFFFF"/>
          </a:solidFill>
          <a:ln/>
        </p:spPr>
      </p:sp>
      <p:sp>
        <p:nvSpPr>
          <p:cNvPr id="18" name="Shape 16"/>
          <p:cNvSpPr/>
          <p:nvPr/>
        </p:nvSpPr>
        <p:spPr>
          <a:xfrm>
            <a:off x="658654" y="5914311"/>
            <a:ext cx="94298" cy="94298"/>
          </a:xfrm>
          <a:prstGeom prst="ellipse">
            <a:avLst/>
          </a:prstGeom>
          <a:solidFill>
            <a:srgbClr val="FFFFFF"/>
          </a:solidFill>
          <a:ln/>
        </p:spPr>
      </p:sp>
      <p:sp>
        <p:nvSpPr>
          <p:cNvPr id="19" name="Shape 17"/>
          <p:cNvSpPr/>
          <p:nvPr/>
        </p:nvSpPr>
        <p:spPr>
          <a:xfrm>
            <a:off x="847249" y="5914311"/>
            <a:ext cx="94298" cy="94298"/>
          </a:xfrm>
          <a:prstGeom prst="ellipse">
            <a:avLst/>
          </a:prstGeom>
          <a:solidFill>
            <a:srgbClr val="AFD1BB"/>
          </a:solidFill>
          <a:ln/>
        </p:spPr>
      </p:sp>
      <p:sp>
        <p:nvSpPr>
          <p:cNvPr id="20" name="Text 18"/>
          <p:cNvSpPr/>
          <p:nvPr/>
        </p:nvSpPr>
        <p:spPr>
          <a:xfrm>
            <a:off x="1234440" y="5577840"/>
            <a:ext cx="7315200" cy="6400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1400" dirty="0"/>
          </a:p>
          <a:p>
            <a:pPr indent="0" marL="0">
              <a:buNone/>
            </a:pPr>
            <a:r>
              <a:rPr lang="en-US" sz="1400" dirty="0">
                <a:solidFill>
                  <a:srgbClr val="C9DCCF"/>
                </a:solidFill>
                <a:latin typeface="Segoe UI" pitchFamily="34" charset="0"/>
                <a:ea typeface="Segoe UI" pitchFamily="34" charset="-122"/>
                <a:cs typeface="Segoe UI" pitchFamily="34" charset="-120"/>
              </a:rPr>
              <a:t>The platform recommends. The farmer decides.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AgriCluster — Right Crop. Right Technology. Right Resource. Right Investment. Right Support.</dc:title>
  <dc:subject>PptxGenJS Presentation</dc:subject>
  <dc:creator>AgriCluster team</dc:creator>
  <cp:lastModifiedBy>AgriCluster team</cp:lastModifiedBy>
  <cp:revision>1</cp:revision>
  <dcterms:created xsi:type="dcterms:W3CDTF">2026-09-28T13:24:26Z</dcterms:created>
  <dcterms:modified xsi:type="dcterms:W3CDTF">2026-09-28T13:24:26Z</dcterms:modified>
</cp:coreProperties>
</file>